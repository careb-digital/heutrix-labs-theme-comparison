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0e43f05a2c54448" /><Relationship Type="http://schemas.openxmlformats.org/officeDocument/2006/relationships/extended-properties" Target="/docProps/app.xml" Id="R31ba243057f44794" /><Relationship Type="http://schemas.openxmlformats.org/officeDocument/2006/relationships/officeDocument" Target="/ppt/presentation.xml" Id="Rca1cce3b17d54d83" /></Relationships>
</file>

<file path=ppt/presentation.xml><?xml version="1.0" encoding="utf-8"?>
<p:presentation xmlns:p="http://schemas.openxmlformats.org/presentationml/2006/main">
  <p:sldMasterIdLst>
    <p:sldMasterId xmlns:r="http://schemas.openxmlformats.org/officeDocument/2006/relationships" id="2147483648" r:id="R8b53f8b6c5c74eb4"/>
  </p:sldMasterIdLst>
  <p:notesMasterIdLst>
    <p:notesMasterId xmlns:r="http://schemas.openxmlformats.org/officeDocument/2006/relationships" r:id="Ra1d0cd2c7e1b4e51"/>
  </p:notesMasterIdLst>
  <p:sldIdLst>
    <p:sldId xmlns:r="http://schemas.openxmlformats.org/officeDocument/2006/relationships" id="256" r:id="R4f63020276ae49d0"/>
    <p:sldId xmlns:r="http://schemas.openxmlformats.org/officeDocument/2006/relationships" id="257" r:id="R8bbc8e78aec34d3b"/>
    <p:sldId xmlns:r="http://schemas.openxmlformats.org/officeDocument/2006/relationships" id="258" r:id="R12d48ea51b9b4298"/>
    <p:sldId xmlns:r="http://schemas.openxmlformats.org/officeDocument/2006/relationships" id="259" r:id="Ra260dfaef9234d4c"/>
    <p:sldId xmlns:r="http://schemas.openxmlformats.org/officeDocument/2006/relationships" id="260" r:id="R2ce6cf2263b34f8e"/>
    <p:sldId xmlns:r="http://schemas.openxmlformats.org/officeDocument/2006/relationships" id="261" r:id="R2561f26dcd2545b5"/>
    <p:sldId xmlns:r="http://schemas.openxmlformats.org/officeDocument/2006/relationships" id="262" r:id="R56adc6ed65c44c87"/>
    <p:sldId xmlns:r="http://schemas.openxmlformats.org/officeDocument/2006/relationships" id="263" r:id="R0a1530b631b04737"/>
    <p:sldId xmlns:r="http://schemas.openxmlformats.org/officeDocument/2006/relationships" id="264" r:id="R9316ecbed8bc43a3"/>
    <p:sldId xmlns:r="http://schemas.openxmlformats.org/officeDocument/2006/relationships" id="265" r:id="Rafa6f708c8ae4ca5"/>
    <p:sldId xmlns:r="http://schemas.openxmlformats.org/officeDocument/2006/relationships" id="266" r:id="Rbd62ad69af054b77"/>
    <p:sldId xmlns:r="http://schemas.openxmlformats.org/officeDocument/2006/relationships" id="267" r:id="R71ee6e0439f2452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0a9599a2a0f4be7" /><Relationship Type="http://schemas.openxmlformats.org/officeDocument/2006/relationships/slideMaster" Target="/ppt/slideMasters/slideMaster1.xml" Id="R8b53f8b6c5c74eb4" /><Relationship Type="http://schemas.openxmlformats.org/officeDocument/2006/relationships/notesMaster" Target="/ppt/notesMasters/notesMaster1.xml" Id="Ra1d0cd2c7e1b4e51" /><Relationship Type="http://schemas.openxmlformats.org/officeDocument/2006/relationships/presProps" Target="/ppt/presProps.xml" Id="Recb153581bf243d8" /><Relationship Type="http://schemas.openxmlformats.org/officeDocument/2006/relationships/tableStyles" Target="/ppt/tableStyles.xml" Id="Ref1badcf108c4867" /><Relationship Type="http://schemas.openxmlformats.org/officeDocument/2006/relationships/slide" Target="/ppt/slides/slide1.xml" Id="R4f63020276ae49d0" /><Relationship Type="http://schemas.openxmlformats.org/officeDocument/2006/relationships/slide" Target="/ppt/slides/slide2.xml" Id="R8bbc8e78aec34d3b" /><Relationship Type="http://schemas.openxmlformats.org/officeDocument/2006/relationships/slide" Target="/ppt/slides/slide3.xml" Id="R12d48ea51b9b4298" /><Relationship Type="http://schemas.openxmlformats.org/officeDocument/2006/relationships/slide" Target="/ppt/slides/slide4.xml" Id="Ra260dfaef9234d4c" /><Relationship Type="http://schemas.openxmlformats.org/officeDocument/2006/relationships/slide" Target="/ppt/slides/slide5.xml" Id="R2ce6cf2263b34f8e" /><Relationship Type="http://schemas.openxmlformats.org/officeDocument/2006/relationships/slide" Target="/ppt/slides/slide6.xml" Id="R2561f26dcd2545b5" /><Relationship Type="http://schemas.openxmlformats.org/officeDocument/2006/relationships/slide" Target="/ppt/slides/slide7.xml" Id="R56adc6ed65c44c87" /><Relationship Type="http://schemas.openxmlformats.org/officeDocument/2006/relationships/slide" Target="/ppt/slides/slide8.xml" Id="R0a1530b631b04737" /><Relationship Type="http://schemas.openxmlformats.org/officeDocument/2006/relationships/slide" Target="/ppt/slides/slide9.xml" Id="R9316ecbed8bc43a3" /><Relationship Type="http://schemas.openxmlformats.org/officeDocument/2006/relationships/slide" Target="/ppt/slides/slide10.xml" Id="Rafa6f708c8ae4ca5" /><Relationship Type="http://schemas.openxmlformats.org/officeDocument/2006/relationships/slide" Target="/ppt/slides/slide11.xml" Id="Rbd62ad69af054b77" /><Relationship Type="http://schemas.openxmlformats.org/officeDocument/2006/relationships/slide" Target="/ppt/slides/slide12.xml" Id="R71ee6e0439f2452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92ad06693a44f7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c4c4c1c8c324b96" /><Relationship Type="http://schemas.openxmlformats.org/officeDocument/2006/relationships/notesMaster" Target="/ppt/notesMasters/notesMaster1.xml" Id="Rbc96a608201a489a" /></Relationships>
</file>

<file path=ppt/notesSlides/_rels/notesSlide2.xml.rels>&#65279;<?xml version="1.0" encoding="utf-8"?><Relationships xmlns="http://schemas.openxmlformats.org/package/2006/relationships"><Relationship Type="http://schemas.openxmlformats.org/officeDocument/2006/relationships/slide" Target="/ppt/slides/slide2.xml" Id="Re5d2ae249faf4691" /><Relationship Type="http://schemas.openxmlformats.org/officeDocument/2006/relationships/notesMaster" Target="/ppt/notesMasters/notesMaster1.xml" Id="R22051e1e6be546cc" /></Relationships>
</file>

<file path=ppt/notesSlides/_rels/notesSlide3.xml.rels>&#65279;<?xml version="1.0" encoding="utf-8"?><Relationships xmlns="http://schemas.openxmlformats.org/package/2006/relationships"><Relationship Type="http://schemas.openxmlformats.org/officeDocument/2006/relationships/slide" Target="/ppt/slides/slide3.xml" Id="R9cad7e34fdcc4580" /><Relationship Type="http://schemas.openxmlformats.org/officeDocument/2006/relationships/notesMaster" Target="/ppt/notesMasters/notesMaster1.xml" Id="R62aa206014eb4a3c" /></Relationships>
</file>

<file path=ppt/notesSlides/_rels/notesSlide4.xml.rels>&#65279;<?xml version="1.0" encoding="utf-8"?><Relationships xmlns="http://schemas.openxmlformats.org/package/2006/relationships"><Relationship Type="http://schemas.openxmlformats.org/officeDocument/2006/relationships/slide" Target="/ppt/slides/slide4.xml" Id="Rfd2349efe9af4087" /><Relationship Type="http://schemas.openxmlformats.org/officeDocument/2006/relationships/notesMaster" Target="/ppt/notesMasters/notesMaster1.xml" Id="R76f877854995466c" /></Relationships>
</file>

<file path=ppt/notesSlides/_rels/notesSlide5.xml.rels>&#65279;<?xml version="1.0" encoding="utf-8"?><Relationships xmlns="http://schemas.openxmlformats.org/package/2006/relationships"><Relationship Type="http://schemas.openxmlformats.org/officeDocument/2006/relationships/slide" Target="/ppt/slides/slide5.xml" Id="R75b8b93e129f441a" /><Relationship Type="http://schemas.openxmlformats.org/officeDocument/2006/relationships/notesMaster" Target="/ppt/notesMasters/notesMaster1.xml" Id="R55a3ac3e638b49be" /></Relationships>
</file>

<file path=ppt/notesSlides/_rels/notesSlide6.xml.rels>&#65279;<?xml version="1.0" encoding="utf-8"?><Relationships xmlns="http://schemas.openxmlformats.org/package/2006/relationships"><Relationship Type="http://schemas.openxmlformats.org/officeDocument/2006/relationships/slide" Target="/ppt/slides/slide6.xml" Id="R062501e3cdb44653" /><Relationship Type="http://schemas.openxmlformats.org/officeDocument/2006/relationships/notesMaster" Target="/ppt/notesMasters/notesMaster1.xml" Id="R60a934e80e4a4d8f" /></Relationships>
</file>

<file path=ppt/notesSlides/_rels/notesSlide7.xml.rels>&#65279;<?xml version="1.0" encoding="utf-8"?><Relationships xmlns="http://schemas.openxmlformats.org/package/2006/relationships"><Relationship Type="http://schemas.openxmlformats.org/officeDocument/2006/relationships/slide" Target="/ppt/slides/slide7.xml" Id="R2b3e12a141ba4c07" /><Relationship Type="http://schemas.openxmlformats.org/officeDocument/2006/relationships/notesMaster" Target="/ppt/notesMasters/notesMaster1.xml" Id="R631b4150c7094940" /></Relationships>
</file>

<file path=ppt/notesSlides/_rels/notesSlide8.xml.rels>&#65279;<?xml version="1.0" encoding="utf-8"?><Relationships xmlns="http://schemas.openxmlformats.org/package/2006/relationships"><Relationship Type="http://schemas.openxmlformats.org/officeDocument/2006/relationships/slide" Target="/ppt/slides/slide8.xml" Id="Rd747cf9032c84046" /><Relationship Type="http://schemas.openxmlformats.org/officeDocument/2006/relationships/notesMaster" Target="/ppt/notesMasters/notesMaster1.xml" Id="R0127fd067fe04f41" /></Relationships>
</file>

<file path=ppt/notesSlides/_rels/notesSlide9.xml.rels>&#65279;<?xml version="1.0" encoding="utf-8"?><Relationships xmlns="http://schemas.openxmlformats.org/package/2006/relationships"><Relationship Type="http://schemas.openxmlformats.org/officeDocument/2006/relationships/slide" Target="/ppt/slides/slide9.xml" Id="R0fc2453d1b13402b" /><Relationship Type="http://schemas.openxmlformats.org/officeDocument/2006/relationships/notesMaster" Target="/ppt/notesMasters/notesMaster1.xml" Id="R34ed9647e8cc4e2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d5adefdf34040af" /><Relationship Type="http://schemas.openxmlformats.org/officeDocument/2006/relationships/notesMaster" Target="/ppt/notesMasters/notesMaster1.xml" Id="R1be1a36ca71d40be"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04921f782ea64fbf" /><Relationship Type="http://schemas.openxmlformats.org/officeDocument/2006/relationships/notesMaster" Target="/ppt/notesMasters/notesMaster1.xml" Id="R7272399633b540bd"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bf8b30337fcc4080" /><Relationship Type="http://schemas.openxmlformats.org/officeDocument/2006/relationships/notesMaster" Target="/ppt/notesMasters/notesMaster1.xml" Id="Rc5d7776753cc42a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Template instructions</a:t>
            </a:r>
          </a:p>
          <a:p xmlns:a="http://schemas.openxmlformats.org/drawingml/2006/main">
            <a:r>
              <a:t>Replace all bracketed text. Confirm the client name, workflow boundary, issue date and version against the signed Order Form before presenting.</a:t>
            </a:r>
          </a:p>
          <a:p xmlns:a="http://schemas.openxmlformats.org/drawingml/2006/main">
            <a:r>
              <a:t/>
            </a:r>
          </a:p>
          <a:p xmlns:a="http://schemas.openxmlformats.org/drawingml/2006/main">
            <a:r>
              <a:t>[Sources]</a:t>
            </a:r>
          </a:p>
          <a:p xmlns:a="http://schemas.openxmlformats.org/drawingml/2006/main">
            <a:r>
              <a:t>- Heutrix Workflow Diagnostic Order Form v1.0</a:t>
            </a:r>
          </a:p>
          <a:p xmlns:a="http://schemas.openxmlformats.org/drawingml/2006/main">
            <a:r>
              <a:t>- Heutrix Workflow Diagnostic Findings Report Template v1.0</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Template instructions</a:t>
            </a:r>
          </a:p>
          <a:p xmlns:a="http://schemas.openxmlformats.org/drawingml/2006/main">
            <a:r>
              <a:t>Read the boundary aloud. If the start, end, excluded work or decision has changed, pause and reconcile it through the Change Request process before relying on the diagnostic.</a:t>
            </a:r>
          </a:p>
          <a:p xmlns:a="http://schemas.openxmlformats.org/drawingml/2006/main">
            <a:r>
              <a:t/>
            </a:r>
          </a:p>
          <a:p xmlns:a="http://schemas.openxmlformats.org/drawingml/2006/main">
            <a:r>
              <a:t>[Sources]</a:t>
            </a:r>
          </a:p>
          <a:p xmlns:a="http://schemas.openxmlformats.org/drawingml/2006/main">
            <a:r>
              <a:t>- Heutrix Workflow Diagnostic Order Form v1.0</a:t>
            </a:r>
          </a:p>
          <a:p xmlns:a="http://schemas.openxmlformats.org/drawingml/2006/main">
            <a:r>
              <a:t>- Heutrix Workflow Diagnostic Delivery Playbook v1.0</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Template instructions</a:t>
            </a:r>
          </a:p>
          <a:p xmlns:a="http://schemas.openxmlformats.org/drawingml/2006/main">
            <a:r>
              <a:t>Complete this slide last. Use no more than three material findings. Every claim must trace to evidence or be explicitly labelled as an assumption or recommendation.</a:t>
            </a:r>
          </a:p>
          <a:p xmlns:a="http://schemas.openxmlformats.org/drawingml/2006/main">
            <a:r>
              <a:t/>
            </a:r>
          </a:p>
          <a:p xmlns:a="http://schemas.openxmlformats.org/drawingml/2006/main">
            <a:r>
              <a:t>[Sources]</a:t>
            </a:r>
          </a:p>
          <a:p xmlns:a="http://schemas.openxmlformats.org/drawingml/2006/main">
            <a:r>
              <a:t>- Heutrix Workflow Diagnostic Findings Report Template v1.0</a:t>
            </a:r>
          </a:p>
          <a:p xmlns:a="http://schemas.openxmlformats.org/drawingml/2006/main">
            <a:r>
              <a:t>- Heutrix Workflow Diagnostic Working Workbook — Pain &amp; Root Causes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Template instructions</a:t>
            </a:r>
          </a:p>
          <a:p xmlns:a="http://schemas.openxmlformats.org/drawingml/2006/main">
            <a:r>
              <a:t>Replace the evidence list with the exact Evidence IDs and titles from the workbook. State any gap that could materially change the findings. Do not imply completeness beyond the contracted review.</a:t>
            </a:r>
          </a:p>
          <a:p xmlns:a="http://schemas.openxmlformats.org/drawingml/2006/main">
            <a:r>
              <a:t/>
            </a:r>
          </a:p>
          <a:p xmlns:a="http://schemas.openxmlformats.org/drawingml/2006/main">
            <a:r>
              <a:t>[Sources]</a:t>
            </a:r>
          </a:p>
          <a:p xmlns:a="http://schemas.openxmlformats.org/drawingml/2006/main">
            <a:r>
              <a:t>- Heutrix Workflow Diagnostic Order Form v1.0</a:t>
            </a:r>
          </a:p>
          <a:p xmlns:a="http://schemas.openxmlformats.org/drawingml/2006/main">
            <a:r>
              <a:t>- Heutrix Workflow Diagnostic Working Workbook — Evidence Register</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Template instructions</a:t>
            </a:r>
          </a:p>
          <a:p xmlns:a="http://schemas.openxmlformats.org/drawingml/2006/main">
            <a:r>
              <a:t>Keep this as the normal path and use the detailed map on the next slide for exceptions. Match step and pain IDs to the workbook and report.</a:t>
            </a:r>
          </a:p>
          <a:p xmlns:a="http://schemas.openxmlformats.org/drawingml/2006/main">
            <a:r>
              <a:t/>
            </a:r>
          </a:p>
          <a:p xmlns:a="http://schemas.openxmlformats.org/drawingml/2006/main">
            <a:r>
              <a:t>[Sources]</a:t>
            </a:r>
          </a:p>
          <a:p xmlns:a="http://schemas.openxmlformats.org/drawingml/2006/main">
            <a:r>
              <a:t>- Heutrix Workflow Diagnostic Working Workbook — Current State</a:t>
            </a:r>
          </a:p>
          <a:p xmlns:a="http://schemas.openxmlformats.org/drawingml/2006/main">
            <a:r>
              <a:t>- Heutrix Workflow Diagnostic Findings Report Template v1.0</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Template instructions</a:t>
            </a:r>
          </a:p>
          <a:p xmlns:a="http://schemas.openxmlformats.org/drawingml/2006/main">
            <a:r>
              <a:t>Replace the illustrative nodes with the validated detailed flow. Add or remove native shapes as needed; keep connectors behind nodes. Show one materially different exception path and link each node to workbook step IDs.</a:t>
            </a:r>
          </a:p>
          <a:p xmlns:a="http://schemas.openxmlformats.org/drawingml/2006/main">
            <a:r>
              <a:t/>
            </a:r>
          </a:p>
          <a:p xmlns:a="http://schemas.openxmlformats.org/drawingml/2006/main">
            <a:r>
              <a:t>[Sources]</a:t>
            </a:r>
          </a:p>
          <a:p xmlns:a="http://schemas.openxmlformats.org/drawingml/2006/main">
            <a:r>
              <a:t>- Heutrix Workflow Diagnostic Working Workbook — Current State</a:t>
            </a:r>
          </a:p>
          <a:p xmlns:a="http://schemas.openxmlformats.org/drawingml/2006/main">
            <a:r>
              <a:t>- Heutrix Workflow Diagnostic Working Workbook — Pain &amp; Root Causes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Template instructions</a:t>
            </a:r>
          </a:p>
          <a:p xmlns:a="http://schemas.openxmlformats.org/drawingml/2006/main">
            <a:r>
              <a:t>Use evidence-linked, neutral language. A client concern becomes a finding only when the observed condition and operational consequence are clear. Label unconfirmed causes as hypotheses.</a:t>
            </a:r>
          </a:p>
          <a:p xmlns:a="http://schemas.openxmlformats.org/drawingml/2006/main">
            <a:r>
              <a:t/>
            </a:r>
          </a:p>
          <a:p xmlns:a="http://schemas.openxmlformats.org/drawingml/2006/main">
            <a:r>
              <a:t>[Sources]</a:t>
            </a:r>
          </a:p>
          <a:p xmlns:a="http://schemas.openxmlformats.org/drawingml/2006/main">
            <a:r>
              <a:t>- Heutrix Workflow Diagnostic Working Workbook — Pain &amp; Root Causes</a:t>
            </a:r>
          </a:p>
          <a:p xmlns:a="http://schemas.openxmlformats.org/drawingml/2006/main">
            <a:r>
              <a:t>- Heutrix Workflow Diagnostic Findings Report Template v1.0</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Template instructions</a:t>
            </a:r>
          </a:p>
          <a:p xmlns:a="http://schemas.openxmlformats.org/drawingml/2006/main">
            <a:r>
              <a:t>Revise these principles if the evidence supports a different set. Keep them testable: each future-state change should clearly implement at least one principle.</a:t>
            </a:r>
          </a:p>
          <a:p xmlns:a="http://schemas.openxmlformats.org/drawingml/2006/main">
            <a:r>
              <a:t/>
            </a:r>
          </a:p>
          <a:p xmlns:a="http://schemas.openxmlformats.org/drawingml/2006/main">
            <a:r>
              <a:t>[Sources]</a:t>
            </a:r>
          </a:p>
          <a:p xmlns:a="http://schemas.openxmlformats.org/drawingml/2006/main">
            <a:r>
              <a:t>- Heutrix Workflow Diagnostic Delivery Playbook v1.0</a:t>
            </a:r>
          </a:p>
          <a:p xmlns:a="http://schemas.openxmlformats.org/drawingml/2006/main">
            <a:r>
              <a:t>- Heutrix Workflow Diagnostic Working Workbook — Future State</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Template instructions</a:t>
            </a:r>
          </a:p>
          <a:p xmlns:a="http://schemas.openxmlformats.org/drawingml/2006/main">
            <a:r>
              <a:t>Use Change IDs C-## from the workbook. Show only material changes; do not imply implementation has been approved. Identify the human review point for material decisions.</a:t>
            </a:r>
          </a:p>
          <a:p xmlns:a="http://schemas.openxmlformats.org/drawingml/2006/main">
            <a:r>
              <a:t/>
            </a:r>
          </a:p>
          <a:p xmlns:a="http://schemas.openxmlformats.org/drawingml/2006/main">
            <a:r>
              <a:t>[Sources]</a:t>
            </a:r>
          </a:p>
          <a:p xmlns:a="http://schemas.openxmlformats.org/drawingml/2006/main">
            <a:r>
              <a:t>- Heutrix Workflow Diagnostic Working Workbook — Future State</a:t>
            </a:r>
          </a:p>
          <a:p xmlns:a="http://schemas.openxmlformats.org/drawingml/2006/main">
            <a:r>
              <a:t>- Heutrix Workflow Diagnostic Findings Report Template v1.0</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Template instructions</a:t>
            </a:r>
          </a:p>
          <a:p xmlns:a="http://schemas.openxmlformats.org/drawingml/2006/main">
            <a:r>
              <a:t>Use the calculated scores and exact IDs from the workbook. Explain any judgement-based override. Each recommended opportunity needs an owner, dependency and control gate.</a:t>
            </a:r>
          </a:p>
          <a:p xmlns:a="http://schemas.openxmlformats.org/drawingml/2006/main">
            <a:r>
              <a:t/>
            </a:r>
          </a:p>
          <a:p xmlns:a="http://schemas.openxmlformats.org/drawingml/2006/main">
            <a:r>
              <a:t>[Sources]</a:t>
            </a:r>
          </a:p>
          <a:p xmlns:a="http://schemas.openxmlformats.org/drawingml/2006/main">
            <a:r>
              <a:t>- Heutrix Workflow Diagnostic Working Workbook — Opportunity Scoring</a:t>
            </a:r>
          </a:p>
          <a:p xmlns:a="http://schemas.openxmlformats.org/drawingml/2006/main">
            <a:r>
              <a:t>- Heutrix Workflow Diagnostic Findings Report Template v1.0</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Template instructions</a:t>
            </a:r>
          </a:p>
          <a:p xmlns:a="http://schemas.openxmlformats.org/drawingml/2006/main">
            <a:r>
              <a:t>Do not recommend technology more specific than the evidence supports. Treat the 30/60/90 view as a decision sequence, not an implementation promise. Confirm any follow-on work is separately scoped.</a:t>
            </a:r>
          </a:p>
          <a:p xmlns:a="http://schemas.openxmlformats.org/drawingml/2006/main">
            <a:r>
              <a:t/>
            </a:r>
          </a:p>
          <a:p xmlns:a="http://schemas.openxmlformats.org/drawingml/2006/main">
            <a:r>
              <a:t>[Sources]</a:t>
            </a:r>
          </a:p>
          <a:p xmlns:a="http://schemas.openxmlformats.org/drawingml/2006/main">
            <a:r>
              <a:t>- Heutrix Workflow Diagnostic Delivery Playbook v1.0</a:t>
            </a:r>
          </a:p>
          <a:p xmlns:a="http://schemas.openxmlformats.org/drawingml/2006/main">
            <a:r>
              <a:t>- Heutrix Workflow Diagnostic Findings Report Template v1.0</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Template instructions</a:t>
            </a:r>
          </a:p>
          <a:p xmlns:a="http://schemas.openxmlformats.org/drawingml/2006/main">
            <a:r>
              <a:t>Record live decisions and questions in the workbook after the meeting. Confirm the five-business-day review window, one consolidated reasonable correction round and acceptance process. Do not imply follow-on work is automatic.</a:t>
            </a:r>
          </a:p>
          <a:p xmlns:a="http://schemas.openxmlformats.org/drawingml/2006/main">
            <a:r>
              <a:t/>
            </a:r>
          </a:p>
          <a:p xmlns:a="http://schemas.openxmlformats.org/drawingml/2006/main">
            <a:r>
              <a:t>[Sources]</a:t>
            </a:r>
          </a:p>
          <a:p xmlns:a="http://schemas.openxmlformats.org/drawingml/2006/main">
            <a:r>
              <a:t>- Heutrix Workflow Diagnostic Order Form v1.0</a:t>
            </a:r>
          </a:p>
          <a:p xmlns:a="http://schemas.openxmlformats.org/drawingml/2006/main">
            <a:r>
              <a:t>- Heutrix Project Control Forms v1.0 — Deliverable Review and Acceptance</a:t>
            </a:r>
          </a:p>
          <a:p xmlns:a="http://schemas.openxmlformats.org/drawingml/2006/main">
            <a:r>
              <a:t>- Heutrix Workflow Diagnostic Working Workbook — Closeout</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e480e4df8be422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06de7ff3a064933" /><Relationship Type="http://schemas.openxmlformats.org/officeDocument/2006/relationships/slideLayout" Target="/ppt/slideLayouts/slideLayout1.xml" Id="Rf72c61edf41e4dd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72c61edf41e4dd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f82c2a5cd9ab4e9d" /><Relationship Type="http://schemas.openxmlformats.org/officeDocument/2006/relationships/notesSlide" Target="/ppt/notesSlides/notesSlide1.xml" Id="Rc9bef30c11684e58"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0514fab485fa466a" /><Relationship Type="http://schemas.openxmlformats.org/officeDocument/2006/relationships/notesSlide" Target="/ppt/notesSlides/notesSlide2.xml" Id="R3a73de3fc2ba4d17"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fa9bb71407f04d26" /><Relationship Type="http://schemas.openxmlformats.org/officeDocument/2006/relationships/notesSlide" Target="/ppt/notesSlides/notesSlide3.xml" Id="Rffae48321e9c4e31"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6e7d97b60fe54167" /><Relationship Type="http://schemas.openxmlformats.org/officeDocument/2006/relationships/notesSlide" Target="/ppt/notesSlides/notesSlide4.xml" Id="Rb60bb0180c534d8c"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e135a447582c4bf3" /><Relationship Type="http://schemas.openxmlformats.org/officeDocument/2006/relationships/notesSlide" Target="/ppt/notesSlides/notesSlide5.xml" Id="R6e21046413934692"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c0e5c1e9de814a9b" /><Relationship Type="http://schemas.openxmlformats.org/officeDocument/2006/relationships/notesSlide" Target="/ppt/notesSlides/notesSlide6.xml" Id="R7cf27c3f69be449b"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1a30e5b669834793" /><Relationship Type="http://schemas.openxmlformats.org/officeDocument/2006/relationships/notesSlide" Target="/ppt/notesSlides/notesSlide7.xml" Id="Rab0d9f31a6c14051"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315f7ec9940148cc" /><Relationship Type="http://schemas.openxmlformats.org/officeDocument/2006/relationships/notesSlide" Target="/ppt/notesSlides/notesSlide8.xml" Id="R50262aaf1b0b489f"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e627883db0c840e0" /><Relationship Type="http://schemas.openxmlformats.org/officeDocument/2006/relationships/notesSlide" Target="/ppt/notesSlides/notesSlide9.xml" Id="R258d3a7245614f1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51c1017c3b6f4a26" /><Relationship Type="http://schemas.openxmlformats.org/officeDocument/2006/relationships/notesSlide" Target="/ppt/notesSlides/notesSlide10.xml" Id="R0094db8a55e64c02"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70f9d5dac825429c" /><Relationship Type="http://schemas.openxmlformats.org/officeDocument/2006/relationships/notesSlide" Target="/ppt/notesSlides/notesSlide11.xml" Id="R902a91f6382947ed"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1b582812bf414921" /><Relationship Type="http://schemas.openxmlformats.org/officeDocument/2006/relationships/notesSlide" Target="/ppt/notesSlides/notesSlide12.xml" Id="Rd8c98860e62c4a21" /></Relationships>
</file>

<file path=ppt/slides/slide1.xml><?xml version="1.0" encoding="utf-8"?>
<p:sld xmlns:p="http://schemas.openxmlformats.org/presentationml/2006/main">
  <p:cSld>
    <p:bg>
      <p:bgPr>
        <a:solidFill xmlns:a="http://schemas.openxmlformats.org/drawingml/2006/main">
          <a:srgbClr val="17324D"/>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41004397-87BB-449F-8105-1D05F2DFA62D}"/>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2" name="">
            <a:extLst xmlns:a="http://schemas.openxmlformats.org/drawingml/2006/main">
              <a:ext uri="{FF2B5EF4-FFF2-40B4-BE49-F238E27FC236}">
                <a16:creationId xmlns:a16="http://schemas.microsoft.com/office/drawing/2014/main" id="{82AF1BF6-2AE8-4E29-96F5-CA5A86A9C8E6}"/>
              </a:ext>
            </a:extLst>
          </p:cNvPr>
          <p:cNvSpPr>
            <a:spLocks xmlns:a="http://schemas.openxmlformats.org/drawingml/2006/main" noGrp="1"/>
          </p:cNvSpPr>
          <p:nvPr/>
        </p:nvSpPr>
        <p:spPr>
          <a:xfrm xmlns:a="http://schemas.openxmlformats.org/drawingml/2006/main">
            <a:off x="685800" y="609600"/>
            <a:ext cx="2190750" cy="285750"/>
          </a:xfrm>
          <a:prstGeom xmlns:a="http://schemas.openxmlformats.org/drawingml/2006/main" prst="roundRect">
            <a:avLst>
              <a:gd name="adj" fmla="val 26667"/>
            </a:avLst>
          </a:prstGeom>
          <a:solidFill xmlns:a="http://schemas.openxmlformats.org/drawingml/2006/main">
            <a:srgbClr val="DCEAF7"/>
          </a:solidFill>
          <a:ln xmlns:a="http://schemas.openxmlformats.org/drawingml/2006/main" w="0">
            <a:solidFill>
              <a:srgbClr val="DCEAF7"/>
            </a:solidFill>
            <a:prstDash val="solid"/>
          </a:ln>
        </p:spPr>
      </p:sp>
      <p:sp>
        <p:nvSpPr>
          <p:cNvPr id="3" name="">
            <a:extLst xmlns:a="http://schemas.openxmlformats.org/drawingml/2006/main">
              <a:ext uri="{FF2B5EF4-FFF2-40B4-BE49-F238E27FC236}">
                <a16:creationId xmlns:a16="http://schemas.microsoft.com/office/drawing/2014/main" id="{8091AAE9-29A5-4416-A8EC-8A37D9C45396}"/>
              </a:ext>
            </a:extLst>
          </p:cNvPr>
          <p:cNvSpPr>
            <a:spLocks xmlns:a="http://schemas.openxmlformats.org/drawingml/2006/main" noGrp="1"/>
          </p:cNvSpPr>
          <p:nvPr/>
        </p:nvSpPr>
        <p:spPr>
          <a:xfrm xmlns:a="http://schemas.openxmlformats.org/drawingml/2006/main">
            <a:off x="685800" y="619125"/>
            <a:ext cx="2190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75" b="1" i="0">
                <a:solidFill>
                  <a:srgbClr val="17324D"/>
                </a:solidFill>
              </a:defRPr>
            </a:pPr>
            <a:r>
              <a:rPr sz="975" b="1" i="0">
                <a:solidFill>
                  <a:srgbClr val="17324D"/>
                </a:solidFill>
              </a:rPr>
              <a:t>CLIENT READOUT TEMPLATE</a:t>
            </a:r>
          </a:p>
        </p:txBody>
      </p:sp>
      <p:sp>
        <p:nvSpPr>
          <p:cNvPr id="4" name="">
            <a:extLst xmlns:a="http://schemas.openxmlformats.org/drawingml/2006/main">
              <a:ext uri="{FF2B5EF4-FFF2-40B4-BE49-F238E27FC236}">
                <a16:creationId xmlns:a16="http://schemas.microsoft.com/office/drawing/2014/main" id="{1A3CE0C6-7B41-422C-9670-0AB20CC02F6A}"/>
              </a:ext>
            </a:extLst>
          </p:cNvPr>
          <p:cNvSpPr>
            <a:spLocks xmlns:a="http://schemas.openxmlformats.org/drawingml/2006/main" noGrp="1"/>
          </p:cNvSpPr>
          <p:nvPr/>
        </p:nvSpPr>
        <p:spPr>
          <a:xfrm xmlns:a="http://schemas.openxmlformats.org/drawingml/2006/main">
            <a:off x="685800" y="1409700"/>
            <a:ext cx="9334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00" b="1" i="0">
                <a:solidFill>
                  <a:srgbClr val="DCEAF7"/>
                </a:solidFill>
              </a:defRPr>
            </a:pPr>
            <a:r>
              <a:rPr sz="1800" b="1" i="0">
                <a:solidFill>
                  <a:srgbClr val="DCEAF7"/>
                </a:solidFill>
              </a:rPr>
              <a:t>[Client name]</a:t>
            </a:r>
          </a:p>
        </p:txBody>
      </p:sp>
      <p:sp>
        <p:nvSpPr>
          <p:cNvPr id="5" name="">
            <a:extLst xmlns:a="http://schemas.openxmlformats.org/drawingml/2006/main">
              <a:ext uri="{FF2B5EF4-FFF2-40B4-BE49-F238E27FC236}">
                <a16:creationId xmlns:a16="http://schemas.microsoft.com/office/drawing/2014/main" id="{7CAE0A09-2C40-491F-A5CA-B7376610232B}"/>
              </a:ext>
            </a:extLst>
          </p:cNvPr>
          <p:cNvSpPr>
            <a:spLocks xmlns:a="http://schemas.openxmlformats.org/drawingml/2006/main" noGrp="1"/>
          </p:cNvSpPr>
          <p:nvPr/>
        </p:nvSpPr>
        <p:spPr>
          <a:xfrm xmlns:a="http://schemas.openxmlformats.org/drawingml/2006/main">
            <a:off x="685800" y="1885950"/>
            <a:ext cx="99060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4050" b="1" i="0">
                <a:solidFill>
                  <a:srgbClr val="FFFFFF"/>
                </a:solidFill>
              </a:defRPr>
            </a:pPr>
            <a:r>
              <a:rPr sz="4050" b="1" i="0">
                <a:solidFill>
                  <a:srgbClr val="FFFFFF"/>
                </a:solidFill>
              </a:rPr>
              <a:t>Workflow Diagnostic</a:t>
            </a:r>
          </a:p>
        </p:txBody>
      </p:sp>
      <p:sp>
        <p:nvSpPr>
          <p:cNvPr id="6" name="">
            <a:extLst xmlns:a="http://schemas.openxmlformats.org/drawingml/2006/main">
              <a:ext uri="{FF2B5EF4-FFF2-40B4-BE49-F238E27FC236}">
                <a16:creationId xmlns:a16="http://schemas.microsoft.com/office/drawing/2014/main" id="{74AB1856-FC07-4D76-9537-0F4CAAD7EF20}"/>
              </a:ext>
            </a:extLst>
          </p:cNvPr>
          <p:cNvSpPr>
            <a:spLocks xmlns:a="http://schemas.openxmlformats.org/drawingml/2006/main" noGrp="1"/>
          </p:cNvSpPr>
          <p:nvPr/>
        </p:nvSpPr>
        <p:spPr>
          <a:xfrm xmlns:a="http://schemas.openxmlformats.org/drawingml/2006/main">
            <a:off x="685800" y="2686050"/>
            <a:ext cx="9906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550" b="1" i="0">
                <a:solidFill>
                  <a:srgbClr val="F5C451"/>
                </a:solidFill>
              </a:defRPr>
            </a:pPr>
            <a:r>
              <a:rPr sz="2550" b="1" i="0">
                <a:solidFill>
                  <a:srgbClr val="F5C451"/>
                </a:solidFill>
              </a:rPr>
              <a:t>[Workflow name]</a:t>
            </a:r>
          </a:p>
        </p:txBody>
      </p:sp>
      <p:sp>
        <p:nvSpPr>
          <p:cNvPr id="7" name="">
            <a:extLst xmlns:a="http://schemas.openxmlformats.org/drawingml/2006/main">
              <a:ext uri="{FF2B5EF4-FFF2-40B4-BE49-F238E27FC236}">
                <a16:creationId xmlns:a16="http://schemas.microsoft.com/office/drawing/2014/main" id="{1DF4644C-49BB-4561-956A-34F5D4D81A94}"/>
              </a:ext>
            </a:extLst>
          </p:cNvPr>
          <p:cNvSpPr>
            <a:spLocks xmlns:a="http://schemas.openxmlformats.org/drawingml/2006/main" noGrp="1"/>
          </p:cNvSpPr>
          <p:nvPr/>
        </p:nvSpPr>
        <p:spPr>
          <a:xfrm xmlns:a="http://schemas.openxmlformats.org/drawingml/2006/main">
            <a:off x="685800" y="3543300"/>
            <a:ext cx="10820400" cy="19050"/>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8" name="">
            <a:extLst xmlns:a="http://schemas.openxmlformats.org/drawingml/2006/main">
              <a:ext uri="{FF2B5EF4-FFF2-40B4-BE49-F238E27FC236}">
                <a16:creationId xmlns:a16="http://schemas.microsoft.com/office/drawing/2014/main" id="{9ADBE2A0-3B6B-4FF3-83C6-12143E6F58CC}"/>
              </a:ext>
            </a:extLst>
          </p:cNvPr>
          <p:cNvSpPr>
            <a:spLocks xmlns:a="http://schemas.openxmlformats.org/drawingml/2006/main" noGrp="1"/>
          </p:cNvSpPr>
          <p:nvPr/>
        </p:nvSpPr>
        <p:spPr>
          <a:xfrm xmlns:a="http://schemas.openxmlformats.org/drawingml/2006/main">
            <a:off x="685800" y="3867150"/>
            <a:ext cx="1000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75" b="0" i="0">
                <a:solidFill>
                  <a:srgbClr val="E8EEF5"/>
                </a:solidFill>
              </a:defRPr>
            </a:pPr>
            <a:r>
              <a:rPr sz="1575" b="0" i="0">
                <a:solidFill>
                  <a:srgbClr val="E8EEF5"/>
                </a:solidFill>
              </a:rPr>
              <a:t>Current state  •  Root causes  •  Future state  •  Priorities</a:t>
            </a:r>
          </a:p>
        </p:txBody>
      </p:sp>
      <p:sp>
        <p:nvSpPr>
          <p:cNvPr id="9" name="">
            <a:extLst xmlns:a="http://schemas.openxmlformats.org/drawingml/2006/main">
              <a:ext uri="{FF2B5EF4-FFF2-40B4-BE49-F238E27FC236}">
                <a16:creationId xmlns:a16="http://schemas.microsoft.com/office/drawing/2014/main" id="{1EF00851-D0A7-4421-B60F-9FCB6B24C311}"/>
              </a:ext>
            </a:extLst>
          </p:cNvPr>
          <p:cNvSpPr>
            <a:spLocks xmlns:a="http://schemas.openxmlformats.org/drawingml/2006/main" noGrp="1"/>
          </p:cNvSpPr>
          <p:nvPr/>
        </p:nvSpPr>
        <p:spPr>
          <a:xfrm xmlns:a="http://schemas.openxmlformats.org/drawingml/2006/main">
            <a:off x="685800" y="6096000"/>
            <a:ext cx="7620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i="0">
                <a:solidFill>
                  <a:srgbClr val="E8EEF5"/>
                </a:solidFill>
              </a:defRPr>
            </a:pPr>
            <a:r>
              <a:rPr sz="1050" b="0" i="0">
                <a:solidFill>
                  <a:srgbClr val="E8EEF5"/>
                </a:solidFill>
              </a:rPr>
              <a:t>Prepared by Heutrix  |  [Date]  |  Version [x.x]</a:t>
            </a:r>
          </a:p>
        </p:txBody>
      </p:sp>
      <p:sp>
        <p:nvSpPr>
          <p:cNvPr id="10" name="">
            <a:extLst xmlns:a="http://schemas.openxmlformats.org/drawingml/2006/main">
              <a:ext uri="{FF2B5EF4-FFF2-40B4-BE49-F238E27FC236}">
                <a16:creationId xmlns:a16="http://schemas.microsoft.com/office/drawing/2014/main" id="{442774A9-C422-45A1-996A-FCDFA1A51943}"/>
              </a:ext>
            </a:extLst>
          </p:cNvPr>
          <p:cNvSpPr>
            <a:spLocks xmlns:a="http://schemas.openxmlformats.org/drawingml/2006/main" noGrp="1"/>
          </p:cNvSpPr>
          <p:nvPr/>
        </p:nvSpPr>
        <p:spPr>
          <a:xfrm xmlns:a="http://schemas.openxmlformats.org/drawingml/2006/main">
            <a:off x="9620250" y="6076950"/>
            <a:ext cx="18859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050" b="1" i="0">
                <a:solidFill>
                  <a:srgbClr val="F5C451"/>
                </a:solidFill>
              </a:defRPr>
            </a:pPr>
            <a:r>
              <a:rPr sz="1050" b="1" i="0">
                <a:solidFill>
                  <a:srgbClr val="F5C451"/>
                </a:solidFill>
              </a:rPr>
              <a:t>Decision readout</a:t>
            </a:r>
          </a:p>
        </p:txBody>
      </p:sp>
    </p:spTree>
    <p:extLst>
      <p:ext uri="{BB962C8B-B14F-4D97-AF65-F5344CB8AC3E}">
        <p14:creationId xmlns:p14="http://schemas.microsoft.com/office/powerpoint/2010/main" val="1137673430"/>
      </p:ext>
    </p:extLst>
  </p:cSld>
</p:sld>
</file>

<file path=ppt/slides/slide2.xml><?xml version="1.0" encoding="utf-8"?>
<p:sld xmlns:p="http://schemas.openxmlformats.org/presentationml/2006/main">
  <p:cSld>
    <p:bg>
      <p:bgPr>
        <a:solidFill xmlns:a="http://schemas.openxmlformats.org/drawingml/2006/main">
          <a:srgbClr val="F7F9FB"/>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E3C21FFB-D925-48F2-B1D9-5F896E41C120}"/>
              </a:ext>
            </a:extLst>
          </p:cNvPr>
          <p:cNvSpPr>
            <a:spLocks xmlns:a="http://schemas.openxmlformats.org/drawingml/2006/main" noGrp="1"/>
          </p:cNvSpPr>
          <p:nvPr/>
        </p:nvSpPr>
        <p:spPr>
          <a:xfrm xmlns:a="http://schemas.openxmlformats.org/drawingml/2006/main">
            <a:off x="609600" y="32385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i="0">
                <a:solidFill>
                  <a:srgbClr val="2E74B5"/>
                </a:solidFill>
              </a:defRPr>
            </a:pPr>
            <a:r>
              <a:rPr sz="900" b="1" i="0">
                <a:solidFill>
                  <a:srgbClr val="2E74B5"/>
                </a:solidFill>
              </a:rPr>
              <a:t>SCOPE</a:t>
            </a:r>
          </a:p>
        </p:txBody>
      </p:sp>
      <p:sp>
        <p:nvSpPr>
          <p:cNvPr id="2" name="">
            <a:extLst xmlns:a="http://schemas.openxmlformats.org/drawingml/2006/main">
              <a:ext uri="{FF2B5EF4-FFF2-40B4-BE49-F238E27FC236}">
                <a16:creationId xmlns:a16="http://schemas.microsoft.com/office/drawing/2014/main" id="{E23855DA-EF13-413E-A64F-4FF27FB6171C}"/>
              </a:ext>
            </a:extLst>
          </p:cNvPr>
          <p:cNvSpPr>
            <a:spLocks xmlns:a="http://schemas.openxmlformats.org/drawingml/2006/main" noGrp="1"/>
          </p:cNvSpPr>
          <p:nvPr/>
        </p:nvSpPr>
        <p:spPr>
          <a:xfrm xmlns:a="http://schemas.openxmlformats.org/drawingml/2006/main">
            <a:off x="609600" y="552450"/>
            <a:ext cx="10287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550" b="1" i="0">
                <a:solidFill>
                  <a:srgbClr val="17324D"/>
                </a:solidFill>
              </a:defRPr>
            </a:pPr>
            <a:r>
              <a:rPr sz="2550" b="1" i="0">
                <a:solidFill>
                  <a:srgbClr val="17324D"/>
                </a:solidFill>
              </a:rPr>
              <a:t>Start with the decision this diagnostic must support</a:t>
            </a:r>
          </a:p>
        </p:txBody>
      </p:sp>
      <p:sp>
        <p:nvSpPr>
          <p:cNvPr id="3" name="">
            <a:extLst xmlns:a="http://schemas.openxmlformats.org/drawingml/2006/main">
              <a:ext uri="{FF2B5EF4-FFF2-40B4-BE49-F238E27FC236}">
                <a16:creationId xmlns:a16="http://schemas.microsoft.com/office/drawing/2014/main" id="{44DA4654-A75A-46FC-B8F8-9F2DD15B6E83}"/>
              </a:ext>
            </a:extLst>
          </p:cNvPr>
          <p:cNvSpPr>
            <a:spLocks xmlns:a="http://schemas.openxmlformats.org/drawingml/2006/main" noGrp="1"/>
          </p:cNvSpPr>
          <p:nvPr/>
        </p:nvSpPr>
        <p:spPr>
          <a:xfrm xmlns:a="http://schemas.openxmlformats.org/drawingml/2006/main">
            <a:off x="609600" y="1143000"/>
            <a:ext cx="10972800" cy="19050"/>
          </a:xfrm>
          <a:prstGeom xmlns:a="http://schemas.openxmlformats.org/drawingml/2006/main" prst="rect">
            <a:avLst/>
          </a:prstGeom>
          <a:solidFill xmlns:a="http://schemas.openxmlformats.org/drawingml/2006/main">
            <a:srgbClr val="C9D2DC"/>
          </a:solidFill>
          <a:ln xmlns:a="http://schemas.openxmlformats.org/drawingml/2006/main" w="0">
            <a:solidFill>
              <a:srgbClr val="C9D2DC"/>
            </a:solidFill>
            <a:prstDash val="solid"/>
          </a:ln>
        </p:spPr>
      </p:sp>
      <p:sp>
        <p:nvSpPr>
          <p:cNvPr id="4" name="">
            <a:extLst xmlns:a="http://schemas.openxmlformats.org/drawingml/2006/main">
              <a:ext uri="{FF2B5EF4-FFF2-40B4-BE49-F238E27FC236}">
                <a16:creationId xmlns:a16="http://schemas.microsoft.com/office/drawing/2014/main" id="{E44E0768-3A75-4F78-BAE0-FDB566DF5029}"/>
              </a:ext>
            </a:extLst>
          </p:cNvPr>
          <p:cNvSpPr>
            <a:spLocks xmlns:a="http://schemas.openxmlformats.org/drawingml/2006/main" noGrp="1"/>
          </p:cNvSpPr>
          <p:nvPr/>
        </p:nvSpPr>
        <p:spPr>
          <a:xfrm xmlns:a="http://schemas.openxmlformats.org/drawingml/2006/main">
            <a:off x="609600" y="6505575"/>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50" b="1" i="0">
                <a:solidFill>
                  <a:srgbClr val="66717E"/>
                </a:solidFill>
              </a:defRPr>
            </a:pPr>
            <a:r>
              <a:rPr sz="750" b="1" i="0">
                <a:solidFill>
                  <a:srgbClr val="66717E"/>
                </a:solidFill>
              </a:rPr>
              <a:t>HEUTRIX  |  WORKFLOW DIAGNOSTIC</a:t>
            </a:r>
          </a:p>
        </p:txBody>
      </p:sp>
      <p:sp>
        <p:nvSpPr>
          <p:cNvPr id="5" name="">
            <a:extLst xmlns:a="http://schemas.openxmlformats.org/drawingml/2006/main">
              <a:ext uri="{FF2B5EF4-FFF2-40B4-BE49-F238E27FC236}">
                <a16:creationId xmlns:a16="http://schemas.microsoft.com/office/drawing/2014/main" id="{94464C3B-90C0-4B3C-ACE9-C51EFF27A2D6}"/>
              </a:ext>
            </a:extLst>
          </p:cNvPr>
          <p:cNvSpPr>
            <a:spLocks xmlns:a="http://schemas.openxmlformats.org/drawingml/2006/main" noGrp="1"/>
          </p:cNvSpPr>
          <p:nvPr/>
        </p:nvSpPr>
        <p:spPr>
          <a:xfrm xmlns:a="http://schemas.openxmlformats.org/drawingml/2006/main">
            <a:off x="11096625" y="6477000"/>
            <a:ext cx="476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i="0">
                <a:solidFill>
                  <a:srgbClr val="66717E"/>
                </a:solidFill>
              </a:defRPr>
            </a:pPr>
            <a:r>
              <a:rPr sz="825" b="1" i="0">
                <a:solidFill>
                  <a:srgbClr val="66717E"/>
                </a:solidFill>
              </a:rPr>
              <a:t>02</a:t>
            </a:r>
          </a:p>
        </p:txBody>
      </p:sp>
      <p:sp>
        <p:nvSpPr>
          <p:cNvPr id="6" name="">
            <a:extLst xmlns:a="http://schemas.openxmlformats.org/drawingml/2006/main">
              <a:ext uri="{FF2B5EF4-FFF2-40B4-BE49-F238E27FC236}">
                <a16:creationId xmlns:a16="http://schemas.microsoft.com/office/drawing/2014/main" id="{D97AFE79-BFEC-462E-8C93-28855138B8EB}"/>
              </a:ext>
            </a:extLst>
          </p:cNvPr>
          <p:cNvSpPr>
            <a:spLocks xmlns:a="http://schemas.openxmlformats.org/drawingml/2006/main" noGrp="1"/>
          </p:cNvSpPr>
          <p:nvPr/>
        </p:nvSpPr>
        <p:spPr>
          <a:xfrm xmlns:a="http://schemas.openxmlformats.org/drawingml/2006/main">
            <a:off x="609600" y="1447800"/>
            <a:ext cx="6762750" cy="1562100"/>
          </a:xfrm>
          <a:prstGeom xmlns:a="http://schemas.openxmlformats.org/drawingml/2006/main" prst="roundRect">
            <a:avLst>
              <a:gd name="adj" fmla="val 4878"/>
            </a:avLst>
          </a:prstGeom>
          <a:solidFill xmlns:a="http://schemas.openxmlformats.org/drawingml/2006/main">
            <a:srgbClr val="FFFFFF"/>
          </a:solidFill>
          <a:ln xmlns:a="http://schemas.openxmlformats.org/drawingml/2006/main" w="9525">
            <a:solidFill>
              <a:srgbClr val="C9D2DC"/>
            </a:solidFill>
            <a:prstDash val="solid"/>
          </a:ln>
        </p:spPr>
      </p:sp>
      <p:sp>
        <p:nvSpPr>
          <p:cNvPr id="7" name="">
            <a:extLst xmlns:a="http://schemas.openxmlformats.org/drawingml/2006/main">
              <a:ext uri="{FF2B5EF4-FFF2-40B4-BE49-F238E27FC236}">
                <a16:creationId xmlns:a16="http://schemas.microsoft.com/office/drawing/2014/main" id="{0190CC9B-5C74-4D00-88E3-460803410F17}"/>
              </a:ext>
            </a:extLst>
          </p:cNvPr>
          <p:cNvSpPr>
            <a:spLocks xmlns:a="http://schemas.openxmlformats.org/drawingml/2006/main" noGrp="1"/>
          </p:cNvSpPr>
          <p:nvPr/>
        </p:nvSpPr>
        <p:spPr>
          <a:xfrm xmlns:a="http://schemas.openxmlformats.org/drawingml/2006/main">
            <a:off x="609600" y="1447800"/>
            <a:ext cx="76200" cy="1562100"/>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8" name="">
            <a:extLst xmlns:a="http://schemas.openxmlformats.org/drawingml/2006/main">
              <a:ext uri="{FF2B5EF4-FFF2-40B4-BE49-F238E27FC236}">
                <a16:creationId xmlns:a16="http://schemas.microsoft.com/office/drawing/2014/main" id="{36C9D3D1-5D33-4A0E-84A2-4AB076F1B0D5}"/>
              </a:ext>
            </a:extLst>
          </p:cNvPr>
          <p:cNvSpPr>
            <a:spLocks xmlns:a="http://schemas.openxmlformats.org/drawingml/2006/main" noGrp="1"/>
          </p:cNvSpPr>
          <p:nvPr/>
        </p:nvSpPr>
        <p:spPr>
          <a:xfrm xmlns:a="http://schemas.openxmlformats.org/drawingml/2006/main">
            <a:off x="819150" y="1581150"/>
            <a:ext cx="64198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1" i="0">
                <a:solidFill>
                  <a:srgbClr val="17324D"/>
                </a:solidFill>
              </a:defRPr>
            </a:pPr>
            <a:r>
              <a:rPr sz="1350" b="1" i="0">
                <a:solidFill>
                  <a:srgbClr val="17324D"/>
                </a:solidFill>
              </a:rPr>
              <a:t>Decision to support</a:t>
            </a:r>
          </a:p>
        </p:txBody>
      </p:sp>
      <p:sp>
        <p:nvSpPr>
          <p:cNvPr id="9" name="">
            <a:extLst xmlns:a="http://schemas.openxmlformats.org/drawingml/2006/main">
              <a:ext uri="{FF2B5EF4-FFF2-40B4-BE49-F238E27FC236}">
                <a16:creationId xmlns:a16="http://schemas.microsoft.com/office/drawing/2014/main" id="{943CF296-EA29-4B1A-9786-80697C34CE9B}"/>
              </a:ext>
            </a:extLst>
          </p:cNvPr>
          <p:cNvSpPr>
            <a:spLocks xmlns:a="http://schemas.openxmlformats.org/drawingml/2006/main" noGrp="1"/>
          </p:cNvSpPr>
          <p:nvPr/>
        </p:nvSpPr>
        <p:spPr>
          <a:xfrm xmlns:a="http://schemas.openxmlformats.org/drawingml/2006/main">
            <a:off x="819150" y="1876425"/>
            <a:ext cx="640080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i="0">
                <a:solidFill>
                  <a:srgbClr val="20262E"/>
                </a:solidFill>
              </a:defRPr>
            </a:pPr>
            <a:r>
              <a:rPr sz="1350" b="0" i="0">
                <a:solidFill>
                  <a:srgbClr val="20262E"/>
                </a:solidFill>
              </a:rPr>
              <a:t>[State the operational decision in one sentence.]</a:t>
            </a:r>
          </a:p>
          <a:p xmlns:a="http://schemas.openxmlformats.org/drawingml/2006/main">
            <a:r>
              <a:t/>
            </a:r>
          </a:p>
          <a:p xmlns:a="http://schemas.openxmlformats.org/drawingml/2006/main">
            <a:pPr algn="l">
              <a:defRPr sz="1350" b="0" i="0">
                <a:solidFill>
                  <a:srgbClr val="20262E"/>
                </a:solidFill>
              </a:defRPr>
            </a:pPr>
            <a:r>
              <a:rPr sz="1350" b="0" i="0">
                <a:solidFill>
                  <a:srgbClr val="20262E"/>
                </a:solidFill>
              </a:rPr>
              <a:t>Example structure: Decide whether to redesign, configure, automate or leave the workflow unchanged.</a:t>
            </a:r>
          </a:p>
        </p:txBody>
      </p:sp>
      <p:sp>
        <p:nvSpPr>
          <p:cNvPr id="10" name="">
            <a:extLst xmlns:a="http://schemas.openxmlformats.org/drawingml/2006/main">
              <a:ext uri="{FF2B5EF4-FFF2-40B4-BE49-F238E27FC236}">
                <a16:creationId xmlns:a16="http://schemas.microsoft.com/office/drawing/2014/main" id="{BD518830-8786-4B88-81FF-4AEEDCEE2895}"/>
              </a:ext>
            </a:extLst>
          </p:cNvPr>
          <p:cNvSpPr>
            <a:spLocks xmlns:a="http://schemas.openxmlformats.org/drawingml/2006/main" noGrp="1"/>
          </p:cNvSpPr>
          <p:nvPr/>
        </p:nvSpPr>
        <p:spPr>
          <a:xfrm xmlns:a="http://schemas.openxmlformats.org/drawingml/2006/main">
            <a:off x="7639050" y="1447800"/>
            <a:ext cx="3943350" cy="1562100"/>
          </a:xfrm>
          <a:prstGeom xmlns:a="http://schemas.openxmlformats.org/drawingml/2006/main" prst="roundRect">
            <a:avLst>
              <a:gd name="adj" fmla="val 4878"/>
            </a:avLst>
          </a:prstGeom>
          <a:solidFill xmlns:a="http://schemas.openxmlformats.org/drawingml/2006/main">
            <a:srgbClr val="E8F3EC"/>
          </a:solidFill>
          <a:ln xmlns:a="http://schemas.openxmlformats.org/drawingml/2006/main" w="9525">
            <a:solidFill>
              <a:srgbClr val="C9D2DC"/>
            </a:solidFill>
            <a:prstDash val="solid"/>
          </a:ln>
        </p:spPr>
      </p:sp>
      <p:sp>
        <p:nvSpPr>
          <p:cNvPr id="11" name="">
            <a:extLst xmlns:a="http://schemas.openxmlformats.org/drawingml/2006/main">
              <a:ext uri="{FF2B5EF4-FFF2-40B4-BE49-F238E27FC236}">
                <a16:creationId xmlns:a16="http://schemas.microsoft.com/office/drawing/2014/main" id="{09FC3F26-28FF-4DDF-A6A1-E642E90E4C98}"/>
              </a:ext>
            </a:extLst>
          </p:cNvPr>
          <p:cNvSpPr>
            <a:spLocks xmlns:a="http://schemas.openxmlformats.org/drawingml/2006/main" noGrp="1"/>
          </p:cNvSpPr>
          <p:nvPr/>
        </p:nvSpPr>
        <p:spPr>
          <a:xfrm xmlns:a="http://schemas.openxmlformats.org/drawingml/2006/main">
            <a:off x="7639050" y="1447800"/>
            <a:ext cx="76200" cy="1562100"/>
          </a:xfrm>
          <a:prstGeom xmlns:a="http://schemas.openxmlformats.org/drawingml/2006/main" prst="rect">
            <a:avLst/>
          </a:prstGeom>
          <a:solidFill xmlns:a="http://schemas.openxmlformats.org/drawingml/2006/main">
            <a:srgbClr val="2E7D5B"/>
          </a:solidFill>
          <a:ln xmlns:a="http://schemas.openxmlformats.org/drawingml/2006/main" w="0">
            <a:solidFill>
              <a:srgbClr val="2E7D5B"/>
            </a:solidFill>
            <a:prstDash val="solid"/>
          </a:ln>
        </p:spPr>
      </p:sp>
      <p:sp>
        <p:nvSpPr>
          <p:cNvPr id="12" name="">
            <a:extLst xmlns:a="http://schemas.openxmlformats.org/drawingml/2006/main">
              <a:ext uri="{FF2B5EF4-FFF2-40B4-BE49-F238E27FC236}">
                <a16:creationId xmlns:a16="http://schemas.microsoft.com/office/drawing/2014/main" id="{8AB29135-FB5B-4107-8640-9F1671B33463}"/>
              </a:ext>
            </a:extLst>
          </p:cNvPr>
          <p:cNvSpPr>
            <a:spLocks xmlns:a="http://schemas.openxmlformats.org/drawingml/2006/main" noGrp="1"/>
          </p:cNvSpPr>
          <p:nvPr/>
        </p:nvSpPr>
        <p:spPr>
          <a:xfrm xmlns:a="http://schemas.openxmlformats.org/drawingml/2006/main">
            <a:off x="7848600" y="1581150"/>
            <a:ext cx="36004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1" i="0">
                <a:solidFill>
                  <a:srgbClr val="17324D"/>
                </a:solidFill>
              </a:defRPr>
            </a:pPr>
            <a:r>
              <a:rPr sz="1350" b="1" i="0">
                <a:solidFill>
                  <a:srgbClr val="17324D"/>
                </a:solidFill>
              </a:rPr>
              <a:t>Workflow boundary</a:t>
            </a:r>
          </a:p>
        </p:txBody>
      </p:sp>
      <p:sp>
        <p:nvSpPr>
          <p:cNvPr id="13" name="">
            <a:extLst xmlns:a="http://schemas.openxmlformats.org/drawingml/2006/main">
              <a:ext uri="{FF2B5EF4-FFF2-40B4-BE49-F238E27FC236}">
                <a16:creationId xmlns:a16="http://schemas.microsoft.com/office/drawing/2014/main" id="{0C3898D5-8470-4F73-92CE-994CA79316AC}"/>
              </a:ext>
            </a:extLst>
          </p:cNvPr>
          <p:cNvSpPr>
            <a:spLocks xmlns:a="http://schemas.openxmlformats.org/drawingml/2006/main" noGrp="1"/>
          </p:cNvSpPr>
          <p:nvPr/>
        </p:nvSpPr>
        <p:spPr>
          <a:xfrm xmlns:a="http://schemas.openxmlformats.org/drawingml/2006/main">
            <a:off x="7848600" y="1876425"/>
            <a:ext cx="358140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i="0">
                <a:solidFill>
                  <a:srgbClr val="20262E"/>
                </a:solidFill>
              </a:defRPr>
            </a:pPr>
            <a:r>
              <a:rPr sz="1200" b="0" i="0">
                <a:solidFill>
                  <a:srgbClr val="20262E"/>
                </a:solidFill>
              </a:rPr>
              <a:t>START</a:t>
            </a:r>
          </a:p>
          <a:p xmlns:a="http://schemas.openxmlformats.org/drawingml/2006/main">
            <a:pPr algn="l">
              <a:defRPr sz="1200" b="0" i="0">
                <a:solidFill>
                  <a:srgbClr val="20262E"/>
                </a:solidFill>
              </a:defRPr>
            </a:pPr>
            <a:r>
              <a:rPr sz="1200" b="0" i="0">
                <a:solidFill>
                  <a:srgbClr val="20262E"/>
                </a:solidFill>
              </a:rPr>
              <a:t>[Trigger / input]</a:t>
            </a:r>
          </a:p>
          <a:p xmlns:a="http://schemas.openxmlformats.org/drawingml/2006/main">
            <a:r>
              <a:t/>
            </a:r>
          </a:p>
          <a:p xmlns:a="http://schemas.openxmlformats.org/drawingml/2006/main">
            <a:pPr algn="l">
              <a:defRPr sz="1200" b="0" i="0">
                <a:solidFill>
                  <a:srgbClr val="20262E"/>
                </a:solidFill>
              </a:defRPr>
            </a:pPr>
            <a:r>
              <a:rPr sz="1200" b="0" i="0">
                <a:solidFill>
                  <a:srgbClr val="20262E"/>
                </a:solidFill>
              </a:rPr>
              <a:t>END</a:t>
            </a:r>
          </a:p>
          <a:p xmlns:a="http://schemas.openxmlformats.org/drawingml/2006/main">
            <a:pPr algn="l">
              <a:defRPr sz="1200" b="0" i="0">
                <a:solidFill>
                  <a:srgbClr val="20262E"/>
                </a:solidFill>
              </a:defRPr>
            </a:pPr>
            <a:r>
              <a:rPr sz="1200" b="0" i="0">
                <a:solidFill>
                  <a:srgbClr val="20262E"/>
                </a:solidFill>
              </a:rPr>
              <a:t>[Accepted output / handover]</a:t>
            </a:r>
          </a:p>
        </p:txBody>
      </p:sp>
      <p:sp>
        <p:nvSpPr>
          <p:cNvPr id="14" name="">
            <a:extLst xmlns:a="http://schemas.openxmlformats.org/drawingml/2006/main">
              <a:ext uri="{FF2B5EF4-FFF2-40B4-BE49-F238E27FC236}">
                <a16:creationId xmlns:a16="http://schemas.microsoft.com/office/drawing/2014/main" id="{0D0DBF32-F99E-4E4A-A9FA-FF701871A344}"/>
              </a:ext>
            </a:extLst>
          </p:cNvPr>
          <p:cNvSpPr>
            <a:spLocks xmlns:a="http://schemas.openxmlformats.org/drawingml/2006/main" noGrp="1"/>
          </p:cNvSpPr>
          <p:nvPr/>
        </p:nvSpPr>
        <p:spPr>
          <a:xfrm xmlns:a="http://schemas.openxmlformats.org/drawingml/2006/main">
            <a:off x="609600" y="3238500"/>
            <a:ext cx="3390900" cy="2571750"/>
          </a:xfrm>
          <a:prstGeom xmlns:a="http://schemas.openxmlformats.org/drawingml/2006/main" prst="roundRect">
            <a:avLst>
              <a:gd name="adj" fmla="val 2963"/>
            </a:avLst>
          </a:prstGeom>
          <a:solidFill xmlns:a="http://schemas.openxmlformats.org/drawingml/2006/main">
            <a:srgbClr val="FFFFFF"/>
          </a:solidFill>
          <a:ln xmlns:a="http://schemas.openxmlformats.org/drawingml/2006/main" w="9525">
            <a:solidFill>
              <a:srgbClr val="C9D2DC"/>
            </a:solidFill>
            <a:prstDash val="solid"/>
          </a:ln>
        </p:spPr>
      </p:sp>
      <p:sp>
        <p:nvSpPr>
          <p:cNvPr id="15" name="">
            <a:extLst xmlns:a="http://schemas.openxmlformats.org/drawingml/2006/main">
              <a:ext uri="{FF2B5EF4-FFF2-40B4-BE49-F238E27FC236}">
                <a16:creationId xmlns:a16="http://schemas.microsoft.com/office/drawing/2014/main" id="{DE3F6542-D330-459E-AE7D-2B631B117A89}"/>
              </a:ext>
            </a:extLst>
          </p:cNvPr>
          <p:cNvSpPr>
            <a:spLocks xmlns:a="http://schemas.openxmlformats.org/drawingml/2006/main" noGrp="1"/>
          </p:cNvSpPr>
          <p:nvPr/>
        </p:nvSpPr>
        <p:spPr>
          <a:xfrm xmlns:a="http://schemas.openxmlformats.org/drawingml/2006/main">
            <a:off x="609600" y="3238500"/>
            <a:ext cx="76200" cy="2571750"/>
          </a:xfrm>
          <a:prstGeom xmlns:a="http://schemas.openxmlformats.org/drawingml/2006/main" prst="rect">
            <a:avLst/>
          </a:prstGeom>
          <a:solidFill xmlns:a="http://schemas.openxmlformats.org/drawingml/2006/main">
            <a:srgbClr val="2E7D5B"/>
          </a:solidFill>
          <a:ln xmlns:a="http://schemas.openxmlformats.org/drawingml/2006/main" w="0">
            <a:solidFill>
              <a:srgbClr val="2E7D5B"/>
            </a:solidFill>
            <a:prstDash val="solid"/>
          </a:ln>
        </p:spPr>
      </p:sp>
      <p:sp>
        <p:nvSpPr>
          <p:cNvPr id="16" name="">
            <a:extLst xmlns:a="http://schemas.openxmlformats.org/drawingml/2006/main">
              <a:ext uri="{FF2B5EF4-FFF2-40B4-BE49-F238E27FC236}">
                <a16:creationId xmlns:a16="http://schemas.microsoft.com/office/drawing/2014/main" id="{613D1F35-FDFD-4F95-A43A-DC51D8B52B18}"/>
              </a:ext>
            </a:extLst>
          </p:cNvPr>
          <p:cNvSpPr>
            <a:spLocks xmlns:a="http://schemas.openxmlformats.org/drawingml/2006/main" noGrp="1"/>
          </p:cNvSpPr>
          <p:nvPr/>
        </p:nvSpPr>
        <p:spPr>
          <a:xfrm xmlns:a="http://schemas.openxmlformats.org/drawingml/2006/main">
            <a:off x="819150" y="3371850"/>
            <a:ext cx="3048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1" i="0">
                <a:solidFill>
                  <a:srgbClr val="17324D"/>
                </a:solidFill>
              </a:defRPr>
            </a:pPr>
            <a:r>
              <a:rPr sz="1350" b="1" i="0">
                <a:solidFill>
                  <a:srgbClr val="17324D"/>
                </a:solidFill>
              </a:rPr>
              <a:t>Included</a:t>
            </a:r>
          </a:p>
        </p:txBody>
      </p:sp>
      <p:sp>
        <p:nvSpPr>
          <p:cNvPr id="17" name="">
            <a:extLst xmlns:a="http://schemas.openxmlformats.org/drawingml/2006/main">
              <a:ext uri="{FF2B5EF4-FFF2-40B4-BE49-F238E27FC236}">
                <a16:creationId xmlns:a16="http://schemas.microsoft.com/office/drawing/2014/main" id="{5A0805CF-53C6-410E-B2EC-0D50B4686520}"/>
              </a:ext>
            </a:extLst>
          </p:cNvPr>
          <p:cNvSpPr>
            <a:spLocks xmlns:a="http://schemas.openxmlformats.org/drawingml/2006/main" noGrp="1"/>
          </p:cNvSpPr>
          <p:nvPr/>
        </p:nvSpPr>
        <p:spPr>
          <a:xfrm xmlns:a="http://schemas.openxmlformats.org/drawingml/2006/main">
            <a:off x="819150" y="3667125"/>
            <a:ext cx="3028950" cy="2019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i="0">
                <a:solidFill>
                  <a:srgbClr val="20262E"/>
                </a:solidFill>
              </a:defRPr>
            </a:pPr>
            <a:r>
              <a:rPr sz="1275" b="0" i="0">
                <a:solidFill>
                  <a:srgbClr val="20262E"/>
                </a:solidFill>
              </a:rPr>
              <a:t>• One operational workflow</a:t>
            </a:r>
          </a:p>
          <a:p xmlns:a="http://schemas.openxmlformats.org/drawingml/2006/main">
            <a:pPr algn="l">
              <a:defRPr sz="1275" b="0" i="0">
                <a:solidFill>
                  <a:srgbClr val="20262E"/>
                </a:solidFill>
              </a:defRPr>
            </a:pPr>
            <a:r>
              <a:rPr sz="1275" b="0" i="0">
                <a:solidFill>
                  <a:srgbClr val="20262E"/>
                </a:solidFill>
              </a:rPr>
              <a:t>• Current-state and future-state maps</a:t>
            </a:r>
          </a:p>
          <a:p xmlns:a="http://schemas.openxmlformats.org/drawingml/2006/main">
            <a:pPr algn="l">
              <a:defRPr sz="1275" b="0" i="0">
                <a:solidFill>
                  <a:srgbClr val="20262E"/>
                </a:solidFill>
              </a:defRPr>
            </a:pPr>
            <a:r>
              <a:rPr sz="1275" b="0" i="0">
                <a:solidFill>
                  <a:srgbClr val="20262E"/>
                </a:solidFill>
              </a:rPr>
              <a:t>• Prioritised opportunity list</a:t>
            </a:r>
          </a:p>
          <a:p xmlns:a="http://schemas.openxmlformats.org/drawingml/2006/main">
            <a:pPr algn="l">
              <a:defRPr sz="1275" b="0" i="0">
                <a:solidFill>
                  <a:srgbClr val="20262E"/>
                </a:solidFill>
              </a:defRPr>
            </a:pPr>
            <a:r>
              <a:rPr sz="1275" b="0" i="0">
                <a:solidFill>
                  <a:srgbClr val="20262E"/>
                </a:solidFill>
              </a:rPr>
              <a:t>• High-level implementation options</a:t>
            </a:r>
          </a:p>
          <a:p xmlns:a="http://schemas.openxmlformats.org/drawingml/2006/main">
            <a:pPr algn="l">
              <a:defRPr sz="1275" b="0" i="0">
                <a:solidFill>
                  <a:srgbClr val="20262E"/>
                </a:solidFill>
              </a:defRPr>
            </a:pPr>
            <a:r>
              <a:rPr sz="1275" b="0" i="0">
                <a:solidFill>
                  <a:srgbClr val="20262E"/>
                </a:solidFill>
              </a:rPr>
              <a:t>• Findings report and readout</a:t>
            </a:r>
          </a:p>
        </p:txBody>
      </p:sp>
      <p:sp>
        <p:nvSpPr>
          <p:cNvPr id="18" name="">
            <a:extLst xmlns:a="http://schemas.openxmlformats.org/drawingml/2006/main">
              <a:ext uri="{FF2B5EF4-FFF2-40B4-BE49-F238E27FC236}">
                <a16:creationId xmlns:a16="http://schemas.microsoft.com/office/drawing/2014/main" id="{5F2B25B2-5FF0-4DEA-B37E-B1A8FE238C8A}"/>
              </a:ext>
            </a:extLst>
          </p:cNvPr>
          <p:cNvSpPr>
            <a:spLocks xmlns:a="http://schemas.openxmlformats.org/drawingml/2006/main" noGrp="1"/>
          </p:cNvSpPr>
          <p:nvPr/>
        </p:nvSpPr>
        <p:spPr>
          <a:xfrm xmlns:a="http://schemas.openxmlformats.org/drawingml/2006/main">
            <a:off x="4229100" y="3238500"/>
            <a:ext cx="3390900" cy="2571750"/>
          </a:xfrm>
          <a:prstGeom xmlns:a="http://schemas.openxmlformats.org/drawingml/2006/main" prst="roundRect">
            <a:avLst>
              <a:gd name="adj" fmla="val 2963"/>
            </a:avLst>
          </a:prstGeom>
          <a:solidFill xmlns:a="http://schemas.openxmlformats.org/drawingml/2006/main">
            <a:srgbClr val="FCE8E6"/>
          </a:solidFill>
          <a:ln xmlns:a="http://schemas.openxmlformats.org/drawingml/2006/main" w="9525">
            <a:solidFill>
              <a:srgbClr val="C9D2DC"/>
            </a:solidFill>
            <a:prstDash val="solid"/>
          </a:ln>
        </p:spPr>
      </p:sp>
      <p:sp>
        <p:nvSpPr>
          <p:cNvPr id="19" name="">
            <a:extLst xmlns:a="http://schemas.openxmlformats.org/drawingml/2006/main">
              <a:ext uri="{FF2B5EF4-FFF2-40B4-BE49-F238E27FC236}">
                <a16:creationId xmlns:a16="http://schemas.microsoft.com/office/drawing/2014/main" id="{A3F4256E-1764-4249-8AC0-B5B14AE9CB6A}"/>
              </a:ext>
            </a:extLst>
          </p:cNvPr>
          <p:cNvSpPr>
            <a:spLocks xmlns:a="http://schemas.openxmlformats.org/drawingml/2006/main" noGrp="1"/>
          </p:cNvSpPr>
          <p:nvPr/>
        </p:nvSpPr>
        <p:spPr>
          <a:xfrm xmlns:a="http://schemas.openxmlformats.org/drawingml/2006/main">
            <a:off x="4229100" y="3238500"/>
            <a:ext cx="76200" cy="2571750"/>
          </a:xfrm>
          <a:prstGeom xmlns:a="http://schemas.openxmlformats.org/drawingml/2006/main" prst="rect">
            <a:avLst/>
          </a:prstGeom>
          <a:solidFill xmlns:a="http://schemas.openxmlformats.org/drawingml/2006/main">
            <a:srgbClr val="B54B4B"/>
          </a:solidFill>
          <a:ln xmlns:a="http://schemas.openxmlformats.org/drawingml/2006/main" w="0">
            <a:solidFill>
              <a:srgbClr val="B54B4B"/>
            </a:solidFill>
            <a:prstDash val="solid"/>
          </a:ln>
        </p:spPr>
      </p:sp>
      <p:sp>
        <p:nvSpPr>
          <p:cNvPr id="20" name="">
            <a:extLst xmlns:a="http://schemas.openxmlformats.org/drawingml/2006/main">
              <a:ext uri="{FF2B5EF4-FFF2-40B4-BE49-F238E27FC236}">
                <a16:creationId xmlns:a16="http://schemas.microsoft.com/office/drawing/2014/main" id="{DB7DBB75-76AA-4D39-A1FF-24AE1105FB2A}"/>
              </a:ext>
            </a:extLst>
          </p:cNvPr>
          <p:cNvSpPr>
            <a:spLocks xmlns:a="http://schemas.openxmlformats.org/drawingml/2006/main" noGrp="1"/>
          </p:cNvSpPr>
          <p:nvPr/>
        </p:nvSpPr>
        <p:spPr>
          <a:xfrm xmlns:a="http://schemas.openxmlformats.org/drawingml/2006/main">
            <a:off x="4438650" y="3371850"/>
            <a:ext cx="3048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1" i="0">
                <a:solidFill>
                  <a:srgbClr val="17324D"/>
                </a:solidFill>
              </a:defRPr>
            </a:pPr>
            <a:r>
              <a:rPr sz="1350" b="1" i="0">
                <a:solidFill>
                  <a:srgbClr val="17324D"/>
                </a:solidFill>
              </a:rPr>
              <a:t>Explicitly excluded</a:t>
            </a:r>
          </a:p>
        </p:txBody>
      </p:sp>
      <p:sp>
        <p:nvSpPr>
          <p:cNvPr id="21" name="">
            <a:extLst xmlns:a="http://schemas.openxmlformats.org/drawingml/2006/main">
              <a:ext uri="{FF2B5EF4-FFF2-40B4-BE49-F238E27FC236}">
                <a16:creationId xmlns:a16="http://schemas.microsoft.com/office/drawing/2014/main" id="{269A754A-7333-4545-A8DB-DCA5E9EFBB7C}"/>
              </a:ext>
            </a:extLst>
          </p:cNvPr>
          <p:cNvSpPr>
            <a:spLocks xmlns:a="http://schemas.openxmlformats.org/drawingml/2006/main" noGrp="1"/>
          </p:cNvSpPr>
          <p:nvPr/>
        </p:nvSpPr>
        <p:spPr>
          <a:xfrm xmlns:a="http://schemas.openxmlformats.org/drawingml/2006/main">
            <a:off x="4438650" y="3667125"/>
            <a:ext cx="3028950" cy="2019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i="0">
                <a:solidFill>
                  <a:srgbClr val="20262E"/>
                </a:solidFill>
              </a:defRPr>
            </a:pPr>
            <a:r>
              <a:rPr sz="1275" b="0" i="0">
                <a:solidFill>
                  <a:srgbClr val="20262E"/>
                </a:solidFill>
              </a:rPr>
              <a:t>• Implementation or configuration</a:t>
            </a:r>
          </a:p>
          <a:p xmlns:a="http://schemas.openxmlformats.org/drawingml/2006/main">
            <a:pPr algn="l">
              <a:defRPr sz="1275" b="0" i="0">
                <a:solidFill>
                  <a:srgbClr val="20262E"/>
                </a:solidFill>
              </a:defRPr>
            </a:pPr>
            <a:r>
              <a:rPr sz="1275" b="0" i="0">
                <a:solidFill>
                  <a:srgbClr val="20262E"/>
                </a:solidFill>
              </a:rPr>
              <a:t>• Multiple workflows or broad transformation</a:t>
            </a:r>
          </a:p>
          <a:p xmlns:a="http://schemas.openxmlformats.org/drawingml/2006/main">
            <a:pPr algn="l">
              <a:defRPr sz="1275" b="0" i="0">
                <a:solidFill>
                  <a:srgbClr val="20262E"/>
                </a:solidFill>
              </a:defRPr>
            </a:pPr>
            <a:r>
              <a:rPr sz="1275" b="0" i="0">
                <a:solidFill>
                  <a:srgbClr val="20262E"/>
                </a:solidFill>
              </a:rPr>
              <a:t>• Production access by default</a:t>
            </a:r>
          </a:p>
          <a:p xmlns:a="http://schemas.openxmlformats.org/drawingml/2006/main">
            <a:pPr algn="l">
              <a:defRPr sz="1275" b="0" i="0">
                <a:solidFill>
                  <a:srgbClr val="20262E"/>
                </a:solidFill>
              </a:defRPr>
            </a:pPr>
            <a:r>
              <a:rPr sz="1275" b="0" i="0">
                <a:solidFill>
                  <a:srgbClr val="20262E"/>
                </a:solidFill>
              </a:rPr>
              <a:t>• Legal, clinical or compliance advice</a:t>
            </a:r>
          </a:p>
          <a:p xmlns:a="http://schemas.openxmlformats.org/drawingml/2006/main">
            <a:pPr algn="l">
              <a:defRPr sz="1275" b="0" i="0">
                <a:solidFill>
                  <a:srgbClr val="20262E"/>
                </a:solidFill>
              </a:defRPr>
            </a:pPr>
            <a:r>
              <a:rPr sz="1275" b="0" i="0">
                <a:solidFill>
                  <a:srgbClr val="20262E"/>
                </a:solidFill>
              </a:rPr>
              <a:t>• Audit, registration or assurance conclusions</a:t>
            </a:r>
          </a:p>
        </p:txBody>
      </p:sp>
      <p:sp>
        <p:nvSpPr>
          <p:cNvPr id="22" name="">
            <a:extLst xmlns:a="http://schemas.openxmlformats.org/drawingml/2006/main">
              <a:ext uri="{FF2B5EF4-FFF2-40B4-BE49-F238E27FC236}">
                <a16:creationId xmlns:a16="http://schemas.microsoft.com/office/drawing/2014/main" id="{52343306-01F4-45B8-8A25-71D056949E6C}"/>
              </a:ext>
            </a:extLst>
          </p:cNvPr>
          <p:cNvSpPr>
            <a:spLocks xmlns:a="http://schemas.openxmlformats.org/drawingml/2006/main" noGrp="1"/>
          </p:cNvSpPr>
          <p:nvPr/>
        </p:nvSpPr>
        <p:spPr>
          <a:xfrm xmlns:a="http://schemas.openxmlformats.org/drawingml/2006/main">
            <a:off x="7848600" y="3238500"/>
            <a:ext cx="3733800" cy="2571750"/>
          </a:xfrm>
          <a:prstGeom xmlns:a="http://schemas.openxmlformats.org/drawingml/2006/main" prst="roundRect">
            <a:avLst>
              <a:gd name="adj" fmla="val 2963"/>
            </a:avLst>
          </a:prstGeom>
          <a:solidFill xmlns:a="http://schemas.openxmlformats.org/drawingml/2006/main">
            <a:srgbClr val="FFF4CE"/>
          </a:solidFill>
          <a:ln xmlns:a="http://schemas.openxmlformats.org/drawingml/2006/main" w="9525">
            <a:solidFill>
              <a:srgbClr val="C9D2DC"/>
            </a:solidFill>
            <a:prstDash val="solid"/>
          </a:ln>
        </p:spPr>
      </p:sp>
      <p:sp>
        <p:nvSpPr>
          <p:cNvPr id="23" name="">
            <a:extLst xmlns:a="http://schemas.openxmlformats.org/drawingml/2006/main">
              <a:ext uri="{FF2B5EF4-FFF2-40B4-BE49-F238E27FC236}">
                <a16:creationId xmlns:a16="http://schemas.microsoft.com/office/drawing/2014/main" id="{CE741420-3DF2-4033-BD94-63620AE0D976}"/>
              </a:ext>
            </a:extLst>
          </p:cNvPr>
          <p:cNvSpPr>
            <a:spLocks xmlns:a="http://schemas.openxmlformats.org/drawingml/2006/main" noGrp="1"/>
          </p:cNvSpPr>
          <p:nvPr/>
        </p:nvSpPr>
        <p:spPr>
          <a:xfrm xmlns:a="http://schemas.openxmlformats.org/drawingml/2006/main">
            <a:off x="7848600" y="3238500"/>
            <a:ext cx="76200" cy="2571750"/>
          </a:xfrm>
          <a:prstGeom xmlns:a="http://schemas.openxmlformats.org/drawingml/2006/main" prst="rect">
            <a:avLst/>
          </a:prstGeom>
          <a:solidFill xmlns:a="http://schemas.openxmlformats.org/drawingml/2006/main">
            <a:srgbClr val="F5C451"/>
          </a:solidFill>
          <a:ln xmlns:a="http://schemas.openxmlformats.org/drawingml/2006/main" w="0">
            <a:solidFill>
              <a:srgbClr val="F5C451"/>
            </a:solidFill>
            <a:prstDash val="solid"/>
          </a:ln>
        </p:spPr>
      </p:sp>
      <p:sp>
        <p:nvSpPr>
          <p:cNvPr id="24" name="">
            <a:extLst xmlns:a="http://schemas.openxmlformats.org/drawingml/2006/main">
              <a:ext uri="{FF2B5EF4-FFF2-40B4-BE49-F238E27FC236}">
                <a16:creationId xmlns:a16="http://schemas.microsoft.com/office/drawing/2014/main" id="{5EEABA8B-9E1E-4FD3-B0E0-B38E8A5B820D}"/>
              </a:ext>
            </a:extLst>
          </p:cNvPr>
          <p:cNvSpPr>
            <a:spLocks xmlns:a="http://schemas.openxmlformats.org/drawingml/2006/main" noGrp="1"/>
          </p:cNvSpPr>
          <p:nvPr/>
        </p:nvSpPr>
        <p:spPr>
          <a:xfrm xmlns:a="http://schemas.openxmlformats.org/drawingml/2006/main">
            <a:off x="8058150" y="3371850"/>
            <a:ext cx="33909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1" i="0">
                <a:solidFill>
                  <a:srgbClr val="17324D"/>
                </a:solidFill>
              </a:defRPr>
            </a:pPr>
            <a:r>
              <a:rPr sz="1350" b="1" i="0">
                <a:solidFill>
                  <a:srgbClr val="17324D"/>
                </a:solidFill>
              </a:rPr>
              <a:t>Success at closeout</a:t>
            </a:r>
          </a:p>
        </p:txBody>
      </p:sp>
      <p:sp>
        <p:nvSpPr>
          <p:cNvPr id="25" name="">
            <a:extLst xmlns:a="http://schemas.openxmlformats.org/drawingml/2006/main">
              <a:ext uri="{FF2B5EF4-FFF2-40B4-BE49-F238E27FC236}">
                <a16:creationId xmlns:a16="http://schemas.microsoft.com/office/drawing/2014/main" id="{69B6A5EC-0C1D-4904-A775-CD499705D4E0}"/>
              </a:ext>
            </a:extLst>
          </p:cNvPr>
          <p:cNvSpPr>
            <a:spLocks xmlns:a="http://schemas.openxmlformats.org/drawingml/2006/main" noGrp="1"/>
          </p:cNvSpPr>
          <p:nvPr/>
        </p:nvSpPr>
        <p:spPr>
          <a:xfrm xmlns:a="http://schemas.openxmlformats.org/drawingml/2006/main">
            <a:off x="8058150" y="3667125"/>
            <a:ext cx="3371850" cy="2019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i="0">
                <a:solidFill>
                  <a:srgbClr val="20262E"/>
                </a:solidFill>
              </a:defRPr>
            </a:pPr>
            <a:r>
              <a:rPr sz="1350" b="0" i="0">
                <a:solidFill>
                  <a:srgbClr val="20262E"/>
                </a:solidFill>
              </a:rPr>
              <a:t>The client can see:</a:t>
            </a:r>
          </a:p>
          <a:p xmlns:a="http://schemas.openxmlformats.org/drawingml/2006/main">
            <a:r>
              <a:t/>
            </a:r>
          </a:p>
          <a:p xmlns:a="http://schemas.openxmlformats.org/drawingml/2006/main">
            <a:pPr algn="l">
              <a:defRPr sz="1350" b="0" i="0">
                <a:solidFill>
                  <a:srgbClr val="20262E"/>
                </a:solidFill>
              </a:defRPr>
            </a:pPr>
            <a:r>
              <a:rPr sz="1350" b="0" i="0">
                <a:solidFill>
                  <a:srgbClr val="20262E"/>
                </a:solidFill>
              </a:rPr>
              <a:t>1. What happens now</a:t>
            </a:r>
          </a:p>
          <a:p xmlns:a="http://schemas.openxmlformats.org/drawingml/2006/main">
            <a:pPr algn="l">
              <a:defRPr sz="1350" b="0" i="0">
                <a:solidFill>
                  <a:srgbClr val="20262E"/>
                </a:solidFill>
              </a:defRPr>
            </a:pPr>
            <a:r>
              <a:rPr sz="1350" b="0" i="0">
                <a:solidFill>
                  <a:srgbClr val="20262E"/>
                </a:solidFill>
              </a:rPr>
              <a:t>2. Why friction occurs</a:t>
            </a:r>
          </a:p>
          <a:p xmlns:a="http://schemas.openxmlformats.org/drawingml/2006/main">
            <a:pPr algn="l">
              <a:defRPr sz="1350" b="0" i="0">
                <a:solidFill>
                  <a:srgbClr val="20262E"/>
                </a:solidFill>
              </a:defRPr>
            </a:pPr>
            <a:r>
              <a:rPr sz="1350" b="0" i="0">
                <a:solidFill>
                  <a:srgbClr val="20262E"/>
                </a:solidFill>
              </a:rPr>
              <a:t>3. What should change</a:t>
            </a:r>
          </a:p>
          <a:p xmlns:a="http://schemas.openxmlformats.org/drawingml/2006/main">
            <a:pPr algn="l">
              <a:defRPr sz="1350" b="0" i="0">
                <a:solidFill>
                  <a:srgbClr val="20262E"/>
                </a:solidFill>
              </a:defRPr>
            </a:pPr>
            <a:r>
              <a:rPr sz="1350" b="0" i="0">
                <a:solidFill>
                  <a:srgbClr val="20262E"/>
                </a:solidFill>
              </a:rPr>
              <a:t>4. The next decision, owner and gate</a:t>
            </a:r>
          </a:p>
        </p:txBody>
      </p:sp>
    </p:spTree>
    <p:extLst>
      <p:ext uri="{BB962C8B-B14F-4D97-AF65-F5344CB8AC3E}">
        <p14:creationId xmlns:p14="http://schemas.microsoft.com/office/powerpoint/2010/main" val="1613643151"/>
      </p:ext>
    </p:extLst>
  </p:cSld>
</p:sld>
</file>

<file path=ppt/slides/slide3.xml><?xml version="1.0" encoding="utf-8"?>
<p:sld xmlns:p="http://schemas.openxmlformats.org/presentationml/2006/main">
  <p:cSld>
    <p:bg>
      <p:bgPr>
        <a:solidFill xmlns:a="http://schemas.openxmlformats.org/drawingml/2006/main">
          <a:srgbClr val="F7F9FB"/>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D16DA53B-F9F6-42A5-80F4-C44CB295ACC9}"/>
              </a:ext>
            </a:extLst>
          </p:cNvPr>
          <p:cNvSpPr>
            <a:spLocks xmlns:a="http://schemas.openxmlformats.org/drawingml/2006/main" noGrp="1"/>
          </p:cNvSpPr>
          <p:nvPr/>
        </p:nvSpPr>
        <p:spPr>
          <a:xfrm xmlns:a="http://schemas.openxmlformats.org/drawingml/2006/main">
            <a:off x="609600" y="32385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i="0">
                <a:solidFill>
                  <a:srgbClr val="2E74B5"/>
                </a:solidFill>
              </a:defRPr>
            </a:pPr>
            <a:r>
              <a:rPr sz="900" b="1" i="0">
                <a:solidFill>
                  <a:srgbClr val="2E74B5"/>
                </a:solidFill>
              </a:rPr>
              <a:t>EXECUTIVE READOUT</a:t>
            </a:r>
          </a:p>
        </p:txBody>
      </p:sp>
      <p:sp>
        <p:nvSpPr>
          <p:cNvPr id="2" name="">
            <a:extLst xmlns:a="http://schemas.openxmlformats.org/drawingml/2006/main">
              <a:ext uri="{FF2B5EF4-FFF2-40B4-BE49-F238E27FC236}">
                <a16:creationId xmlns:a16="http://schemas.microsoft.com/office/drawing/2014/main" id="{E8BA18D2-3FDD-494B-9319-CBCBAF0BEF36}"/>
              </a:ext>
            </a:extLst>
          </p:cNvPr>
          <p:cNvSpPr>
            <a:spLocks xmlns:a="http://schemas.openxmlformats.org/drawingml/2006/main" noGrp="1"/>
          </p:cNvSpPr>
          <p:nvPr/>
        </p:nvSpPr>
        <p:spPr>
          <a:xfrm xmlns:a="http://schemas.openxmlformats.org/drawingml/2006/main">
            <a:off x="609600" y="552450"/>
            <a:ext cx="10287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550" b="1" i="0">
                <a:solidFill>
                  <a:srgbClr val="17324D"/>
                </a:solidFill>
              </a:defRPr>
            </a:pPr>
            <a:r>
              <a:rPr sz="2550" b="1" i="0">
                <a:solidFill>
                  <a:srgbClr val="17324D"/>
                </a:solidFill>
              </a:rPr>
              <a:t>Lead with the operational conclusion</a:t>
            </a:r>
          </a:p>
        </p:txBody>
      </p:sp>
      <p:sp>
        <p:nvSpPr>
          <p:cNvPr id="3" name="">
            <a:extLst xmlns:a="http://schemas.openxmlformats.org/drawingml/2006/main">
              <a:ext uri="{FF2B5EF4-FFF2-40B4-BE49-F238E27FC236}">
                <a16:creationId xmlns:a16="http://schemas.microsoft.com/office/drawing/2014/main" id="{2C239570-8E5F-4E9A-AF4F-50CD2C3013AA}"/>
              </a:ext>
            </a:extLst>
          </p:cNvPr>
          <p:cNvSpPr>
            <a:spLocks xmlns:a="http://schemas.openxmlformats.org/drawingml/2006/main" noGrp="1"/>
          </p:cNvSpPr>
          <p:nvPr/>
        </p:nvSpPr>
        <p:spPr>
          <a:xfrm xmlns:a="http://schemas.openxmlformats.org/drawingml/2006/main">
            <a:off x="609600" y="1143000"/>
            <a:ext cx="10972800" cy="19050"/>
          </a:xfrm>
          <a:prstGeom xmlns:a="http://schemas.openxmlformats.org/drawingml/2006/main" prst="rect">
            <a:avLst/>
          </a:prstGeom>
          <a:solidFill xmlns:a="http://schemas.openxmlformats.org/drawingml/2006/main">
            <a:srgbClr val="C9D2DC"/>
          </a:solidFill>
          <a:ln xmlns:a="http://schemas.openxmlformats.org/drawingml/2006/main" w="0">
            <a:solidFill>
              <a:srgbClr val="C9D2DC"/>
            </a:solidFill>
            <a:prstDash val="solid"/>
          </a:ln>
        </p:spPr>
      </p:sp>
      <p:sp>
        <p:nvSpPr>
          <p:cNvPr id="4" name="">
            <a:extLst xmlns:a="http://schemas.openxmlformats.org/drawingml/2006/main">
              <a:ext uri="{FF2B5EF4-FFF2-40B4-BE49-F238E27FC236}">
                <a16:creationId xmlns:a16="http://schemas.microsoft.com/office/drawing/2014/main" id="{A9D5DA48-2CE5-4E0E-88FD-A0B1BB4DD6E0}"/>
              </a:ext>
            </a:extLst>
          </p:cNvPr>
          <p:cNvSpPr>
            <a:spLocks xmlns:a="http://schemas.openxmlformats.org/drawingml/2006/main" noGrp="1"/>
          </p:cNvSpPr>
          <p:nvPr/>
        </p:nvSpPr>
        <p:spPr>
          <a:xfrm xmlns:a="http://schemas.openxmlformats.org/drawingml/2006/main">
            <a:off x="609600" y="6505575"/>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50" b="1" i="0">
                <a:solidFill>
                  <a:srgbClr val="66717E"/>
                </a:solidFill>
              </a:defRPr>
            </a:pPr>
            <a:r>
              <a:rPr sz="750" b="1" i="0">
                <a:solidFill>
                  <a:srgbClr val="66717E"/>
                </a:solidFill>
              </a:rPr>
              <a:t>HEUTRIX  |  WORKFLOW DIAGNOSTIC</a:t>
            </a:r>
          </a:p>
        </p:txBody>
      </p:sp>
      <p:sp>
        <p:nvSpPr>
          <p:cNvPr id="5" name="">
            <a:extLst xmlns:a="http://schemas.openxmlformats.org/drawingml/2006/main">
              <a:ext uri="{FF2B5EF4-FFF2-40B4-BE49-F238E27FC236}">
                <a16:creationId xmlns:a16="http://schemas.microsoft.com/office/drawing/2014/main" id="{B006A779-C66D-473A-B1C8-E7BBC461383D}"/>
              </a:ext>
            </a:extLst>
          </p:cNvPr>
          <p:cNvSpPr>
            <a:spLocks xmlns:a="http://schemas.openxmlformats.org/drawingml/2006/main" noGrp="1"/>
          </p:cNvSpPr>
          <p:nvPr/>
        </p:nvSpPr>
        <p:spPr>
          <a:xfrm xmlns:a="http://schemas.openxmlformats.org/drawingml/2006/main">
            <a:off x="11096625" y="6477000"/>
            <a:ext cx="476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i="0">
                <a:solidFill>
                  <a:srgbClr val="66717E"/>
                </a:solidFill>
              </a:defRPr>
            </a:pPr>
            <a:r>
              <a:rPr sz="825" b="1" i="0">
                <a:solidFill>
                  <a:srgbClr val="66717E"/>
                </a:solidFill>
              </a:rPr>
              <a:t>03</a:t>
            </a:r>
          </a:p>
        </p:txBody>
      </p:sp>
      <p:sp>
        <p:nvSpPr>
          <p:cNvPr id="6" name="">
            <a:extLst xmlns:a="http://schemas.openxmlformats.org/drawingml/2006/main">
              <a:ext uri="{FF2B5EF4-FFF2-40B4-BE49-F238E27FC236}">
                <a16:creationId xmlns:a16="http://schemas.microsoft.com/office/drawing/2014/main" id="{9D7BC897-1568-4BA4-B72B-105077FDAB4D}"/>
              </a:ext>
            </a:extLst>
          </p:cNvPr>
          <p:cNvSpPr>
            <a:spLocks xmlns:a="http://schemas.openxmlformats.org/drawingml/2006/main" noGrp="1"/>
          </p:cNvSpPr>
          <p:nvPr/>
        </p:nvSpPr>
        <p:spPr>
          <a:xfrm xmlns:a="http://schemas.openxmlformats.org/drawingml/2006/main">
            <a:off x="609600" y="1428750"/>
            <a:ext cx="10972800" cy="1200150"/>
          </a:xfrm>
          <a:prstGeom xmlns:a="http://schemas.openxmlformats.org/drawingml/2006/main" prst="roundRect">
            <a:avLst>
              <a:gd name="adj" fmla="val 6349"/>
            </a:avLst>
          </a:prstGeom>
          <a:solidFill xmlns:a="http://schemas.openxmlformats.org/drawingml/2006/main">
            <a:srgbClr val="17324D"/>
          </a:solidFill>
          <a:ln xmlns:a="http://schemas.openxmlformats.org/drawingml/2006/main" w="0">
            <a:solidFill>
              <a:srgbClr val="17324D"/>
            </a:solidFill>
            <a:prstDash val="solid"/>
          </a:ln>
        </p:spPr>
      </p:sp>
      <p:sp>
        <p:nvSpPr>
          <p:cNvPr id="7" name="">
            <a:extLst xmlns:a="http://schemas.openxmlformats.org/drawingml/2006/main">
              <a:ext uri="{FF2B5EF4-FFF2-40B4-BE49-F238E27FC236}">
                <a16:creationId xmlns:a16="http://schemas.microsoft.com/office/drawing/2014/main" id="{E342CB26-E09F-475C-AF63-EF2D904EA224}"/>
              </a:ext>
            </a:extLst>
          </p:cNvPr>
          <p:cNvSpPr>
            <a:spLocks xmlns:a="http://schemas.openxmlformats.org/drawingml/2006/main" noGrp="1"/>
          </p:cNvSpPr>
          <p:nvPr/>
        </p:nvSpPr>
        <p:spPr>
          <a:xfrm xmlns:a="http://schemas.openxmlformats.org/drawingml/2006/main">
            <a:off x="838200" y="1609725"/>
            <a:ext cx="247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i="0">
                <a:solidFill>
                  <a:srgbClr val="F5C451"/>
                </a:solidFill>
              </a:defRPr>
            </a:pPr>
            <a:r>
              <a:rPr sz="1050" b="1" i="0">
                <a:solidFill>
                  <a:srgbClr val="F5C451"/>
                </a:solidFill>
              </a:rPr>
              <a:t>Recommended direction</a:t>
            </a:r>
          </a:p>
        </p:txBody>
      </p:sp>
      <p:sp>
        <p:nvSpPr>
          <p:cNvPr id="8" name="">
            <a:extLst xmlns:a="http://schemas.openxmlformats.org/drawingml/2006/main">
              <a:ext uri="{FF2B5EF4-FFF2-40B4-BE49-F238E27FC236}">
                <a16:creationId xmlns:a16="http://schemas.microsoft.com/office/drawing/2014/main" id="{6779E7B2-95E6-4DCA-A6B8-708011DBE326}"/>
              </a:ext>
            </a:extLst>
          </p:cNvPr>
          <p:cNvSpPr>
            <a:spLocks xmlns:a="http://schemas.openxmlformats.org/drawingml/2006/main" noGrp="1"/>
          </p:cNvSpPr>
          <p:nvPr/>
        </p:nvSpPr>
        <p:spPr>
          <a:xfrm xmlns:a="http://schemas.openxmlformats.org/drawingml/2006/main">
            <a:off x="838200" y="1905000"/>
            <a:ext cx="10287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75" b="1" i="0">
                <a:solidFill>
                  <a:srgbClr val="FFFFFF"/>
                </a:solidFill>
              </a:defRPr>
            </a:pPr>
            <a:r>
              <a:rPr sz="1875" b="1" i="0">
                <a:solidFill>
                  <a:srgbClr val="FFFFFF"/>
                </a:solidFill>
              </a:rPr>
              <a:t>[One clear sentence linking the root cause to the recommended workflow change.]</a:t>
            </a:r>
          </a:p>
        </p:txBody>
      </p:sp>
      <p:sp>
        <p:nvSpPr>
          <p:cNvPr id="9" name="">
            <a:extLst xmlns:a="http://schemas.openxmlformats.org/drawingml/2006/main">
              <a:ext uri="{FF2B5EF4-FFF2-40B4-BE49-F238E27FC236}">
                <a16:creationId xmlns:a16="http://schemas.microsoft.com/office/drawing/2014/main" id="{987A3697-E4AF-41B4-A070-AF272C545612}"/>
              </a:ext>
            </a:extLst>
          </p:cNvPr>
          <p:cNvSpPr>
            <a:spLocks xmlns:a="http://schemas.openxmlformats.org/drawingml/2006/main" noGrp="1"/>
          </p:cNvSpPr>
          <p:nvPr/>
        </p:nvSpPr>
        <p:spPr>
          <a:xfrm xmlns:a="http://schemas.openxmlformats.org/drawingml/2006/main">
            <a:off x="609600" y="2895600"/>
            <a:ext cx="3390900" cy="2057400"/>
          </a:xfrm>
          <a:prstGeom xmlns:a="http://schemas.openxmlformats.org/drawingml/2006/main" prst="roundRect">
            <a:avLst>
              <a:gd name="adj" fmla="val 3704"/>
            </a:avLst>
          </a:prstGeom>
          <a:solidFill xmlns:a="http://schemas.openxmlformats.org/drawingml/2006/main">
            <a:srgbClr val="FFFFFF"/>
          </a:solidFill>
          <a:ln xmlns:a="http://schemas.openxmlformats.org/drawingml/2006/main" w="9525">
            <a:solidFill>
              <a:srgbClr val="C9D2DC"/>
            </a:solidFill>
            <a:prstDash val="solid"/>
          </a:ln>
        </p:spPr>
      </p:sp>
      <p:sp>
        <p:nvSpPr>
          <p:cNvPr id="10" name="">
            <a:extLst xmlns:a="http://schemas.openxmlformats.org/drawingml/2006/main">
              <a:ext uri="{FF2B5EF4-FFF2-40B4-BE49-F238E27FC236}">
                <a16:creationId xmlns:a16="http://schemas.microsoft.com/office/drawing/2014/main" id="{531CD351-7693-4F04-B084-61A57145D4B8}"/>
              </a:ext>
            </a:extLst>
          </p:cNvPr>
          <p:cNvSpPr>
            <a:spLocks xmlns:a="http://schemas.openxmlformats.org/drawingml/2006/main" noGrp="1"/>
          </p:cNvSpPr>
          <p:nvPr/>
        </p:nvSpPr>
        <p:spPr>
          <a:xfrm xmlns:a="http://schemas.openxmlformats.org/drawingml/2006/main">
            <a:off x="609600" y="2895600"/>
            <a:ext cx="76200" cy="2057400"/>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11" name="">
            <a:extLst xmlns:a="http://schemas.openxmlformats.org/drawingml/2006/main">
              <a:ext uri="{FF2B5EF4-FFF2-40B4-BE49-F238E27FC236}">
                <a16:creationId xmlns:a16="http://schemas.microsoft.com/office/drawing/2014/main" id="{D2D2E3E2-E1B3-4572-9338-E3AD9CA9A445}"/>
              </a:ext>
            </a:extLst>
          </p:cNvPr>
          <p:cNvSpPr>
            <a:spLocks xmlns:a="http://schemas.openxmlformats.org/drawingml/2006/main" noGrp="1"/>
          </p:cNvSpPr>
          <p:nvPr/>
        </p:nvSpPr>
        <p:spPr>
          <a:xfrm xmlns:a="http://schemas.openxmlformats.org/drawingml/2006/main">
            <a:off x="819150" y="3028950"/>
            <a:ext cx="3048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1" i="0">
                <a:solidFill>
                  <a:srgbClr val="17324D"/>
                </a:solidFill>
              </a:defRPr>
            </a:pPr>
            <a:r>
              <a:rPr sz="1350" b="1" i="0">
                <a:solidFill>
                  <a:srgbClr val="17324D"/>
                </a:solidFill>
              </a:rPr>
              <a:t>F-01  |  [Finding title]</a:t>
            </a:r>
          </a:p>
        </p:txBody>
      </p:sp>
      <p:sp>
        <p:nvSpPr>
          <p:cNvPr id="12" name="">
            <a:extLst xmlns:a="http://schemas.openxmlformats.org/drawingml/2006/main">
              <a:ext uri="{FF2B5EF4-FFF2-40B4-BE49-F238E27FC236}">
                <a16:creationId xmlns:a16="http://schemas.microsoft.com/office/drawing/2014/main" id="{19F5E21C-ACC0-4B46-9A1C-711EEC58CADC}"/>
              </a:ext>
            </a:extLst>
          </p:cNvPr>
          <p:cNvSpPr>
            <a:spLocks xmlns:a="http://schemas.openxmlformats.org/drawingml/2006/main" noGrp="1"/>
          </p:cNvSpPr>
          <p:nvPr/>
        </p:nvSpPr>
        <p:spPr>
          <a:xfrm xmlns:a="http://schemas.openxmlformats.org/drawingml/2006/main">
            <a:off x="819150" y="3324225"/>
            <a:ext cx="3028950" cy="1504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i="0">
                <a:solidFill>
                  <a:srgbClr val="20262E"/>
                </a:solidFill>
              </a:defRPr>
            </a:pPr>
            <a:r>
              <a:rPr sz="1200" b="0" i="0">
                <a:solidFill>
                  <a:srgbClr val="20262E"/>
                </a:solidFill>
              </a:rPr>
              <a:t>[Observed condition]</a:t>
            </a:r>
          </a:p>
          <a:p xmlns:a="http://schemas.openxmlformats.org/drawingml/2006/main">
            <a:r>
              <a:t/>
            </a:r>
          </a:p>
          <a:p xmlns:a="http://schemas.openxmlformats.org/drawingml/2006/main">
            <a:pPr algn="l">
              <a:defRPr sz="1200" b="0" i="0">
                <a:solidFill>
                  <a:srgbClr val="20262E"/>
                </a:solidFill>
              </a:defRPr>
            </a:pPr>
            <a:r>
              <a:rPr sz="1200" b="0" i="0">
                <a:solidFill>
                  <a:srgbClr val="20262E"/>
                </a:solidFill>
              </a:rPr>
              <a:t>Evidence: [E-##]</a:t>
            </a:r>
          </a:p>
          <a:p xmlns:a="http://schemas.openxmlformats.org/drawingml/2006/main">
            <a:pPr algn="l">
              <a:defRPr sz="1200" b="0" i="0">
                <a:solidFill>
                  <a:srgbClr val="20262E"/>
                </a:solidFill>
              </a:defRPr>
            </a:pPr>
            <a:r>
              <a:rPr sz="1200" b="0" i="0">
                <a:solidFill>
                  <a:srgbClr val="20262E"/>
                </a:solidFill>
              </a:rPr>
              <a:t>Confidence: [High / Medium / Low]</a:t>
            </a:r>
          </a:p>
        </p:txBody>
      </p:sp>
      <p:sp>
        <p:nvSpPr>
          <p:cNvPr id="13" name="">
            <a:extLst xmlns:a="http://schemas.openxmlformats.org/drawingml/2006/main">
              <a:ext uri="{FF2B5EF4-FFF2-40B4-BE49-F238E27FC236}">
                <a16:creationId xmlns:a16="http://schemas.microsoft.com/office/drawing/2014/main" id="{194F90DD-C598-4CA3-84D0-988CB0C53938}"/>
              </a:ext>
            </a:extLst>
          </p:cNvPr>
          <p:cNvSpPr>
            <a:spLocks xmlns:a="http://schemas.openxmlformats.org/drawingml/2006/main" noGrp="1"/>
          </p:cNvSpPr>
          <p:nvPr/>
        </p:nvSpPr>
        <p:spPr>
          <a:xfrm xmlns:a="http://schemas.openxmlformats.org/drawingml/2006/main">
            <a:off x="4229100" y="2895600"/>
            <a:ext cx="3390900" cy="2057400"/>
          </a:xfrm>
          <a:prstGeom xmlns:a="http://schemas.openxmlformats.org/drawingml/2006/main" prst="roundRect">
            <a:avLst>
              <a:gd name="adj" fmla="val 3704"/>
            </a:avLst>
          </a:prstGeom>
          <a:solidFill xmlns:a="http://schemas.openxmlformats.org/drawingml/2006/main">
            <a:srgbClr val="FFFFFF"/>
          </a:solidFill>
          <a:ln xmlns:a="http://schemas.openxmlformats.org/drawingml/2006/main" w="9525">
            <a:solidFill>
              <a:srgbClr val="C9D2DC"/>
            </a:solidFill>
            <a:prstDash val="solid"/>
          </a:ln>
        </p:spPr>
      </p:sp>
      <p:sp>
        <p:nvSpPr>
          <p:cNvPr id="14" name="">
            <a:extLst xmlns:a="http://schemas.openxmlformats.org/drawingml/2006/main">
              <a:ext uri="{FF2B5EF4-FFF2-40B4-BE49-F238E27FC236}">
                <a16:creationId xmlns:a16="http://schemas.microsoft.com/office/drawing/2014/main" id="{AF7FB2DF-F37F-427E-BC8C-C57DC46A6BEB}"/>
              </a:ext>
            </a:extLst>
          </p:cNvPr>
          <p:cNvSpPr>
            <a:spLocks xmlns:a="http://schemas.openxmlformats.org/drawingml/2006/main" noGrp="1"/>
          </p:cNvSpPr>
          <p:nvPr/>
        </p:nvSpPr>
        <p:spPr>
          <a:xfrm xmlns:a="http://schemas.openxmlformats.org/drawingml/2006/main">
            <a:off x="4229100" y="2895600"/>
            <a:ext cx="76200" cy="2057400"/>
          </a:xfrm>
          <a:prstGeom xmlns:a="http://schemas.openxmlformats.org/drawingml/2006/main" prst="rect">
            <a:avLst/>
          </a:prstGeom>
          <a:solidFill xmlns:a="http://schemas.openxmlformats.org/drawingml/2006/main">
            <a:srgbClr val="2E7D5B"/>
          </a:solidFill>
          <a:ln xmlns:a="http://schemas.openxmlformats.org/drawingml/2006/main" w="0">
            <a:solidFill>
              <a:srgbClr val="2E7D5B"/>
            </a:solidFill>
            <a:prstDash val="solid"/>
          </a:ln>
        </p:spPr>
      </p:sp>
      <p:sp>
        <p:nvSpPr>
          <p:cNvPr id="15" name="">
            <a:extLst xmlns:a="http://schemas.openxmlformats.org/drawingml/2006/main">
              <a:ext uri="{FF2B5EF4-FFF2-40B4-BE49-F238E27FC236}">
                <a16:creationId xmlns:a16="http://schemas.microsoft.com/office/drawing/2014/main" id="{9925C6BE-F7BB-4356-8047-A9200133EF75}"/>
              </a:ext>
            </a:extLst>
          </p:cNvPr>
          <p:cNvSpPr>
            <a:spLocks xmlns:a="http://schemas.openxmlformats.org/drawingml/2006/main" noGrp="1"/>
          </p:cNvSpPr>
          <p:nvPr/>
        </p:nvSpPr>
        <p:spPr>
          <a:xfrm xmlns:a="http://schemas.openxmlformats.org/drawingml/2006/main">
            <a:off x="4438650" y="3028950"/>
            <a:ext cx="3048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1" i="0">
                <a:solidFill>
                  <a:srgbClr val="17324D"/>
                </a:solidFill>
              </a:defRPr>
            </a:pPr>
            <a:r>
              <a:rPr sz="1350" b="1" i="0">
                <a:solidFill>
                  <a:srgbClr val="17324D"/>
                </a:solidFill>
              </a:rPr>
              <a:t>F-02  |  [Finding title]</a:t>
            </a:r>
          </a:p>
        </p:txBody>
      </p:sp>
      <p:sp>
        <p:nvSpPr>
          <p:cNvPr id="16" name="">
            <a:extLst xmlns:a="http://schemas.openxmlformats.org/drawingml/2006/main">
              <a:ext uri="{FF2B5EF4-FFF2-40B4-BE49-F238E27FC236}">
                <a16:creationId xmlns:a16="http://schemas.microsoft.com/office/drawing/2014/main" id="{4DDA5DE9-5AB0-4EF9-B041-7E1D2A0C592E}"/>
              </a:ext>
            </a:extLst>
          </p:cNvPr>
          <p:cNvSpPr>
            <a:spLocks xmlns:a="http://schemas.openxmlformats.org/drawingml/2006/main" noGrp="1"/>
          </p:cNvSpPr>
          <p:nvPr/>
        </p:nvSpPr>
        <p:spPr>
          <a:xfrm xmlns:a="http://schemas.openxmlformats.org/drawingml/2006/main">
            <a:off x="4438650" y="3324225"/>
            <a:ext cx="3028950" cy="1504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i="0">
                <a:solidFill>
                  <a:srgbClr val="20262E"/>
                </a:solidFill>
              </a:defRPr>
            </a:pPr>
            <a:r>
              <a:rPr sz="1200" b="0" i="0">
                <a:solidFill>
                  <a:srgbClr val="20262E"/>
                </a:solidFill>
              </a:rPr>
              <a:t>[Observed condition]</a:t>
            </a:r>
          </a:p>
          <a:p xmlns:a="http://schemas.openxmlformats.org/drawingml/2006/main">
            <a:r>
              <a:t/>
            </a:r>
          </a:p>
          <a:p xmlns:a="http://schemas.openxmlformats.org/drawingml/2006/main">
            <a:pPr algn="l">
              <a:defRPr sz="1200" b="0" i="0">
                <a:solidFill>
                  <a:srgbClr val="20262E"/>
                </a:solidFill>
              </a:defRPr>
            </a:pPr>
            <a:r>
              <a:rPr sz="1200" b="0" i="0">
                <a:solidFill>
                  <a:srgbClr val="20262E"/>
                </a:solidFill>
              </a:rPr>
              <a:t>Evidence: [E-##]</a:t>
            </a:r>
          </a:p>
          <a:p xmlns:a="http://schemas.openxmlformats.org/drawingml/2006/main">
            <a:pPr algn="l">
              <a:defRPr sz="1200" b="0" i="0">
                <a:solidFill>
                  <a:srgbClr val="20262E"/>
                </a:solidFill>
              </a:defRPr>
            </a:pPr>
            <a:r>
              <a:rPr sz="1200" b="0" i="0">
                <a:solidFill>
                  <a:srgbClr val="20262E"/>
                </a:solidFill>
              </a:rPr>
              <a:t>Confidence: [High / Medium / Low]</a:t>
            </a:r>
          </a:p>
        </p:txBody>
      </p:sp>
      <p:sp>
        <p:nvSpPr>
          <p:cNvPr id="17" name="">
            <a:extLst xmlns:a="http://schemas.openxmlformats.org/drawingml/2006/main">
              <a:ext uri="{FF2B5EF4-FFF2-40B4-BE49-F238E27FC236}">
                <a16:creationId xmlns:a16="http://schemas.microsoft.com/office/drawing/2014/main" id="{A6783EE9-349A-4C0C-A4B3-688D797DDEDC}"/>
              </a:ext>
            </a:extLst>
          </p:cNvPr>
          <p:cNvSpPr>
            <a:spLocks xmlns:a="http://schemas.openxmlformats.org/drawingml/2006/main" noGrp="1"/>
          </p:cNvSpPr>
          <p:nvPr/>
        </p:nvSpPr>
        <p:spPr>
          <a:xfrm xmlns:a="http://schemas.openxmlformats.org/drawingml/2006/main">
            <a:off x="7848600" y="2895600"/>
            <a:ext cx="3733800" cy="2057400"/>
          </a:xfrm>
          <a:prstGeom xmlns:a="http://schemas.openxmlformats.org/drawingml/2006/main" prst="roundRect">
            <a:avLst>
              <a:gd name="adj" fmla="val 3704"/>
            </a:avLst>
          </a:prstGeom>
          <a:solidFill xmlns:a="http://schemas.openxmlformats.org/drawingml/2006/main">
            <a:srgbClr val="FFFFFF"/>
          </a:solidFill>
          <a:ln xmlns:a="http://schemas.openxmlformats.org/drawingml/2006/main" w="9525">
            <a:solidFill>
              <a:srgbClr val="C9D2DC"/>
            </a:solidFill>
            <a:prstDash val="solid"/>
          </a:ln>
        </p:spPr>
      </p:sp>
      <p:sp>
        <p:nvSpPr>
          <p:cNvPr id="18" name="">
            <a:extLst xmlns:a="http://schemas.openxmlformats.org/drawingml/2006/main">
              <a:ext uri="{FF2B5EF4-FFF2-40B4-BE49-F238E27FC236}">
                <a16:creationId xmlns:a16="http://schemas.microsoft.com/office/drawing/2014/main" id="{19EDBD8D-A94F-455D-9F76-7FE3EB0A125F}"/>
              </a:ext>
            </a:extLst>
          </p:cNvPr>
          <p:cNvSpPr>
            <a:spLocks xmlns:a="http://schemas.openxmlformats.org/drawingml/2006/main" noGrp="1"/>
          </p:cNvSpPr>
          <p:nvPr/>
        </p:nvSpPr>
        <p:spPr>
          <a:xfrm xmlns:a="http://schemas.openxmlformats.org/drawingml/2006/main">
            <a:off x="7848600" y="2895600"/>
            <a:ext cx="76200" cy="2057400"/>
          </a:xfrm>
          <a:prstGeom xmlns:a="http://schemas.openxmlformats.org/drawingml/2006/main" prst="rect">
            <a:avLst/>
          </a:prstGeom>
          <a:solidFill xmlns:a="http://schemas.openxmlformats.org/drawingml/2006/main">
            <a:srgbClr val="F5C451"/>
          </a:solidFill>
          <a:ln xmlns:a="http://schemas.openxmlformats.org/drawingml/2006/main" w="0">
            <a:solidFill>
              <a:srgbClr val="F5C451"/>
            </a:solidFill>
            <a:prstDash val="solid"/>
          </a:ln>
        </p:spPr>
      </p:sp>
      <p:sp>
        <p:nvSpPr>
          <p:cNvPr id="19" name="">
            <a:extLst xmlns:a="http://schemas.openxmlformats.org/drawingml/2006/main">
              <a:ext uri="{FF2B5EF4-FFF2-40B4-BE49-F238E27FC236}">
                <a16:creationId xmlns:a16="http://schemas.microsoft.com/office/drawing/2014/main" id="{C32DAB6E-A3E2-4162-BB30-ABD19F53539A}"/>
              </a:ext>
            </a:extLst>
          </p:cNvPr>
          <p:cNvSpPr>
            <a:spLocks xmlns:a="http://schemas.openxmlformats.org/drawingml/2006/main" noGrp="1"/>
          </p:cNvSpPr>
          <p:nvPr/>
        </p:nvSpPr>
        <p:spPr>
          <a:xfrm xmlns:a="http://schemas.openxmlformats.org/drawingml/2006/main">
            <a:off x="8058150" y="3028950"/>
            <a:ext cx="33909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1" i="0">
                <a:solidFill>
                  <a:srgbClr val="17324D"/>
                </a:solidFill>
              </a:defRPr>
            </a:pPr>
            <a:r>
              <a:rPr sz="1350" b="1" i="0">
                <a:solidFill>
                  <a:srgbClr val="17324D"/>
                </a:solidFill>
              </a:rPr>
              <a:t>F-03  |  [Finding title]</a:t>
            </a:r>
          </a:p>
        </p:txBody>
      </p:sp>
      <p:sp>
        <p:nvSpPr>
          <p:cNvPr id="20" name="">
            <a:extLst xmlns:a="http://schemas.openxmlformats.org/drawingml/2006/main">
              <a:ext uri="{FF2B5EF4-FFF2-40B4-BE49-F238E27FC236}">
                <a16:creationId xmlns:a16="http://schemas.microsoft.com/office/drawing/2014/main" id="{CA054B4F-006F-4EBD-B58F-922ACDC99B04}"/>
              </a:ext>
            </a:extLst>
          </p:cNvPr>
          <p:cNvSpPr>
            <a:spLocks xmlns:a="http://schemas.openxmlformats.org/drawingml/2006/main" noGrp="1"/>
          </p:cNvSpPr>
          <p:nvPr/>
        </p:nvSpPr>
        <p:spPr>
          <a:xfrm xmlns:a="http://schemas.openxmlformats.org/drawingml/2006/main">
            <a:off x="8058150" y="3324225"/>
            <a:ext cx="3371850" cy="1504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i="0">
                <a:solidFill>
                  <a:srgbClr val="20262E"/>
                </a:solidFill>
              </a:defRPr>
            </a:pPr>
            <a:r>
              <a:rPr sz="1200" b="0" i="0">
                <a:solidFill>
                  <a:srgbClr val="20262E"/>
                </a:solidFill>
              </a:rPr>
              <a:t>[Observed condition]</a:t>
            </a:r>
          </a:p>
          <a:p xmlns:a="http://schemas.openxmlformats.org/drawingml/2006/main">
            <a:r>
              <a:t/>
            </a:r>
          </a:p>
          <a:p xmlns:a="http://schemas.openxmlformats.org/drawingml/2006/main">
            <a:pPr algn="l">
              <a:defRPr sz="1200" b="0" i="0">
                <a:solidFill>
                  <a:srgbClr val="20262E"/>
                </a:solidFill>
              </a:defRPr>
            </a:pPr>
            <a:r>
              <a:rPr sz="1200" b="0" i="0">
                <a:solidFill>
                  <a:srgbClr val="20262E"/>
                </a:solidFill>
              </a:rPr>
              <a:t>Evidence: [E-##]</a:t>
            </a:r>
          </a:p>
          <a:p xmlns:a="http://schemas.openxmlformats.org/drawingml/2006/main">
            <a:pPr algn="l">
              <a:defRPr sz="1200" b="0" i="0">
                <a:solidFill>
                  <a:srgbClr val="20262E"/>
                </a:solidFill>
              </a:defRPr>
            </a:pPr>
            <a:r>
              <a:rPr sz="1200" b="0" i="0">
                <a:solidFill>
                  <a:srgbClr val="20262E"/>
                </a:solidFill>
              </a:rPr>
              <a:t>Confidence: [High / Medium / Low]</a:t>
            </a:r>
          </a:p>
        </p:txBody>
      </p:sp>
      <p:sp>
        <p:nvSpPr>
          <p:cNvPr id="21" name="">
            <a:extLst xmlns:a="http://schemas.openxmlformats.org/drawingml/2006/main">
              <a:ext uri="{FF2B5EF4-FFF2-40B4-BE49-F238E27FC236}">
                <a16:creationId xmlns:a16="http://schemas.microsoft.com/office/drawing/2014/main" id="{2133BBC1-281E-4EF7-BD98-7E613AC9D9B8}"/>
              </a:ext>
            </a:extLst>
          </p:cNvPr>
          <p:cNvSpPr>
            <a:spLocks xmlns:a="http://schemas.openxmlformats.org/drawingml/2006/main" noGrp="1"/>
          </p:cNvSpPr>
          <p:nvPr/>
        </p:nvSpPr>
        <p:spPr>
          <a:xfrm xmlns:a="http://schemas.openxmlformats.org/drawingml/2006/main">
            <a:off x="609600" y="5219700"/>
            <a:ext cx="10972800" cy="723900"/>
          </a:xfrm>
          <a:prstGeom xmlns:a="http://schemas.openxmlformats.org/drawingml/2006/main" prst="roundRect">
            <a:avLst>
              <a:gd name="adj" fmla="val 10526"/>
            </a:avLst>
          </a:prstGeom>
          <a:solidFill xmlns:a="http://schemas.openxmlformats.org/drawingml/2006/main">
            <a:srgbClr val="DCEAF7"/>
          </a:solidFill>
          <a:ln xmlns:a="http://schemas.openxmlformats.org/drawingml/2006/main" w="0">
            <a:solidFill>
              <a:srgbClr val="DCEAF7"/>
            </a:solidFill>
            <a:prstDash val="solid"/>
          </a:ln>
        </p:spPr>
      </p:sp>
      <p:sp>
        <p:nvSpPr>
          <p:cNvPr id="22" name="">
            <a:extLst xmlns:a="http://schemas.openxmlformats.org/drawingml/2006/main">
              <a:ext uri="{FF2B5EF4-FFF2-40B4-BE49-F238E27FC236}">
                <a16:creationId xmlns:a16="http://schemas.microsoft.com/office/drawing/2014/main" id="{54EBC688-0BB1-41F2-B9A6-6E167535185C}"/>
              </a:ext>
            </a:extLst>
          </p:cNvPr>
          <p:cNvSpPr>
            <a:spLocks xmlns:a="http://schemas.openxmlformats.org/drawingml/2006/main" noGrp="1"/>
          </p:cNvSpPr>
          <p:nvPr/>
        </p:nvSpPr>
        <p:spPr>
          <a:xfrm xmlns:a="http://schemas.openxmlformats.org/drawingml/2006/main">
            <a:off x="819150" y="5381625"/>
            <a:ext cx="1809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i="0">
                <a:solidFill>
                  <a:srgbClr val="2E74B5"/>
                </a:solidFill>
              </a:defRPr>
            </a:pPr>
            <a:r>
              <a:rPr sz="1050" b="1" i="0">
                <a:solidFill>
                  <a:srgbClr val="2E74B5"/>
                </a:solidFill>
              </a:rPr>
              <a:t>Decision requested</a:t>
            </a:r>
          </a:p>
        </p:txBody>
      </p:sp>
      <p:sp>
        <p:nvSpPr>
          <p:cNvPr id="23" name="">
            <a:extLst xmlns:a="http://schemas.openxmlformats.org/drawingml/2006/main">
              <a:ext uri="{FF2B5EF4-FFF2-40B4-BE49-F238E27FC236}">
                <a16:creationId xmlns:a16="http://schemas.microsoft.com/office/drawing/2014/main" id="{FE2740B6-3C0A-4595-A2EB-F1EB9CC4B155}"/>
              </a:ext>
            </a:extLst>
          </p:cNvPr>
          <p:cNvSpPr>
            <a:spLocks xmlns:a="http://schemas.openxmlformats.org/drawingml/2006/main" noGrp="1"/>
          </p:cNvSpPr>
          <p:nvPr/>
        </p:nvSpPr>
        <p:spPr>
          <a:xfrm xmlns:a="http://schemas.openxmlformats.org/drawingml/2006/main">
            <a:off x="2667000" y="5305425"/>
            <a:ext cx="857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1" i="0">
                <a:solidFill>
                  <a:srgbClr val="17324D"/>
                </a:solidFill>
              </a:defRPr>
            </a:pPr>
            <a:r>
              <a:rPr sz="1500" b="1" i="0">
                <a:solidFill>
                  <a:srgbClr val="17324D"/>
                </a:solidFill>
              </a:rPr>
              <a:t>[Approve validation / choose option / nominate owner / request separate scope]</a:t>
            </a:r>
          </a:p>
        </p:txBody>
      </p:sp>
    </p:spTree>
    <p:extLst>
      <p:ext uri="{BB962C8B-B14F-4D97-AF65-F5344CB8AC3E}">
        <p14:creationId xmlns:p14="http://schemas.microsoft.com/office/powerpoint/2010/main" val="1158850765"/>
      </p:ext>
    </p:extLst>
  </p:cSld>
</p:sld>
</file>

<file path=ppt/slides/slide4.xml><?xml version="1.0" encoding="utf-8"?>
<p:sld xmlns:p="http://schemas.openxmlformats.org/presentationml/2006/main">
  <p:cSld>
    <p:bg>
      <p:bgPr>
        <a:solidFill xmlns:a="http://schemas.openxmlformats.org/drawingml/2006/main">
          <a:srgbClr val="F7F9FB"/>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ECF66661-5895-4293-967D-D3786064DAE4}"/>
              </a:ext>
            </a:extLst>
          </p:cNvPr>
          <p:cNvSpPr>
            <a:spLocks xmlns:a="http://schemas.openxmlformats.org/drawingml/2006/main" noGrp="1"/>
          </p:cNvSpPr>
          <p:nvPr/>
        </p:nvSpPr>
        <p:spPr>
          <a:xfrm xmlns:a="http://schemas.openxmlformats.org/drawingml/2006/main">
            <a:off x="609600" y="32385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i="0">
                <a:solidFill>
                  <a:srgbClr val="2E74B5"/>
                </a:solidFill>
              </a:defRPr>
            </a:pPr>
            <a:r>
              <a:rPr sz="900" b="1" i="0">
                <a:solidFill>
                  <a:srgbClr val="2E74B5"/>
                </a:solidFill>
              </a:rPr>
              <a:t>METHOD</a:t>
            </a:r>
          </a:p>
        </p:txBody>
      </p:sp>
      <p:sp>
        <p:nvSpPr>
          <p:cNvPr id="2" name="">
            <a:extLst xmlns:a="http://schemas.openxmlformats.org/drawingml/2006/main">
              <a:ext uri="{FF2B5EF4-FFF2-40B4-BE49-F238E27FC236}">
                <a16:creationId xmlns:a16="http://schemas.microsoft.com/office/drawing/2014/main" id="{264A60A3-53E9-492C-B610-D62944EB40A5}"/>
              </a:ext>
            </a:extLst>
          </p:cNvPr>
          <p:cNvSpPr>
            <a:spLocks xmlns:a="http://schemas.openxmlformats.org/drawingml/2006/main" noGrp="1"/>
          </p:cNvSpPr>
          <p:nvPr/>
        </p:nvSpPr>
        <p:spPr>
          <a:xfrm xmlns:a="http://schemas.openxmlformats.org/drawingml/2006/main">
            <a:off x="609600" y="552450"/>
            <a:ext cx="10287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550" b="1" i="0">
                <a:solidFill>
                  <a:srgbClr val="17324D"/>
                </a:solidFill>
              </a:defRPr>
            </a:pPr>
            <a:r>
              <a:rPr sz="2550" b="1" i="0">
                <a:solidFill>
                  <a:srgbClr val="17324D"/>
                </a:solidFill>
              </a:rPr>
              <a:t>Show the evidence base and its limits</a:t>
            </a:r>
          </a:p>
        </p:txBody>
      </p:sp>
      <p:sp>
        <p:nvSpPr>
          <p:cNvPr id="3" name="">
            <a:extLst xmlns:a="http://schemas.openxmlformats.org/drawingml/2006/main">
              <a:ext uri="{FF2B5EF4-FFF2-40B4-BE49-F238E27FC236}">
                <a16:creationId xmlns:a16="http://schemas.microsoft.com/office/drawing/2014/main" id="{8F5C6557-AD00-4542-9DB4-17BEC873EBCC}"/>
              </a:ext>
            </a:extLst>
          </p:cNvPr>
          <p:cNvSpPr>
            <a:spLocks xmlns:a="http://schemas.openxmlformats.org/drawingml/2006/main" noGrp="1"/>
          </p:cNvSpPr>
          <p:nvPr/>
        </p:nvSpPr>
        <p:spPr>
          <a:xfrm xmlns:a="http://schemas.openxmlformats.org/drawingml/2006/main">
            <a:off x="609600" y="1143000"/>
            <a:ext cx="10972800" cy="19050"/>
          </a:xfrm>
          <a:prstGeom xmlns:a="http://schemas.openxmlformats.org/drawingml/2006/main" prst="rect">
            <a:avLst/>
          </a:prstGeom>
          <a:solidFill xmlns:a="http://schemas.openxmlformats.org/drawingml/2006/main">
            <a:srgbClr val="C9D2DC"/>
          </a:solidFill>
          <a:ln xmlns:a="http://schemas.openxmlformats.org/drawingml/2006/main" w="0">
            <a:solidFill>
              <a:srgbClr val="C9D2DC"/>
            </a:solidFill>
            <a:prstDash val="solid"/>
          </a:ln>
        </p:spPr>
      </p:sp>
      <p:sp>
        <p:nvSpPr>
          <p:cNvPr id="4" name="">
            <a:extLst xmlns:a="http://schemas.openxmlformats.org/drawingml/2006/main">
              <a:ext uri="{FF2B5EF4-FFF2-40B4-BE49-F238E27FC236}">
                <a16:creationId xmlns:a16="http://schemas.microsoft.com/office/drawing/2014/main" id="{ED19181D-69D7-46E1-B0DA-FF45553C0D9F}"/>
              </a:ext>
            </a:extLst>
          </p:cNvPr>
          <p:cNvSpPr>
            <a:spLocks xmlns:a="http://schemas.openxmlformats.org/drawingml/2006/main" noGrp="1"/>
          </p:cNvSpPr>
          <p:nvPr/>
        </p:nvSpPr>
        <p:spPr>
          <a:xfrm xmlns:a="http://schemas.openxmlformats.org/drawingml/2006/main">
            <a:off x="609600" y="6505575"/>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50" b="1" i="0">
                <a:solidFill>
                  <a:srgbClr val="66717E"/>
                </a:solidFill>
              </a:defRPr>
            </a:pPr>
            <a:r>
              <a:rPr sz="750" b="1" i="0">
                <a:solidFill>
                  <a:srgbClr val="66717E"/>
                </a:solidFill>
              </a:rPr>
              <a:t>HEUTRIX  |  WORKFLOW DIAGNOSTIC</a:t>
            </a:r>
          </a:p>
        </p:txBody>
      </p:sp>
      <p:sp>
        <p:nvSpPr>
          <p:cNvPr id="5" name="">
            <a:extLst xmlns:a="http://schemas.openxmlformats.org/drawingml/2006/main">
              <a:ext uri="{FF2B5EF4-FFF2-40B4-BE49-F238E27FC236}">
                <a16:creationId xmlns:a16="http://schemas.microsoft.com/office/drawing/2014/main" id="{26C1D92F-DD43-49C3-B2C5-45DF0F725BD6}"/>
              </a:ext>
            </a:extLst>
          </p:cNvPr>
          <p:cNvSpPr>
            <a:spLocks xmlns:a="http://schemas.openxmlformats.org/drawingml/2006/main" noGrp="1"/>
          </p:cNvSpPr>
          <p:nvPr/>
        </p:nvSpPr>
        <p:spPr>
          <a:xfrm xmlns:a="http://schemas.openxmlformats.org/drawingml/2006/main">
            <a:off x="11096625" y="6477000"/>
            <a:ext cx="476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i="0">
                <a:solidFill>
                  <a:srgbClr val="66717E"/>
                </a:solidFill>
              </a:defRPr>
            </a:pPr>
            <a:r>
              <a:rPr sz="825" b="1" i="0">
                <a:solidFill>
                  <a:srgbClr val="66717E"/>
                </a:solidFill>
              </a:rPr>
              <a:t>04</a:t>
            </a:r>
          </a:p>
        </p:txBody>
      </p:sp>
      <p:sp>
        <p:nvSpPr>
          <p:cNvPr id="6" name="">
            <a:extLst xmlns:a="http://schemas.openxmlformats.org/drawingml/2006/main">
              <a:ext uri="{FF2B5EF4-FFF2-40B4-BE49-F238E27FC236}">
                <a16:creationId xmlns:a16="http://schemas.microsoft.com/office/drawing/2014/main" id="{22DBBDE5-7A34-45B6-9B58-D90FA0FD7C7B}"/>
              </a:ext>
            </a:extLst>
          </p:cNvPr>
          <p:cNvSpPr>
            <a:spLocks xmlns:a="http://schemas.openxmlformats.org/drawingml/2006/main" noGrp="1"/>
          </p:cNvSpPr>
          <p:nvPr/>
        </p:nvSpPr>
        <p:spPr>
          <a:xfrm xmlns:a="http://schemas.openxmlformats.org/drawingml/2006/main">
            <a:off x="609600" y="1409700"/>
            <a:ext cx="2514600" cy="1104900"/>
          </a:xfrm>
          <a:prstGeom xmlns:a="http://schemas.openxmlformats.org/drawingml/2006/main" prst="roundRect">
            <a:avLst>
              <a:gd name="adj" fmla="val 6897"/>
            </a:avLst>
          </a:prstGeom>
          <a:solidFill xmlns:a="http://schemas.openxmlformats.org/drawingml/2006/main">
            <a:srgbClr val="FFFFFF"/>
          </a:solidFill>
          <a:ln xmlns:a="http://schemas.openxmlformats.org/drawingml/2006/main" w="9525">
            <a:solidFill>
              <a:srgbClr val="C9D2DC"/>
            </a:solidFill>
            <a:prstDash val="solid"/>
          </a:ln>
        </p:spPr>
      </p:sp>
      <p:sp>
        <p:nvSpPr>
          <p:cNvPr id="7" name="">
            <a:extLst xmlns:a="http://schemas.openxmlformats.org/drawingml/2006/main">
              <a:ext uri="{FF2B5EF4-FFF2-40B4-BE49-F238E27FC236}">
                <a16:creationId xmlns:a16="http://schemas.microsoft.com/office/drawing/2014/main" id="{62C7EA38-C8AF-4BD5-AA8F-48B47E3133BC}"/>
              </a:ext>
            </a:extLst>
          </p:cNvPr>
          <p:cNvSpPr>
            <a:spLocks xmlns:a="http://schemas.openxmlformats.org/drawingml/2006/main" noGrp="1"/>
          </p:cNvSpPr>
          <p:nvPr/>
        </p:nvSpPr>
        <p:spPr>
          <a:xfrm xmlns:a="http://schemas.openxmlformats.org/drawingml/2006/main">
            <a:off x="781050" y="1524000"/>
            <a:ext cx="21717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550" b="1" i="0">
                <a:solidFill>
                  <a:srgbClr val="2E74B5"/>
                </a:solidFill>
              </a:defRPr>
            </a:pPr>
            <a:r>
              <a:rPr sz="2550" b="1" i="0">
                <a:solidFill>
                  <a:srgbClr val="2E74B5"/>
                </a:solidFill>
              </a:rPr>
              <a:t>1</a:t>
            </a:r>
          </a:p>
        </p:txBody>
      </p:sp>
      <p:sp>
        <p:nvSpPr>
          <p:cNvPr id="8" name="">
            <a:extLst xmlns:a="http://schemas.openxmlformats.org/drawingml/2006/main">
              <a:ext uri="{FF2B5EF4-FFF2-40B4-BE49-F238E27FC236}">
                <a16:creationId xmlns:a16="http://schemas.microsoft.com/office/drawing/2014/main" id="{7E7EEE11-BB4B-41DF-924F-23A7760CF41A}"/>
              </a:ext>
            </a:extLst>
          </p:cNvPr>
          <p:cNvSpPr>
            <a:spLocks xmlns:a="http://schemas.openxmlformats.org/drawingml/2006/main" noGrp="1"/>
          </p:cNvSpPr>
          <p:nvPr/>
        </p:nvSpPr>
        <p:spPr>
          <a:xfrm xmlns:a="http://schemas.openxmlformats.org/drawingml/2006/main">
            <a:off x="781050" y="2019300"/>
            <a:ext cx="2171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i="0">
                <a:solidFill>
                  <a:srgbClr val="66717E"/>
                </a:solidFill>
              </a:defRPr>
            </a:pPr>
            <a:r>
              <a:rPr sz="1050" b="1" i="0">
                <a:solidFill>
                  <a:srgbClr val="66717E"/>
                </a:solidFill>
              </a:rPr>
              <a:t>workflow</a:t>
            </a:r>
          </a:p>
        </p:txBody>
      </p:sp>
      <p:sp>
        <p:nvSpPr>
          <p:cNvPr id="9" name="">
            <a:extLst xmlns:a="http://schemas.openxmlformats.org/drawingml/2006/main">
              <a:ext uri="{FF2B5EF4-FFF2-40B4-BE49-F238E27FC236}">
                <a16:creationId xmlns:a16="http://schemas.microsoft.com/office/drawing/2014/main" id="{FA810B60-C2AF-4DA9-9D4C-C53471A75270}"/>
              </a:ext>
            </a:extLst>
          </p:cNvPr>
          <p:cNvSpPr>
            <a:spLocks xmlns:a="http://schemas.openxmlformats.org/drawingml/2006/main" noGrp="1"/>
          </p:cNvSpPr>
          <p:nvPr/>
        </p:nvSpPr>
        <p:spPr>
          <a:xfrm xmlns:a="http://schemas.openxmlformats.org/drawingml/2006/main">
            <a:off x="3352800" y="1409700"/>
            <a:ext cx="2514600" cy="1104900"/>
          </a:xfrm>
          <a:prstGeom xmlns:a="http://schemas.openxmlformats.org/drawingml/2006/main" prst="roundRect">
            <a:avLst>
              <a:gd name="adj" fmla="val 6897"/>
            </a:avLst>
          </a:prstGeom>
          <a:solidFill xmlns:a="http://schemas.openxmlformats.org/drawingml/2006/main">
            <a:srgbClr val="FFFFFF"/>
          </a:solidFill>
          <a:ln xmlns:a="http://schemas.openxmlformats.org/drawingml/2006/main" w="9525">
            <a:solidFill>
              <a:srgbClr val="C9D2DC"/>
            </a:solidFill>
            <a:prstDash val="solid"/>
          </a:ln>
        </p:spPr>
      </p:sp>
      <p:sp>
        <p:nvSpPr>
          <p:cNvPr id="10" name="">
            <a:extLst xmlns:a="http://schemas.openxmlformats.org/drawingml/2006/main">
              <a:ext uri="{FF2B5EF4-FFF2-40B4-BE49-F238E27FC236}">
                <a16:creationId xmlns:a16="http://schemas.microsoft.com/office/drawing/2014/main" id="{6C407838-6A31-4F57-8C0E-D845CF9C2FE0}"/>
              </a:ext>
            </a:extLst>
          </p:cNvPr>
          <p:cNvSpPr>
            <a:spLocks xmlns:a="http://schemas.openxmlformats.org/drawingml/2006/main" noGrp="1"/>
          </p:cNvSpPr>
          <p:nvPr/>
        </p:nvSpPr>
        <p:spPr>
          <a:xfrm xmlns:a="http://schemas.openxmlformats.org/drawingml/2006/main">
            <a:off x="3524250" y="1524000"/>
            <a:ext cx="21717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550" b="1" i="0">
                <a:solidFill>
                  <a:srgbClr val="2E74B5"/>
                </a:solidFill>
              </a:defRPr>
            </a:pPr>
            <a:r>
              <a:rPr sz="2550" b="1" i="0">
                <a:solidFill>
                  <a:srgbClr val="2E74B5"/>
                </a:solidFill>
              </a:rPr>
              <a:t>≤ 5</a:t>
            </a:r>
          </a:p>
        </p:txBody>
      </p:sp>
      <p:sp>
        <p:nvSpPr>
          <p:cNvPr id="11" name="">
            <a:extLst xmlns:a="http://schemas.openxmlformats.org/drawingml/2006/main">
              <a:ext uri="{FF2B5EF4-FFF2-40B4-BE49-F238E27FC236}">
                <a16:creationId xmlns:a16="http://schemas.microsoft.com/office/drawing/2014/main" id="{42843D73-8FC5-409B-8DBA-476D89E8B111}"/>
              </a:ext>
            </a:extLst>
          </p:cNvPr>
          <p:cNvSpPr>
            <a:spLocks xmlns:a="http://schemas.openxmlformats.org/drawingml/2006/main" noGrp="1"/>
          </p:cNvSpPr>
          <p:nvPr/>
        </p:nvSpPr>
        <p:spPr>
          <a:xfrm xmlns:a="http://schemas.openxmlformats.org/drawingml/2006/main">
            <a:off x="3524250" y="2019300"/>
            <a:ext cx="2171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i="0">
                <a:solidFill>
                  <a:srgbClr val="66717E"/>
                </a:solidFill>
              </a:defRPr>
            </a:pPr>
            <a:r>
              <a:rPr sz="1050" b="1" i="0">
                <a:solidFill>
                  <a:srgbClr val="66717E"/>
                </a:solidFill>
              </a:rPr>
              <a:t>documents</a:t>
            </a:r>
          </a:p>
        </p:txBody>
      </p:sp>
      <p:sp>
        <p:nvSpPr>
          <p:cNvPr id="12" name="">
            <a:extLst xmlns:a="http://schemas.openxmlformats.org/drawingml/2006/main">
              <a:ext uri="{FF2B5EF4-FFF2-40B4-BE49-F238E27FC236}">
                <a16:creationId xmlns:a16="http://schemas.microsoft.com/office/drawing/2014/main" id="{2CEB242D-7E13-4BA9-8D70-5177C1593F9E}"/>
              </a:ext>
            </a:extLst>
          </p:cNvPr>
          <p:cNvSpPr>
            <a:spLocks xmlns:a="http://schemas.openxmlformats.org/drawingml/2006/main" noGrp="1"/>
          </p:cNvSpPr>
          <p:nvPr/>
        </p:nvSpPr>
        <p:spPr>
          <a:xfrm xmlns:a="http://schemas.openxmlformats.org/drawingml/2006/main">
            <a:off x="6096000" y="1409700"/>
            <a:ext cx="2514600" cy="1104900"/>
          </a:xfrm>
          <a:prstGeom xmlns:a="http://schemas.openxmlformats.org/drawingml/2006/main" prst="roundRect">
            <a:avLst>
              <a:gd name="adj" fmla="val 6897"/>
            </a:avLst>
          </a:prstGeom>
          <a:solidFill xmlns:a="http://schemas.openxmlformats.org/drawingml/2006/main">
            <a:srgbClr val="FFFFFF"/>
          </a:solidFill>
          <a:ln xmlns:a="http://schemas.openxmlformats.org/drawingml/2006/main" w="9525">
            <a:solidFill>
              <a:srgbClr val="C9D2DC"/>
            </a:solidFill>
            <a:prstDash val="solid"/>
          </a:ln>
        </p:spPr>
      </p:sp>
      <p:sp>
        <p:nvSpPr>
          <p:cNvPr id="13" name="">
            <a:extLst xmlns:a="http://schemas.openxmlformats.org/drawingml/2006/main">
              <a:ext uri="{FF2B5EF4-FFF2-40B4-BE49-F238E27FC236}">
                <a16:creationId xmlns:a16="http://schemas.microsoft.com/office/drawing/2014/main" id="{F0F7C212-C5CC-4B6B-A4AE-701FA078329C}"/>
              </a:ext>
            </a:extLst>
          </p:cNvPr>
          <p:cNvSpPr>
            <a:spLocks xmlns:a="http://schemas.openxmlformats.org/drawingml/2006/main" noGrp="1"/>
          </p:cNvSpPr>
          <p:nvPr/>
        </p:nvSpPr>
        <p:spPr>
          <a:xfrm xmlns:a="http://schemas.openxmlformats.org/drawingml/2006/main">
            <a:off x="6267450" y="1524000"/>
            <a:ext cx="21717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550" b="1" i="0">
                <a:solidFill>
                  <a:srgbClr val="2E74B5"/>
                </a:solidFill>
              </a:defRPr>
            </a:pPr>
            <a:r>
              <a:rPr sz="2550" b="1" i="0">
                <a:solidFill>
                  <a:srgbClr val="2E74B5"/>
                </a:solidFill>
              </a:rPr>
              <a:t>≤ 50</a:t>
            </a:r>
          </a:p>
        </p:txBody>
      </p:sp>
      <p:sp>
        <p:nvSpPr>
          <p:cNvPr id="14" name="">
            <a:extLst xmlns:a="http://schemas.openxmlformats.org/drawingml/2006/main">
              <a:ext uri="{FF2B5EF4-FFF2-40B4-BE49-F238E27FC236}">
                <a16:creationId xmlns:a16="http://schemas.microsoft.com/office/drawing/2014/main" id="{4901CB66-8BF3-4305-A7D1-36FC26B098F9}"/>
              </a:ext>
            </a:extLst>
          </p:cNvPr>
          <p:cNvSpPr>
            <a:spLocks xmlns:a="http://schemas.openxmlformats.org/drawingml/2006/main" noGrp="1"/>
          </p:cNvSpPr>
          <p:nvPr/>
        </p:nvSpPr>
        <p:spPr>
          <a:xfrm xmlns:a="http://schemas.openxmlformats.org/drawingml/2006/main">
            <a:off x="6267450" y="2019300"/>
            <a:ext cx="2171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i="0">
                <a:solidFill>
                  <a:srgbClr val="66717E"/>
                </a:solidFill>
              </a:defRPr>
            </a:pPr>
            <a:r>
              <a:rPr sz="1050" b="1" i="0">
                <a:solidFill>
                  <a:srgbClr val="66717E"/>
                </a:solidFill>
              </a:rPr>
              <a:t>pages</a:t>
            </a:r>
          </a:p>
        </p:txBody>
      </p:sp>
      <p:sp>
        <p:nvSpPr>
          <p:cNvPr id="15" name="">
            <a:extLst xmlns:a="http://schemas.openxmlformats.org/drawingml/2006/main">
              <a:ext uri="{FF2B5EF4-FFF2-40B4-BE49-F238E27FC236}">
                <a16:creationId xmlns:a16="http://schemas.microsoft.com/office/drawing/2014/main" id="{33621C0F-249D-4F1F-A9FD-74C1E63C0739}"/>
              </a:ext>
            </a:extLst>
          </p:cNvPr>
          <p:cNvSpPr>
            <a:spLocks xmlns:a="http://schemas.openxmlformats.org/drawingml/2006/main" noGrp="1"/>
          </p:cNvSpPr>
          <p:nvPr/>
        </p:nvSpPr>
        <p:spPr>
          <a:xfrm xmlns:a="http://schemas.openxmlformats.org/drawingml/2006/main">
            <a:off x="8839200" y="1409700"/>
            <a:ext cx="2514600" cy="1104900"/>
          </a:xfrm>
          <a:prstGeom xmlns:a="http://schemas.openxmlformats.org/drawingml/2006/main" prst="roundRect">
            <a:avLst>
              <a:gd name="adj" fmla="val 6897"/>
            </a:avLst>
          </a:prstGeom>
          <a:solidFill xmlns:a="http://schemas.openxmlformats.org/drawingml/2006/main">
            <a:srgbClr val="FFFFFF"/>
          </a:solidFill>
          <a:ln xmlns:a="http://schemas.openxmlformats.org/drawingml/2006/main" w="9525">
            <a:solidFill>
              <a:srgbClr val="C9D2DC"/>
            </a:solidFill>
            <a:prstDash val="solid"/>
          </a:ln>
        </p:spPr>
      </p:sp>
      <p:sp>
        <p:nvSpPr>
          <p:cNvPr id="16" name="">
            <a:extLst xmlns:a="http://schemas.openxmlformats.org/drawingml/2006/main">
              <a:ext uri="{FF2B5EF4-FFF2-40B4-BE49-F238E27FC236}">
                <a16:creationId xmlns:a16="http://schemas.microsoft.com/office/drawing/2014/main" id="{19A54BF3-35F4-4043-ACA2-7D0FEC849B2A}"/>
              </a:ext>
            </a:extLst>
          </p:cNvPr>
          <p:cNvSpPr>
            <a:spLocks xmlns:a="http://schemas.openxmlformats.org/drawingml/2006/main" noGrp="1"/>
          </p:cNvSpPr>
          <p:nvPr/>
        </p:nvSpPr>
        <p:spPr>
          <a:xfrm xmlns:a="http://schemas.openxmlformats.org/drawingml/2006/main">
            <a:off x="9010650" y="1524000"/>
            <a:ext cx="21717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550" b="1" i="0">
                <a:solidFill>
                  <a:srgbClr val="2E74B5"/>
                </a:solidFill>
              </a:defRPr>
            </a:pPr>
            <a:r>
              <a:rPr sz="2550" b="1" i="0">
                <a:solidFill>
                  <a:srgbClr val="2E74B5"/>
                </a:solidFill>
              </a:rPr>
              <a:t>≤ 4</a:t>
            </a:r>
          </a:p>
        </p:txBody>
      </p:sp>
      <p:sp>
        <p:nvSpPr>
          <p:cNvPr id="17" name="">
            <a:extLst xmlns:a="http://schemas.openxmlformats.org/drawingml/2006/main">
              <a:ext uri="{FF2B5EF4-FFF2-40B4-BE49-F238E27FC236}">
                <a16:creationId xmlns:a16="http://schemas.microsoft.com/office/drawing/2014/main" id="{782D333A-124C-4F9C-B25C-A74665A46D2E}"/>
              </a:ext>
            </a:extLst>
          </p:cNvPr>
          <p:cNvSpPr>
            <a:spLocks xmlns:a="http://schemas.openxmlformats.org/drawingml/2006/main" noGrp="1"/>
          </p:cNvSpPr>
          <p:nvPr/>
        </p:nvSpPr>
        <p:spPr>
          <a:xfrm xmlns:a="http://schemas.openxmlformats.org/drawingml/2006/main">
            <a:off x="9010650" y="2019300"/>
            <a:ext cx="2171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i="0">
                <a:solidFill>
                  <a:srgbClr val="66717E"/>
                </a:solidFill>
              </a:defRPr>
            </a:pPr>
            <a:r>
              <a:rPr sz="1050" b="1" i="0">
                <a:solidFill>
                  <a:srgbClr val="66717E"/>
                </a:solidFill>
              </a:rPr>
              <a:t>client participants</a:t>
            </a:r>
          </a:p>
        </p:txBody>
      </p:sp>
      <p:sp>
        <p:nvSpPr>
          <p:cNvPr id="18" name="">
            <a:extLst xmlns:a="http://schemas.openxmlformats.org/drawingml/2006/main">
              <a:ext uri="{FF2B5EF4-FFF2-40B4-BE49-F238E27FC236}">
                <a16:creationId xmlns:a16="http://schemas.microsoft.com/office/drawing/2014/main" id="{22AD4749-EDD9-41CB-A11F-6B06EAE4E6D6}"/>
              </a:ext>
            </a:extLst>
          </p:cNvPr>
          <p:cNvSpPr>
            <a:spLocks xmlns:a="http://schemas.openxmlformats.org/drawingml/2006/main" noGrp="1"/>
          </p:cNvSpPr>
          <p:nvPr/>
        </p:nvSpPr>
        <p:spPr>
          <a:xfrm xmlns:a="http://schemas.openxmlformats.org/drawingml/2006/main">
            <a:off x="609600" y="2781300"/>
            <a:ext cx="5257800" cy="2705100"/>
          </a:xfrm>
          <a:prstGeom xmlns:a="http://schemas.openxmlformats.org/drawingml/2006/main" prst="roundRect">
            <a:avLst>
              <a:gd name="adj" fmla="val 2817"/>
            </a:avLst>
          </a:prstGeom>
          <a:solidFill xmlns:a="http://schemas.openxmlformats.org/drawingml/2006/main">
            <a:srgbClr val="FFFFFF"/>
          </a:solidFill>
          <a:ln xmlns:a="http://schemas.openxmlformats.org/drawingml/2006/main" w="9525">
            <a:solidFill>
              <a:srgbClr val="C9D2DC"/>
            </a:solidFill>
            <a:prstDash val="solid"/>
          </a:ln>
        </p:spPr>
      </p:sp>
      <p:sp>
        <p:nvSpPr>
          <p:cNvPr id="19" name="">
            <a:extLst xmlns:a="http://schemas.openxmlformats.org/drawingml/2006/main">
              <a:ext uri="{FF2B5EF4-FFF2-40B4-BE49-F238E27FC236}">
                <a16:creationId xmlns:a16="http://schemas.microsoft.com/office/drawing/2014/main" id="{450F2AA0-7D5F-4CCE-92C6-A8DF24846F97}"/>
              </a:ext>
            </a:extLst>
          </p:cNvPr>
          <p:cNvSpPr>
            <a:spLocks xmlns:a="http://schemas.openxmlformats.org/drawingml/2006/main" noGrp="1"/>
          </p:cNvSpPr>
          <p:nvPr/>
        </p:nvSpPr>
        <p:spPr>
          <a:xfrm xmlns:a="http://schemas.openxmlformats.org/drawingml/2006/main">
            <a:off x="609600" y="2781300"/>
            <a:ext cx="76200" cy="2705100"/>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20" name="">
            <a:extLst xmlns:a="http://schemas.openxmlformats.org/drawingml/2006/main">
              <a:ext uri="{FF2B5EF4-FFF2-40B4-BE49-F238E27FC236}">
                <a16:creationId xmlns:a16="http://schemas.microsoft.com/office/drawing/2014/main" id="{DF8C4398-56E7-4210-B49E-E30CCA96209D}"/>
              </a:ext>
            </a:extLst>
          </p:cNvPr>
          <p:cNvSpPr>
            <a:spLocks xmlns:a="http://schemas.openxmlformats.org/drawingml/2006/main" noGrp="1"/>
          </p:cNvSpPr>
          <p:nvPr/>
        </p:nvSpPr>
        <p:spPr>
          <a:xfrm xmlns:a="http://schemas.openxmlformats.org/drawingml/2006/main">
            <a:off x="819150" y="2914650"/>
            <a:ext cx="49149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1" i="0">
                <a:solidFill>
                  <a:srgbClr val="17324D"/>
                </a:solidFill>
              </a:defRPr>
            </a:pPr>
            <a:r>
              <a:rPr sz="1350" b="1" i="0">
                <a:solidFill>
                  <a:srgbClr val="17324D"/>
                </a:solidFill>
              </a:rPr>
              <a:t>Evidence reviewed</a:t>
            </a:r>
          </a:p>
        </p:txBody>
      </p:sp>
      <p:sp>
        <p:nvSpPr>
          <p:cNvPr id="21" name="">
            <a:extLst xmlns:a="http://schemas.openxmlformats.org/drawingml/2006/main">
              <a:ext uri="{FF2B5EF4-FFF2-40B4-BE49-F238E27FC236}">
                <a16:creationId xmlns:a16="http://schemas.microsoft.com/office/drawing/2014/main" id="{C110D9D2-8F3D-4D1A-9099-2F157FA8FAAC}"/>
              </a:ext>
            </a:extLst>
          </p:cNvPr>
          <p:cNvSpPr>
            <a:spLocks xmlns:a="http://schemas.openxmlformats.org/drawingml/2006/main" noGrp="1"/>
          </p:cNvSpPr>
          <p:nvPr/>
        </p:nvSpPr>
        <p:spPr>
          <a:xfrm xmlns:a="http://schemas.openxmlformats.org/drawingml/2006/main">
            <a:off x="819150" y="3209925"/>
            <a:ext cx="4895850" cy="2152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i="0">
                <a:solidFill>
                  <a:srgbClr val="20262E"/>
                </a:solidFill>
              </a:defRPr>
            </a:pPr>
            <a:r>
              <a:rPr sz="1275" b="0" i="0">
                <a:solidFill>
                  <a:srgbClr val="20262E"/>
                </a:solidFill>
              </a:rPr>
              <a:t>• [E-01 — procedure / template]</a:t>
            </a:r>
          </a:p>
          <a:p xmlns:a="http://schemas.openxmlformats.org/drawingml/2006/main">
            <a:pPr algn="l">
              <a:defRPr sz="1275" b="0" i="0">
                <a:solidFill>
                  <a:srgbClr val="20262E"/>
                </a:solidFill>
              </a:defRPr>
            </a:pPr>
            <a:r>
              <a:rPr sz="1275" b="0" i="0">
                <a:solidFill>
                  <a:srgbClr val="20262E"/>
                </a:solidFill>
              </a:rPr>
              <a:t>• [E-02 — de-identified sample]</a:t>
            </a:r>
          </a:p>
          <a:p xmlns:a="http://schemas.openxmlformats.org/drawingml/2006/main">
            <a:pPr algn="l">
              <a:defRPr sz="1275" b="0" i="0">
                <a:solidFill>
                  <a:srgbClr val="20262E"/>
                </a:solidFill>
              </a:defRPr>
            </a:pPr>
            <a:r>
              <a:rPr sz="1275" b="0" i="0">
                <a:solidFill>
                  <a:srgbClr val="20262E"/>
                </a:solidFill>
              </a:rPr>
              <a:t>• [E-03 — system fields or statuses]</a:t>
            </a:r>
          </a:p>
          <a:p xmlns:a="http://schemas.openxmlformats.org/drawingml/2006/main">
            <a:pPr algn="l">
              <a:defRPr sz="1275" b="0" i="0">
                <a:solidFill>
                  <a:srgbClr val="20262E"/>
                </a:solidFill>
              </a:defRPr>
            </a:pPr>
            <a:r>
              <a:rPr sz="1275" b="0" i="0">
                <a:solidFill>
                  <a:srgbClr val="20262E"/>
                </a:solidFill>
              </a:rPr>
              <a:t>• [E-04 — workshop statement]</a:t>
            </a:r>
          </a:p>
          <a:p xmlns:a="http://schemas.openxmlformats.org/drawingml/2006/main">
            <a:pPr algn="l">
              <a:defRPr sz="1275" b="0" i="0">
                <a:solidFill>
                  <a:srgbClr val="20262E"/>
                </a:solidFill>
              </a:defRPr>
            </a:pPr>
            <a:r>
              <a:rPr sz="1275" b="0" i="0">
                <a:solidFill>
                  <a:srgbClr val="20262E"/>
                </a:solidFill>
              </a:rPr>
              <a:t>• [E-05 — timing or volume data]</a:t>
            </a:r>
          </a:p>
        </p:txBody>
      </p:sp>
      <p:sp>
        <p:nvSpPr>
          <p:cNvPr id="22" name="">
            <a:extLst xmlns:a="http://schemas.openxmlformats.org/drawingml/2006/main">
              <a:ext uri="{FF2B5EF4-FFF2-40B4-BE49-F238E27FC236}">
                <a16:creationId xmlns:a16="http://schemas.microsoft.com/office/drawing/2014/main" id="{445A0771-77C6-49DB-8463-ADDCF3C6C021}"/>
              </a:ext>
            </a:extLst>
          </p:cNvPr>
          <p:cNvSpPr>
            <a:spLocks xmlns:a="http://schemas.openxmlformats.org/drawingml/2006/main" noGrp="1"/>
          </p:cNvSpPr>
          <p:nvPr/>
        </p:nvSpPr>
        <p:spPr>
          <a:xfrm xmlns:a="http://schemas.openxmlformats.org/drawingml/2006/main">
            <a:off x="6096000" y="2781300"/>
            <a:ext cx="5486400" cy="2705100"/>
          </a:xfrm>
          <a:prstGeom xmlns:a="http://schemas.openxmlformats.org/drawingml/2006/main" prst="roundRect">
            <a:avLst>
              <a:gd name="adj" fmla="val 2817"/>
            </a:avLst>
          </a:prstGeom>
          <a:solidFill xmlns:a="http://schemas.openxmlformats.org/drawingml/2006/main">
            <a:srgbClr val="FCE8E6"/>
          </a:solidFill>
          <a:ln xmlns:a="http://schemas.openxmlformats.org/drawingml/2006/main" w="9525">
            <a:solidFill>
              <a:srgbClr val="C9D2DC"/>
            </a:solidFill>
            <a:prstDash val="solid"/>
          </a:ln>
        </p:spPr>
      </p:sp>
      <p:sp>
        <p:nvSpPr>
          <p:cNvPr id="23" name="">
            <a:extLst xmlns:a="http://schemas.openxmlformats.org/drawingml/2006/main">
              <a:ext uri="{FF2B5EF4-FFF2-40B4-BE49-F238E27FC236}">
                <a16:creationId xmlns:a16="http://schemas.microsoft.com/office/drawing/2014/main" id="{0397AFF8-9DF5-4FFB-9038-62019A01966B}"/>
              </a:ext>
            </a:extLst>
          </p:cNvPr>
          <p:cNvSpPr>
            <a:spLocks xmlns:a="http://schemas.openxmlformats.org/drawingml/2006/main" noGrp="1"/>
          </p:cNvSpPr>
          <p:nvPr/>
        </p:nvSpPr>
        <p:spPr>
          <a:xfrm xmlns:a="http://schemas.openxmlformats.org/drawingml/2006/main">
            <a:off x="6096000" y="2781300"/>
            <a:ext cx="76200" cy="2705100"/>
          </a:xfrm>
          <a:prstGeom xmlns:a="http://schemas.openxmlformats.org/drawingml/2006/main" prst="rect">
            <a:avLst/>
          </a:prstGeom>
          <a:solidFill xmlns:a="http://schemas.openxmlformats.org/drawingml/2006/main">
            <a:srgbClr val="B54B4B"/>
          </a:solidFill>
          <a:ln xmlns:a="http://schemas.openxmlformats.org/drawingml/2006/main" w="0">
            <a:solidFill>
              <a:srgbClr val="B54B4B"/>
            </a:solidFill>
            <a:prstDash val="solid"/>
          </a:ln>
        </p:spPr>
      </p:sp>
      <p:sp>
        <p:nvSpPr>
          <p:cNvPr id="24" name="">
            <a:extLst xmlns:a="http://schemas.openxmlformats.org/drawingml/2006/main">
              <a:ext uri="{FF2B5EF4-FFF2-40B4-BE49-F238E27FC236}">
                <a16:creationId xmlns:a16="http://schemas.microsoft.com/office/drawing/2014/main" id="{3BE5CD60-D86D-4FD0-A077-38EBCEBF9852}"/>
              </a:ext>
            </a:extLst>
          </p:cNvPr>
          <p:cNvSpPr>
            <a:spLocks xmlns:a="http://schemas.openxmlformats.org/drawingml/2006/main" noGrp="1"/>
          </p:cNvSpPr>
          <p:nvPr/>
        </p:nvSpPr>
        <p:spPr>
          <a:xfrm xmlns:a="http://schemas.openxmlformats.org/drawingml/2006/main">
            <a:off x="6305550" y="2914650"/>
            <a:ext cx="5143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1" i="0">
                <a:solidFill>
                  <a:srgbClr val="17324D"/>
                </a:solidFill>
              </a:defRPr>
            </a:pPr>
            <a:r>
              <a:rPr sz="1350" b="1" i="0">
                <a:solidFill>
                  <a:srgbClr val="17324D"/>
                </a:solidFill>
              </a:rPr>
              <a:t>Limits and assumptions</a:t>
            </a:r>
          </a:p>
        </p:txBody>
      </p:sp>
      <p:sp>
        <p:nvSpPr>
          <p:cNvPr id="25" name="">
            <a:extLst xmlns:a="http://schemas.openxmlformats.org/drawingml/2006/main">
              <a:ext uri="{FF2B5EF4-FFF2-40B4-BE49-F238E27FC236}">
                <a16:creationId xmlns:a16="http://schemas.microsoft.com/office/drawing/2014/main" id="{299284BD-E405-4759-BBF0-E4F699DCCAAE}"/>
              </a:ext>
            </a:extLst>
          </p:cNvPr>
          <p:cNvSpPr>
            <a:spLocks xmlns:a="http://schemas.openxmlformats.org/drawingml/2006/main" noGrp="1"/>
          </p:cNvSpPr>
          <p:nvPr/>
        </p:nvSpPr>
        <p:spPr>
          <a:xfrm xmlns:a="http://schemas.openxmlformats.org/drawingml/2006/main">
            <a:off x="6305550" y="3209925"/>
            <a:ext cx="5124450" cy="2152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i="0">
                <a:solidFill>
                  <a:srgbClr val="20262E"/>
                </a:solidFill>
              </a:defRPr>
            </a:pPr>
            <a:r>
              <a:rPr sz="1275" b="0" i="0">
                <a:solidFill>
                  <a:srgbClr val="20262E"/>
                </a:solidFill>
              </a:rPr>
              <a:t>• [Known evidence gap]</a:t>
            </a:r>
          </a:p>
          <a:p xmlns:a="http://schemas.openxmlformats.org/drawingml/2006/main">
            <a:pPr algn="l">
              <a:defRPr sz="1275" b="0" i="0">
                <a:solidFill>
                  <a:srgbClr val="20262E"/>
                </a:solidFill>
              </a:defRPr>
            </a:pPr>
            <a:r>
              <a:rPr sz="1275" b="0" i="0">
                <a:solidFill>
                  <a:srgbClr val="20262E"/>
                </a:solidFill>
              </a:rPr>
              <a:t>• [Unvalidated exception path]</a:t>
            </a:r>
          </a:p>
          <a:p xmlns:a="http://schemas.openxmlformats.org/drawingml/2006/main">
            <a:pPr algn="l">
              <a:defRPr sz="1275" b="0" i="0">
                <a:solidFill>
                  <a:srgbClr val="20262E"/>
                </a:solidFill>
              </a:defRPr>
            </a:pPr>
            <a:r>
              <a:rPr sz="1275" b="0" i="0">
                <a:solidFill>
                  <a:srgbClr val="20262E"/>
                </a:solidFill>
              </a:rPr>
              <a:t>• [Timing / volume caveat]</a:t>
            </a:r>
          </a:p>
          <a:p xmlns:a="http://schemas.openxmlformats.org/drawingml/2006/main">
            <a:pPr algn="l">
              <a:defRPr sz="1275" b="0" i="0">
                <a:solidFill>
                  <a:srgbClr val="20262E"/>
                </a:solidFill>
              </a:defRPr>
            </a:pPr>
            <a:r>
              <a:rPr sz="1275" b="0" i="0">
                <a:solidFill>
                  <a:srgbClr val="20262E"/>
                </a:solidFill>
              </a:rPr>
              <a:t>• No unnecessary personal or sensitive data used</a:t>
            </a:r>
          </a:p>
          <a:p xmlns:a="http://schemas.openxmlformats.org/drawingml/2006/main">
            <a:pPr algn="l">
              <a:defRPr sz="1275" b="0" i="0">
                <a:solidFill>
                  <a:srgbClr val="20262E"/>
                </a:solidFill>
              </a:defRPr>
            </a:pPr>
            <a:r>
              <a:rPr sz="1275" b="0" i="0">
                <a:solidFill>
                  <a:srgbClr val="20262E"/>
                </a:solidFill>
              </a:rPr>
              <a:t>• Findings are operational, not legal, clinical, audit or assurance conclusions</a:t>
            </a:r>
          </a:p>
        </p:txBody>
      </p:sp>
      <p:sp>
        <p:nvSpPr>
          <p:cNvPr id="26" name="">
            <a:extLst xmlns:a="http://schemas.openxmlformats.org/drawingml/2006/main">
              <a:ext uri="{FF2B5EF4-FFF2-40B4-BE49-F238E27FC236}">
                <a16:creationId xmlns:a16="http://schemas.microsoft.com/office/drawing/2014/main" id="{A68E96CC-2468-40C8-B956-48402197E4D6}"/>
              </a:ext>
            </a:extLst>
          </p:cNvPr>
          <p:cNvSpPr>
            <a:spLocks xmlns:a="http://schemas.openxmlformats.org/drawingml/2006/main" noGrp="1"/>
          </p:cNvSpPr>
          <p:nvPr/>
        </p:nvSpPr>
        <p:spPr>
          <a:xfrm xmlns:a="http://schemas.openxmlformats.org/drawingml/2006/main">
            <a:off x="609600" y="5676900"/>
            <a:ext cx="10972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0" i="1">
                <a:solidFill>
                  <a:srgbClr val="66717E"/>
                </a:solidFill>
              </a:defRPr>
            </a:pPr>
            <a:r>
              <a:rPr sz="1200" b="0" i="1">
                <a:solidFill>
                  <a:srgbClr val="66717E"/>
                </a:solidFill>
              </a:rPr>
              <a:t>Only show evidence that was approved and actually reviewed.</a:t>
            </a:r>
          </a:p>
        </p:txBody>
      </p:sp>
    </p:spTree>
    <p:extLst>
      <p:ext uri="{BB962C8B-B14F-4D97-AF65-F5344CB8AC3E}">
        <p14:creationId xmlns:p14="http://schemas.microsoft.com/office/powerpoint/2010/main" val="100644673"/>
      </p:ext>
    </p:extLst>
  </p:cSld>
</p:sld>
</file>

<file path=ppt/slides/slide5.xml><?xml version="1.0" encoding="utf-8"?>
<p:sld xmlns:p="http://schemas.openxmlformats.org/presentationml/2006/main">
  <p:cSld>
    <p:bg>
      <p:bgPr>
        <a:solidFill xmlns:a="http://schemas.openxmlformats.org/drawingml/2006/main">
          <a:srgbClr val="F7F9FB"/>
        </a:solidFill>
      </p:bgPr>
    </p:bg>
    <p:spTree>
      <p:nvGrpSpPr>
        <p:cNvPr id="1" name=""/>
        <p:cNvGrpSpPr/>
        <p:nvPr/>
      </p:nvGrpSpPr>
      <p:grpSpPr>
        <a:xfrm xmlns:a="http://schemas.openxmlformats.org/drawingml/2006/main"/>
      </p:grpSpPr>
      <p:sp>
        <p:nvSpPr>
          <p:cNvPr id="42" name="">
            <a:extLst xmlns:a="http://schemas.openxmlformats.org/drawingml/2006/main">
              <a:ext uri="{FF2B5EF4-FFF2-40B4-BE49-F238E27FC236}">
                <a16:creationId xmlns:a16="http://schemas.microsoft.com/office/drawing/2014/main" id="{86AB6432-FA10-4BD9-A118-666063FFC0BC}"/>
              </a:ext>
            </a:extLst>
          </p:cNvPr>
          <p:cNvSpPr>
            <a:spLocks xmlns:a="http://schemas.openxmlformats.org/drawingml/2006/main" noGrp="1"/>
          </p:cNvSpPr>
          <p:nvPr/>
        </p:nvSpPr>
        <p:spPr>
          <a:xfrm xmlns:a="http://schemas.openxmlformats.org/drawingml/2006/main">
            <a:off x="609600" y="32385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i="0">
                <a:solidFill>
                  <a:srgbClr val="2E74B5"/>
                </a:solidFill>
              </a:defRPr>
            </a:pPr>
            <a:r>
              <a:rPr sz="900" b="1" i="0">
                <a:solidFill>
                  <a:srgbClr val="2E74B5"/>
                </a:solidFill>
              </a:rPr>
              <a:t>WORKFLOW MAP</a:t>
            </a:r>
          </a:p>
        </p:txBody>
      </p:sp>
      <p:sp>
        <p:nvSpPr>
          <p:cNvPr id="2" name="">
            <a:extLst xmlns:a="http://schemas.openxmlformats.org/drawingml/2006/main">
              <a:ext uri="{FF2B5EF4-FFF2-40B4-BE49-F238E27FC236}">
                <a16:creationId xmlns:a16="http://schemas.microsoft.com/office/drawing/2014/main" id="{2DD8E054-B5C0-4983-8FF1-C634CBC0CE21}"/>
              </a:ext>
            </a:extLst>
          </p:cNvPr>
          <p:cNvSpPr>
            <a:spLocks xmlns:a="http://schemas.openxmlformats.org/drawingml/2006/main" noGrp="1"/>
          </p:cNvSpPr>
          <p:nvPr/>
        </p:nvSpPr>
        <p:spPr>
          <a:xfrm xmlns:a="http://schemas.openxmlformats.org/drawingml/2006/main">
            <a:off x="609600" y="552450"/>
            <a:ext cx="10287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550" b="1" i="0">
                <a:solidFill>
                  <a:srgbClr val="17324D"/>
                </a:solidFill>
              </a:defRPr>
            </a:pPr>
            <a:r>
              <a:rPr sz="2550" b="1" i="0">
                <a:solidFill>
                  <a:srgbClr val="17324D"/>
                </a:solidFill>
              </a:rPr>
              <a:t>Current state — normal path</a:t>
            </a:r>
          </a:p>
        </p:txBody>
      </p:sp>
      <p:sp>
        <p:nvSpPr>
          <p:cNvPr id="3" name="">
            <a:extLst xmlns:a="http://schemas.openxmlformats.org/drawingml/2006/main">
              <a:ext uri="{FF2B5EF4-FFF2-40B4-BE49-F238E27FC236}">
                <a16:creationId xmlns:a16="http://schemas.microsoft.com/office/drawing/2014/main" id="{0AD0C56C-71F2-4C5E-899C-51D14663829A}"/>
              </a:ext>
            </a:extLst>
          </p:cNvPr>
          <p:cNvSpPr>
            <a:spLocks xmlns:a="http://schemas.openxmlformats.org/drawingml/2006/main" noGrp="1"/>
          </p:cNvSpPr>
          <p:nvPr/>
        </p:nvSpPr>
        <p:spPr>
          <a:xfrm xmlns:a="http://schemas.openxmlformats.org/drawingml/2006/main">
            <a:off x="609600" y="1143000"/>
            <a:ext cx="10972800" cy="19050"/>
          </a:xfrm>
          <a:prstGeom xmlns:a="http://schemas.openxmlformats.org/drawingml/2006/main" prst="rect">
            <a:avLst/>
          </a:prstGeom>
          <a:solidFill xmlns:a="http://schemas.openxmlformats.org/drawingml/2006/main">
            <a:srgbClr val="C9D2DC"/>
          </a:solidFill>
          <a:ln xmlns:a="http://schemas.openxmlformats.org/drawingml/2006/main" w="0">
            <a:solidFill>
              <a:srgbClr val="C9D2DC"/>
            </a:solidFill>
            <a:prstDash val="solid"/>
          </a:ln>
        </p:spPr>
      </p:sp>
      <p:sp>
        <p:nvSpPr>
          <p:cNvPr id="4" name="">
            <a:extLst xmlns:a="http://schemas.openxmlformats.org/drawingml/2006/main">
              <a:ext uri="{FF2B5EF4-FFF2-40B4-BE49-F238E27FC236}">
                <a16:creationId xmlns:a16="http://schemas.microsoft.com/office/drawing/2014/main" id="{F34849A0-3260-4626-A40B-58CFAE76DBCB}"/>
              </a:ext>
            </a:extLst>
          </p:cNvPr>
          <p:cNvSpPr>
            <a:spLocks xmlns:a="http://schemas.openxmlformats.org/drawingml/2006/main" noGrp="1"/>
          </p:cNvSpPr>
          <p:nvPr/>
        </p:nvSpPr>
        <p:spPr>
          <a:xfrm xmlns:a="http://schemas.openxmlformats.org/drawingml/2006/main">
            <a:off x="609600" y="6505575"/>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50" b="1" i="0">
                <a:solidFill>
                  <a:srgbClr val="66717E"/>
                </a:solidFill>
              </a:defRPr>
            </a:pPr>
            <a:r>
              <a:rPr sz="750" b="1" i="0">
                <a:solidFill>
                  <a:srgbClr val="66717E"/>
                </a:solidFill>
              </a:rPr>
              <a:t>HEUTRIX  |  WORKFLOW DIAGNOSTIC</a:t>
            </a:r>
          </a:p>
        </p:txBody>
      </p:sp>
      <p:sp>
        <p:nvSpPr>
          <p:cNvPr id="5" name="">
            <a:extLst xmlns:a="http://schemas.openxmlformats.org/drawingml/2006/main">
              <a:ext uri="{FF2B5EF4-FFF2-40B4-BE49-F238E27FC236}">
                <a16:creationId xmlns:a16="http://schemas.microsoft.com/office/drawing/2014/main" id="{1A694D06-4D01-4B26-AF6D-96B89260CC0F}"/>
              </a:ext>
            </a:extLst>
          </p:cNvPr>
          <p:cNvSpPr>
            <a:spLocks xmlns:a="http://schemas.openxmlformats.org/drawingml/2006/main" noGrp="1"/>
          </p:cNvSpPr>
          <p:nvPr/>
        </p:nvSpPr>
        <p:spPr>
          <a:xfrm xmlns:a="http://schemas.openxmlformats.org/drawingml/2006/main">
            <a:off x="11096625" y="6477000"/>
            <a:ext cx="476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i="0">
                <a:solidFill>
                  <a:srgbClr val="66717E"/>
                </a:solidFill>
              </a:defRPr>
            </a:pPr>
            <a:r>
              <a:rPr sz="825" b="1" i="0">
                <a:solidFill>
                  <a:srgbClr val="66717E"/>
                </a:solidFill>
              </a:rPr>
              <a:t>05</a:t>
            </a:r>
          </a:p>
        </p:txBody>
      </p:sp>
      <p:sp>
        <p:nvSpPr>
          <p:cNvPr id="6" name="">
            <a:extLst xmlns:a="http://schemas.openxmlformats.org/drawingml/2006/main">
              <a:ext uri="{FF2B5EF4-FFF2-40B4-BE49-F238E27FC236}">
                <a16:creationId xmlns:a16="http://schemas.microsoft.com/office/drawing/2014/main" id="{CE7582DE-CD57-40A3-A3DB-C272C29C18A9}"/>
              </a:ext>
            </a:extLst>
          </p:cNvPr>
          <p:cNvSpPr>
            <a:spLocks xmlns:a="http://schemas.openxmlformats.org/drawingml/2006/main" noGrp="1"/>
          </p:cNvSpPr>
          <p:nvPr/>
        </p:nvSpPr>
        <p:spPr>
          <a:xfrm xmlns:a="http://schemas.openxmlformats.org/drawingml/2006/main">
            <a:off x="2476500" y="2352675"/>
            <a:ext cx="609600" cy="419100"/>
          </a:xfrm>
          <a:prstGeom xmlns:a="http://schemas.openxmlformats.org/drawingml/2006/main" prst="rightArrow">
            <a:avLst/>
          </a:prstGeom>
          <a:solidFill xmlns:a="http://schemas.openxmlformats.org/drawingml/2006/main">
            <a:srgbClr val="DCEAF7"/>
          </a:solidFill>
          <a:ln xmlns:a="http://schemas.openxmlformats.org/drawingml/2006/main" w="0">
            <a:solidFill>
              <a:srgbClr val="DCEAF7"/>
            </a:solidFill>
            <a:prstDash val="solid"/>
          </a:ln>
        </p:spPr>
      </p:sp>
      <p:sp>
        <p:nvSpPr>
          <p:cNvPr id="7" name="">
            <a:extLst xmlns:a="http://schemas.openxmlformats.org/drawingml/2006/main">
              <a:ext uri="{FF2B5EF4-FFF2-40B4-BE49-F238E27FC236}">
                <a16:creationId xmlns:a16="http://schemas.microsoft.com/office/drawing/2014/main" id="{D62BA3FA-006A-41B7-8B60-B1D4FE3676A5}"/>
              </a:ext>
            </a:extLst>
          </p:cNvPr>
          <p:cNvSpPr>
            <a:spLocks xmlns:a="http://schemas.openxmlformats.org/drawingml/2006/main" noGrp="1"/>
          </p:cNvSpPr>
          <p:nvPr/>
        </p:nvSpPr>
        <p:spPr>
          <a:xfrm xmlns:a="http://schemas.openxmlformats.org/drawingml/2006/main">
            <a:off x="4667250" y="2352675"/>
            <a:ext cx="609600" cy="419100"/>
          </a:xfrm>
          <a:prstGeom xmlns:a="http://schemas.openxmlformats.org/drawingml/2006/main" prst="rightArrow">
            <a:avLst/>
          </a:prstGeom>
          <a:solidFill xmlns:a="http://schemas.openxmlformats.org/drawingml/2006/main">
            <a:srgbClr val="DCEAF7"/>
          </a:solidFill>
          <a:ln xmlns:a="http://schemas.openxmlformats.org/drawingml/2006/main" w="0">
            <a:solidFill>
              <a:srgbClr val="DCEAF7"/>
            </a:solidFill>
            <a:prstDash val="solid"/>
          </a:ln>
        </p:spPr>
      </p:sp>
      <p:sp>
        <p:nvSpPr>
          <p:cNvPr id="8" name="">
            <a:extLst xmlns:a="http://schemas.openxmlformats.org/drawingml/2006/main">
              <a:ext uri="{FF2B5EF4-FFF2-40B4-BE49-F238E27FC236}">
                <a16:creationId xmlns:a16="http://schemas.microsoft.com/office/drawing/2014/main" id="{98F7026E-3CF8-4F90-AD08-741577BA5548}"/>
              </a:ext>
            </a:extLst>
          </p:cNvPr>
          <p:cNvSpPr>
            <a:spLocks xmlns:a="http://schemas.openxmlformats.org/drawingml/2006/main" noGrp="1"/>
          </p:cNvSpPr>
          <p:nvPr/>
        </p:nvSpPr>
        <p:spPr>
          <a:xfrm xmlns:a="http://schemas.openxmlformats.org/drawingml/2006/main">
            <a:off x="6858000" y="2352675"/>
            <a:ext cx="609600" cy="419100"/>
          </a:xfrm>
          <a:prstGeom xmlns:a="http://schemas.openxmlformats.org/drawingml/2006/main" prst="rightArrow">
            <a:avLst/>
          </a:prstGeom>
          <a:solidFill xmlns:a="http://schemas.openxmlformats.org/drawingml/2006/main">
            <a:srgbClr val="DCEAF7"/>
          </a:solidFill>
          <a:ln xmlns:a="http://schemas.openxmlformats.org/drawingml/2006/main" w="0">
            <a:solidFill>
              <a:srgbClr val="DCEAF7"/>
            </a:solidFill>
            <a:prstDash val="solid"/>
          </a:ln>
        </p:spPr>
      </p:sp>
      <p:sp>
        <p:nvSpPr>
          <p:cNvPr id="9" name="">
            <a:extLst xmlns:a="http://schemas.openxmlformats.org/drawingml/2006/main">
              <a:ext uri="{FF2B5EF4-FFF2-40B4-BE49-F238E27FC236}">
                <a16:creationId xmlns:a16="http://schemas.microsoft.com/office/drawing/2014/main" id="{39D294D9-EDBF-4410-81D7-FDF6C39A5F7D}"/>
              </a:ext>
            </a:extLst>
          </p:cNvPr>
          <p:cNvSpPr>
            <a:spLocks xmlns:a="http://schemas.openxmlformats.org/drawingml/2006/main" noGrp="1"/>
          </p:cNvSpPr>
          <p:nvPr/>
        </p:nvSpPr>
        <p:spPr>
          <a:xfrm xmlns:a="http://schemas.openxmlformats.org/drawingml/2006/main">
            <a:off x="9048750" y="2352675"/>
            <a:ext cx="609600" cy="419100"/>
          </a:xfrm>
          <a:prstGeom xmlns:a="http://schemas.openxmlformats.org/drawingml/2006/main" prst="rightArrow">
            <a:avLst/>
          </a:prstGeom>
          <a:solidFill xmlns:a="http://schemas.openxmlformats.org/drawingml/2006/main">
            <a:srgbClr val="DCEAF7"/>
          </a:solidFill>
          <a:ln xmlns:a="http://schemas.openxmlformats.org/drawingml/2006/main" w="0">
            <a:solidFill>
              <a:srgbClr val="DCEAF7"/>
            </a:solidFill>
            <a:prstDash val="solid"/>
          </a:ln>
        </p:spPr>
      </p:sp>
      <p:sp>
        <p:nvSpPr>
          <p:cNvPr id="10" name="">
            <a:extLst xmlns:a="http://schemas.openxmlformats.org/drawingml/2006/main">
              <a:ext uri="{FF2B5EF4-FFF2-40B4-BE49-F238E27FC236}">
                <a16:creationId xmlns:a16="http://schemas.microsoft.com/office/drawing/2014/main" id="{F109289F-EB6D-43BF-87BF-6201948EFF3A}"/>
              </a:ext>
            </a:extLst>
          </p:cNvPr>
          <p:cNvSpPr>
            <a:spLocks xmlns:a="http://schemas.openxmlformats.org/drawingml/2006/main" noGrp="1"/>
          </p:cNvSpPr>
          <p:nvPr/>
        </p:nvSpPr>
        <p:spPr>
          <a:xfrm xmlns:a="http://schemas.openxmlformats.org/drawingml/2006/main">
            <a:off x="609600" y="1885950"/>
            <a:ext cx="1981200" cy="1371600"/>
          </a:xfrm>
          <a:prstGeom xmlns:a="http://schemas.openxmlformats.org/drawingml/2006/main" prst="roundRect">
            <a:avLst>
              <a:gd name="adj" fmla="val 5556"/>
            </a:avLst>
          </a:prstGeom>
          <a:solidFill xmlns:a="http://schemas.openxmlformats.org/drawingml/2006/main">
            <a:srgbClr val="FFFFFF"/>
          </a:solidFill>
          <a:ln xmlns:a="http://schemas.openxmlformats.org/drawingml/2006/main" w="9525">
            <a:solidFill>
              <a:srgbClr val="C9D2DC"/>
            </a:solidFill>
            <a:prstDash val="solid"/>
          </a:ln>
        </p:spPr>
      </p:sp>
      <p:sp>
        <p:nvSpPr>
          <p:cNvPr id="11" name="">
            <a:extLst xmlns:a="http://schemas.openxmlformats.org/drawingml/2006/main">
              <a:ext uri="{FF2B5EF4-FFF2-40B4-BE49-F238E27FC236}">
                <a16:creationId xmlns:a16="http://schemas.microsoft.com/office/drawing/2014/main" id="{34AFB94F-3685-402E-9F18-ADAFA49CA456}"/>
              </a:ext>
            </a:extLst>
          </p:cNvPr>
          <p:cNvSpPr>
            <a:spLocks xmlns:a="http://schemas.openxmlformats.org/drawingml/2006/main" noGrp="1"/>
          </p:cNvSpPr>
          <p:nvPr/>
        </p:nvSpPr>
        <p:spPr>
          <a:xfrm xmlns:a="http://schemas.openxmlformats.org/drawingml/2006/main">
            <a:off x="723900" y="1962150"/>
            <a:ext cx="476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i="0">
                <a:solidFill>
                  <a:srgbClr val="2E74B5"/>
                </a:solidFill>
              </a:defRPr>
            </a:pPr>
            <a:r>
              <a:rPr sz="825" b="1" i="0">
                <a:solidFill>
                  <a:srgbClr val="2E74B5"/>
                </a:solidFill>
              </a:rPr>
              <a:t>S-01</a:t>
            </a:r>
          </a:p>
        </p:txBody>
      </p:sp>
      <p:sp>
        <p:nvSpPr>
          <p:cNvPr id="12" name="">
            <a:extLst xmlns:a="http://schemas.openxmlformats.org/drawingml/2006/main">
              <a:ext uri="{FF2B5EF4-FFF2-40B4-BE49-F238E27FC236}">
                <a16:creationId xmlns:a16="http://schemas.microsoft.com/office/drawing/2014/main" id="{BCF487BA-7B14-4735-B7D1-938CF9E45F62}"/>
              </a:ext>
            </a:extLst>
          </p:cNvPr>
          <p:cNvSpPr>
            <a:spLocks xmlns:a="http://schemas.openxmlformats.org/drawingml/2006/main" noGrp="1"/>
          </p:cNvSpPr>
          <p:nvPr/>
        </p:nvSpPr>
        <p:spPr>
          <a:xfrm xmlns:a="http://schemas.openxmlformats.org/drawingml/2006/main">
            <a:off x="723900" y="2162175"/>
            <a:ext cx="17526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i="0">
                <a:solidFill>
                  <a:srgbClr val="17324D"/>
                </a:solidFill>
              </a:defRPr>
            </a:pPr>
            <a:r>
              <a:rPr sz="1275" b="1" i="0">
                <a:solidFill>
                  <a:srgbClr val="17324D"/>
                </a:solidFill>
              </a:rPr>
              <a:t>Trigger</a:t>
            </a:r>
          </a:p>
        </p:txBody>
      </p:sp>
      <p:sp>
        <p:nvSpPr>
          <p:cNvPr id="13" name="">
            <a:extLst xmlns:a="http://schemas.openxmlformats.org/drawingml/2006/main">
              <a:ext uri="{FF2B5EF4-FFF2-40B4-BE49-F238E27FC236}">
                <a16:creationId xmlns:a16="http://schemas.microsoft.com/office/drawing/2014/main" id="{825E9A7B-28B3-4092-BC76-9CE0D7869E80}"/>
              </a:ext>
            </a:extLst>
          </p:cNvPr>
          <p:cNvSpPr>
            <a:spLocks xmlns:a="http://schemas.openxmlformats.org/drawingml/2006/main" noGrp="1"/>
          </p:cNvSpPr>
          <p:nvPr/>
        </p:nvSpPr>
        <p:spPr>
          <a:xfrm xmlns:a="http://schemas.openxmlformats.org/drawingml/2006/main">
            <a:off x="723900" y="3000375"/>
            <a:ext cx="17526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i="0">
                <a:solidFill>
                  <a:srgbClr val="66717E"/>
                </a:solidFill>
              </a:defRPr>
            </a:pPr>
            <a:r>
              <a:rPr sz="825" b="0" i="0">
                <a:solidFill>
                  <a:srgbClr val="66717E"/>
                </a:solidFill>
              </a:rPr>
              <a:t>[Role]</a:t>
            </a:r>
          </a:p>
        </p:txBody>
      </p:sp>
      <p:sp>
        <p:nvSpPr>
          <p:cNvPr id="14" name="">
            <a:extLst xmlns:a="http://schemas.openxmlformats.org/drawingml/2006/main">
              <a:ext uri="{FF2B5EF4-FFF2-40B4-BE49-F238E27FC236}">
                <a16:creationId xmlns:a16="http://schemas.microsoft.com/office/drawing/2014/main" id="{664BAA59-D9D7-4F36-BB59-7214AAE7AEC3}"/>
              </a:ext>
            </a:extLst>
          </p:cNvPr>
          <p:cNvSpPr>
            <a:spLocks xmlns:a="http://schemas.openxmlformats.org/drawingml/2006/main" noGrp="1"/>
          </p:cNvSpPr>
          <p:nvPr/>
        </p:nvSpPr>
        <p:spPr>
          <a:xfrm xmlns:a="http://schemas.openxmlformats.org/drawingml/2006/main">
            <a:off x="2800350" y="1885950"/>
            <a:ext cx="1981200" cy="1371600"/>
          </a:xfrm>
          <a:prstGeom xmlns:a="http://schemas.openxmlformats.org/drawingml/2006/main" prst="roundRect">
            <a:avLst>
              <a:gd name="adj" fmla="val 5556"/>
            </a:avLst>
          </a:prstGeom>
          <a:solidFill xmlns:a="http://schemas.openxmlformats.org/drawingml/2006/main">
            <a:srgbClr val="FFFFFF"/>
          </a:solidFill>
          <a:ln xmlns:a="http://schemas.openxmlformats.org/drawingml/2006/main" w="9525">
            <a:solidFill>
              <a:srgbClr val="C9D2DC"/>
            </a:solidFill>
            <a:prstDash val="solid"/>
          </a:ln>
        </p:spPr>
      </p:sp>
      <p:sp>
        <p:nvSpPr>
          <p:cNvPr id="15" name="">
            <a:extLst xmlns:a="http://schemas.openxmlformats.org/drawingml/2006/main">
              <a:ext uri="{FF2B5EF4-FFF2-40B4-BE49-F238E27FC236}">
                <a16:creationId xmlns:a16="http://schemas.microsoft.com/office/drawing/2014/main" id="{966539B6-1E21-4A17-919E-EA098C93D3B2}"/>
              </a:ext>
            </a:extLst>
          </p:cNvPr>
          <p:cNvSpPr>
            <a:spLocks xmlns:a="http://schemas.openxmlformats.org/drawingml/2006/main" noGrp="1"/>
          </p:cNvSpPr>
          <p:nvPr/>
        </p:nvSpPr>
        <p:spPr>
          <a:xfrm xmlns:a="http://schemas.openxmlformats.org/drawingml/2006/main">
            <a:off x="2914650" y="1962150"/>
            <a:ext cx="476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i="0">
                <a:solidFill>
                  <a:srgbClr val="2E74B5"/>
                </a:solidFill>
              </a:defRPr>
            </a:pPr>
            <a:r>
              <a:rPr sz="825" b="1" i="0">
                <a:solidFill>
                  <a:srgbClr val="2E74B5"/>
                </a:solidFill>
              </a:rPr>
              <a:t>S-02</a:t>
            </a:r>
          </a:p>
        </p:txBody>
      </p:sp>
      <p:sp>
        <p:nvSpPr>
          <p:cNvPr id="16" name="">
            <a:extLst xmlns:a="http://schemas.openxmlformats.org/drawingml/2006/main">
              <a:ext uri="{FF2B5EF4-FFF2-40B4-BE49-F238E27FC236}">
                <a16:creationId xmlns:a16="http://schemas.microsoft.com/office/drawing/2014/main" id="{3A235754-6A5A-444C-9AAF-615B3B4FD908}"/>
              </a:ext>
            </a:extLst>
          </p:cNvPr>
          <p:cNvSpPr>
            <a:spLocks xmlns:a="http://schemas.openxmlformats.org/drawingml/2006/main" noGrp="1"/>
          </p:cNvSpPr>
          <p:nvPr/>
        </p:nvSpPr>
        <p:spPr>
          <a:xfrm xmlns:a="http://schemas.openxmlformats.org/drawingml/2006/main">
            <a:off x="2914650" y="2162175"/>
            <a:ext cx="17526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i="0">
                <a:solidFill>
                  <a:srgbClr val="17324D"/>
                </a:solidFill>
              </a:defRPr>
            </a:pPr>
            <a:r>
              <a:rPr sz="1275" b="1" i="0">
                <a:solidFill>
                  <a:srgbClr val="17324D"/>
                </a:solidFill>
              </a:rPr>
              <a:t>Triage</a:t>
            </a:r>
          </a:p>
        </p:txBody>
      </p:sp>
      <p:sp>
        <p:nvSpPr>
          <p:cNvPr id="17" name="">
            <a:extLst xmlns:a="http://schemas.openxmlformats.org/drawingml/2006/main">
              <a:ext uri="{FF2B5EF4-FFF2-40B4-BE49-F238E27FC236}">
                <a16:creationId xmlns:a16="http://schemas.microsoft.com/office/drawing/2014/main" id="{DFB957FF-A17F-4ED7-A1BB-304663EA9650}"/>
              </a:ext>
            </a:extLst>
          </p:cNvPr>
          <p:cNvSpPr>
            <a:spLocks xmlns:a="http://schemas.openxmlformats.org/drawingml/2006/main" noGrp="1"/>
          </p:cNvSpPr>
          <p:nvPr/>
        </p:nvSpPr>
        <p:spPr>
          <a:xfrm xmlns:a="http://schemas.openxmlformats.org/drawingml/2006/main">
            <a:off x="2914650" y="3000375"/>
            <a:ext cx="17526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i="0">
                <a:solidFill>
                  <a:srgbClr val="66717E"/>
                </a:solidFill>
              </a:defRPr>
            </a:pPr>
            <a:r>
              <a:rPr sz="825" b="0" i="0">
                <a:solidFill>
                  <a:srgbClr val="66717E"/>
                </a:solidFill>
              </a:rPr>
              <a:t>[Role]</a:t>
            </a:r>
          </a:p>
        </p:txBody>
      </p:sp>
      <p:sp>
        <p:nvSpPr>
          <p:cNvPr id="18" name="">
            <a:extLst xmlns:a="http://schemas.openxmlformats.org/drawingml/2006/main">
              <a:ext uri="{FF2B5EF4-FFF2-40B4-BE49-F238E27FC236}">
                <a16:creationId xmlns:a16="http://schemas.microsoft.com/office/drawing/2014/main" id="{CCC084DE-FE35-4B92-9313-612AFD117777}"/>
              </a:ext>
            </a:extLst>
          </p:cNvPr>
          <p:cNvSpPr>
            <a:spLocks xmlns:a="http://schemas.openxmlformats.org/drawingml/2006/main" noGrp="1"/>
          </p:cNvSpPr>
          <p:nvPr/>
        </p:nvSpPr>
        <p:spPr>
          <a:xfrm xmlns:a="http://schemas.openxmlformats.org/drawingml/2006/main">
            <a:off x="4991100" y="1885950"/>
            <a:ext cx="1981200" cy="1371600"/>
          </a:xfrm>
          <a:prstGeom xmlns:a="http://schemas.openxmlformats.org/drawingml/2006/main" prst="roundRect">
            <a:avLst>
              <a:gd name="adj" fmla="val 5556"/>
            </a:avLst>
          </a:prstGeom>
          <a:solidFill xmlns:a="http://schemas.openxmlformats.org/drawingml/2006/main">
            <a:srgbClr val="FFFFFF"/>
          </a:solidFill>
          <a:ln xmlns:a="http://schemas.openxmlformats.org/drawingml/2006/main" w="9525">
            <a:solidFill>
              <a:srgbClr val="C9D2DC"/>
            </a:solidFill>
            <a:prstDash val="solid"/>
          </a:ln>
        </p:spPr>
      </p:sp>
      <p:sp>
        <p:nvSpPr>
          <p:cNvPr id="19" name="">
            <a:extLst xmlns:a="http://schemas.openxmlformats.org/drawingml/2006/main">
              <a:ext uri="{FF2B5EF4-FFF2-40B4-BE49-F238E27FC236}">
                <a16:creationId xmlns:a16="http://schemas.microsoft.com/office/drawing/2014/main" id="{D7DD6BDC-425C-4FCC-ACDF-88D35F03359F}"/>
              </a:ext>
            </a:extLst>
          </p:cNvPr>
          <p:cNvSpPr>
            <a:spLocks xmlns:a="http://schemas.openxmlformats.org/drawingml/2006/main" noGrp="1"/>
          </p:cNvSpPr>
          <p:nvPr/>
        </p:nvSpPr>
        <p:spPr>
          <a:xfrm xmlns:a="http://schemas.openxmlformats.org/drawingml/2006/main">
            <a:off x="5105400" y="1962150"/>
            <a:ext cx="476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i="0">
                <a:solidFill>
                  <a:srgbClr val="2E74B5"/>
                </a:solidFill>
              </a:defRPr>
            </a:pPr>
            <a:r>
              <a:rPr sz="825" b="1" i="0">
                <a:solidFill>
                  <a:srgbClr val="2E74B5"/>
                </a:solidFill>
              </a:rPr>
              <a:t>S-03</a:t>
            </a:r>
          </a:p>
        </p:txBody>
      </p:sp>
      <p:sp>
        <p:nvSpPr>
          <p:cNvPr id="20" name="">
            <a:extLst xmlns:a="http://schemas.openxmlformats.org/drawingml/2006/main">
              <a:ext uri="{FF2B5EF4-FFF2-40B4-BE49-F238E27FC236}">
                <a16:creationId xmlns:a16="http://schemas.microsoft.com/office/drawing/2014/main" id="{AC499C64-8268-4223-8C90-DE7568BD88E2}"/>
              </a:ext>
            </a:extLst>
          </p:cNvPr>
          <p:cNvSpPr>
            <a:spLocks xmlns:a="http://schemas.openxmlformats.org/drawingml/2006/main" noGrp="1"/>
          </p:cNvSpPr>
          <p:nvPr/>
        </p:nvSpPr>
        <p:spPr>
          <a:xfrm xmlns:a="http://schemas.openxmlformats.org/drawingml/2006/main">
            <a:off x="5105400" y="2162175"/>
            <a:ext cx="17526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i="0">
                <a:solidFill>
                  <a:srgbClr val="17324D"/>
                </a:solidFill>
              </a:defRPr>
            </a:pPr>
            <a:r>
              <a:rPr sz="1275" b="1" i="0">
                <a:solidFill>
                  <a:srgbClr val="17324D"/>
                </a:solidFill>
              </a:rPr>
              <a:t>Complete work</a:t>
            </a:r>
          </a:p>
        </p:txBody>
      </p:sp>
      <p:sp>
        <p:nvSpPr>
          <p:cNvPr id="21" name="">
            <a:extLst xmlns:a="http://schemas.openxmlformats.org/drawingml/2006/main">
              <a:ext uri="{FF2B5EF4-FFF2-40B4-BE49-F238E27FC236}">
                <a16:creationId xmlns:a16="http://schemas.microsoft.com/office/drawing/2014/main" id="{85C99694-E49E-4BB6-AAAD-79CDF8600E18}"/>
              </a:ext>
            </a:extLst>
          </p:cNvPr>
          <p:cNvSpPr>
            <a:spLocks xmlns:a="http://schemas.openxmlformats.org/drawingml/2006/main" noGrp="1"/>
          </p:cNvSpPr>
          <p:nvPr/>
        </p:nvSpPr>
        <p:spPr>
          <a:xfrm xmlns:a="http://schemas.openxmlformats.org/drawingml/2006/main">
            <a:off x="5105400" y="3000375"/>
            <a:ext cx="17526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i="0">
                <a:solidFill>
                  <a:srgbClr val="66717E"/>
                </a:solidFill>
              </a:defRPr>
            </a:pPr>
            <a:r>
              <a:rPr sz="825" b="0" i="0">
                <a:solidFill>
                  <a:srgbClr val="66717E"/>
                </a:solidFill>
              </a:rPr>
              <a:t>[Role]</a:t>
            </a:r>
          </a:p>
        </p:txBody>
      </p:sp>
      <p:sp>
        <p:nvSpPr>
          <p:cNvPr id="22" name="">
            <a:extLst xmlns:a="http://schemas.openxmlformats.org/drawingml/2006/main">
              <a:ext uri="{FF2B5EF4-FFF2-40B4-BE49-F238E27FC236}">
                <a16:creationId xmlns:a16="http://schemas.microsoft.com/office/drawing/2014/main" id="{36538C0A-6BFE-45BE-A02B-B6E1A804C9DA}"/>
              </a:ext>
            </a:extLst>
          </p:cNvPr>
          <p:cNvSpPr>
            <a:spLocks xmlns:a="http://schemas.openxmlformats.org/drawingml/2006/main" noGrp="1"/>
          </p:cNvSpPr>
          <p:nvPr/>
        </p:nvSpPr>
        <p:spPr>
          <a:xfrm xmlns:a="http://schemas.openxmlformats.org/drawingml/2006/main">
            <a:off x="7181850" y="1885950"/>
            <a:ext cx="1981200" cy="1371600"/>
          </a:xfrm>
          <a:prstGeom xmlns:a="http://schemas.openxmlformats.org/drawingml/2006/main" prst="roundRect">
            <a:avLst>
              <a:gd name="adj" fmla="val 5556"/>
            </a:avLst>
          </a:prstGeom>
          <a:solidFill xmlns:a="http://schemas.openxmlformats.org/drawingml/2006/main">
            <a:srgbClr val="FFF4CE"/>
          </a:solidFill>
          <a:ln xmlns:a="http://schemas.openxmlformats.org/drawingml/2006/main" w="9525">
            <a:solidFill>
              <a:srgbClr val="C9D2DC"/>
            </a:solidFill>
            <a:prstDash val="solid"/>
          </a:ln>
        </p:spPr>
      </p:sp>
      <p:sp>
        <p:nvSpPr>
          <p:cNvPr id="23" name="">
            <a:extLst xmlns:a="http://schemas.openxmlformats.org/drawingml/2006/main">
              <a:ext uri="{FF2B5EF4-FFF2-40B4-BE49-F238E27FC236}">
                <a16:creationId xmlns:a16="http://schemas.microsoft.com/office/drawing/2014/main" id="{08BF4601-749A-41F1-B2C1-F1927D0730EB}"/>
              </a:ext>
            </a:extLst>
          </p:cNvPr>
          <p:cNvSpPr>
            <a:spLocks xmlns:a="http://schemas.openxmlformats.org/drawingml/2006/main" noGrp="1"/>
          </p:cNvSpPr>
          <p:nvPr/>
        </p:nvSpPr>
        <p:spPr>
          <a:xfrm xmlns:a="http://schemas.openxmlformats.org/drawingml/2006/main">
            <a:off x="7296150" y="1962150"/>
            <a:ext cx="476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i="0">
                <a:solidFill>
                  <a:srgbClr val="2E74B5"/>
                </a:solidFill>
              </a:defRPr>
            </a:pPr>
            <a:r>
              <a:rPr sz="825" b="1" i="0">
                <a:solidFill>
                  <a:srgbClr val="2E74B5"/>
                </a:solidFill>
              </a:rPr>
              <a:t>S-04</a:t>
            </a:r>
          </a:p>
        </p:txBody>
      </p:sp>
      <p:sp>
        <p:nvSpPr>
          <p:cNvPr id="24" name="">
            <a:extLst xmlns:a="http://schemas.openxmlformats.org/drawingml/2006/main">
              <a:ext uri="{FF2B5EF4-FFF2-40B4-BE49-F238E27FC236}">
                <a16:creationId xmlns:a16="http://schemas.microsoft.com/office/drawing/2014/main" id="{0E3179D4-B251-47A7-A9A1-6F9D564192DB}"/>
              </a:ext>
            </a:extLst>
          </p:cNvPr>
          <p:cNvSpPr>
            <a:spLocks xmlns:a="http://schemas.openxmlformats.org/drawingml/2006/main" noGrp="1"/>
          </p:cNvSpPr>
          <p:nvPr/>
        </p:nvSpPr>
        <p:spPr>
          <a:xfrm xmlns:a="http://schemas.openxmlformats.org/drawingml/2006/main">
            <a:off x="7296150" y="2162175"/>
            <a:ext cx="17526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i="0">
                <a:solidFill>
                  <a:srgbClr val="17324D"/>
                </a:solidFill>
              </a:defRPr>
            </a:pPr>
            <a:r>
              <a:rPr sz="1275" b="1" i="0">
                <a:solidFill>
                  <a:srgbClr val="17324D"/>
                </a:solidFill>
              </a:rPr>
              <a:t>Check / decide</a:t>
            </a:r>
          </a:p>
        </p:txBody>
      </p:sp>
      <p:sp>
        <p:nvSpPr>
          <p:cNvPr id="25" name="">
            <a:extLst xmlns:a="http://schemas.openxmlformats.org/drawingml/2006/main">
              <a:ext uri="{FF2B5EF4-FFF2-40B4-BE49-F238E27FC236}">
                <a16:creationId xmlns:a16="http://schemas.microsoft.com/office/drawing/2014/main" id="{B2B7356A-31BA-4F8B-A63E-278C228DEE39}"/>
              </a:ext>
            </a:extLst>
          </p:cNvPr>
          <p:cNvSpPr>
            <a:spLocks xmlns:a="http://schemas.openxmlformats.org/drawingml/2006/main" noGrp="1"/>
          </p:cNvSpPr>
          <p:nvPr/>
        </p:nvSpPr>
        <p:spPr>
          <a:xfrm xmlns:a="http://schemas.openxmlformats.org/drawingml/2006/main">
            <a:off x="7296150" y="3000375"/>
            <a:ext cx="17526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i="0">
                <a:solidFill>
                  <a:srgbClr val="66717E"/>
                </a:solidFill>
              </a:defRPr>
            </a:pPr>
            <a:r>
              <a:rPr sz="825" b="0" i="0">
                <a:solidFill>
                  <a:srgbClr val="66717E"/>
                </a:solidFill>
              </a:rPr>
              <a:t>[Role]</a:t>
            </a:r>
          </a:p>
        </p:txBody>
      </p:sp>
      <p:sp>
        <p:nvSpPr>
          <p:cNvPr id="26" name="">
            <a:extLst xmlns:a="http://schemas.openxmlformats.org/drawingml/2006/main">
              <a:ext uri="{FF2B5EF4-FFF2-40B4-BE49-F238E27FC236}">
                <a16:creationId xmlns:a16="http://schemas.microsoft.com/office/drawing/2014/main" id="{C105788A-2E0A-45AA-8621-FFA9C3B6FA4B}"/>
              </a:ext>
            </a:extLst>
          </p:cNvPr>
          <p:cNvSpPr>
            <a:spLocks xmlns:a="http://schemas.openxmlformats.org/drawingml/2006/main" noGrp="1"/>
          </p:cNvSpPr>
          <p:nvPr/>
        </p:nvSpPr>
        <p:spPr>
          <a:xfrm xmlns:a="http://schemas.openxmlformats.org/drawingml/2006/main">
            <a:off x="9372600" y="1885950"/>
            <a:ext cx="1981200" cy="1371600"/>
          </a:xfrm>
          <a:prstGeom xmlns:a="http://schemas.openxmlformats.org/drawingml/2006/main" prst="roundRect">
            <a:avLst>
              <a:gd name="adj" fmla="val 5556"/>
            </a:avLst>
          </a:prstGeom>
          <a:solidFill xmlns:a="http://schemas.openxmlformats.org/drawingml/2006/main">
            <a:srgbClr val="FFFFFF"/>
          </a:solidFill>
          <a:ln xmlns:a="http://schemas.openxmlformats.org/drawingml/2006/main" w="9525">
            <a:solidFill>
              <a:srgbClr val="C9D2DC"/>
            </a:solidFill>
            <a:prstDash val="solid"/>
          </a:ln>
        </p:spPr>
      </p:sp>
      <p:sp>
        <p:nvSpPr>
          <p:cNvPr id="27" name="">
            <a:extLst xmlns:a="http://schemas.openxmlformats.org/drawingml/2006/main">
              <a:ext uri="{FF2B5EF4-FFF2-40B4-BE49-F238E27FC236}">
                <a16:creationId xmlns:a16="http://schemas.microsoft.com/office/drawing/2014/main" id="{CEA60C0B-B20D-4857-A58A-4FD362845C60}"/>
              </a:ext>
            </a:extLst>
          </p:cNvPr>
          <p:cNvSpPr>
            <a:spLocks xmlns:a="http://schemas.openxmlformats.org/drawingml/2006/main" noGrp="1"/>
          </p:cNvSpPr>
          <p:nvPr/>
        </p:nvSpPr>
        <p:spPr>
          <a:xfrm xmlns:a="http://schemas.openxmlformats.org/drawingml/2006/main">
            <a:off x="9486900" y="1962150"/>
            <a:ext cx="476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i="0">
                <a:solidFill>
                  <a:srgbClr val="2E74B5"/>
                </a:solidFill>
              </a:defRPr>
            </a:pPr>
            <a:r>
              <a:rPr sz="825" b="1" i="0">
                <a:solidFill>
                  <a:srgbClr val="2E74B5"/>
                </a:solidFill>
              </a:rPr>
              <a:t>S-05</a:t>
            </a:r>
          </a:p>
        </p:txBody>
      </p:sp>
      <p:sp>
        <p:nvSpPr>
          <p:cNvPr id="28" name="">
            <a:extLst xmlns:a="http://schemas.openxmlformats.org/drawingml/2006/main">
              <a:ext uri="{FF2B5EF4-FFF2-40B4-BE49-F238E27FC236}">
                <a16:creationId xmlns:a16="http://schemas.microsoft.com/office/drawing/2014/main" id="{AB417A06-6D0F-4361-90DC-040CC049198C}"/>
              </a:ext>
            </a:extLst>
          </p:cNvPr>
          <p:cNvSpPr>
            <a:spLocks xmlns:a="http://schemas.openxmlformats.org/drawingml/2006/main" noGrp="1"/>
          </p:cNvSpPr>
          <p:nvPr/>
        </p:nvSpPr>
        <p:spPr>
          <a:xfrm xmlns:a="http://schemas.openxmlformats.org/drawingml/2006/main">
            <a:off x="9486900" y="2162175"/>
            <a:ext cx="17526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i="0">
                <a:solidFill>
                  <a:srgbClr val="17324D"/>
                </a:solidFill>
              </a:defRPr>
            </a:pPr>
            <a:r>
              <a:rPr sz="1275" b="1" i="0">
                <a:solidFill>
                  <a:srgbClr val="17324D"/>
                </a:solidFill>
              </a:rPr>
              <a:t>Handover</a:t>
            </a:r>
          </a:p>
        </p:txBody>
      </p:sp>
      <p:sp>
        <p:nvSpPr>
          <p:cNvPr id="29" name="">
            <a:extLst xmlns:a="http://schemas.openxmlformats.org/drawingml/2006/main">
              <a:ext uri="{FF2B5EF4-FFF2-40B4-BE49-F238E27FC236}">
                <a16:creationId xmlns:a16="http://schemas.microsoft.com/office/drawing/2014/main" id="{3ECDC503-67C5-4ABF-B86B-ACDBC099D5C2}"/>
              </a:ext>
            </a:extLst>
          </p:cNvPr>
          <p:cNvSpPr>
            <a:spLocks xmlns:a="http://schemas.openxmlformats.org/drawingml/2006/main" noGrp="1"/>
          </p:cNvSpPr>
          <p:nvPr/>
        </p:nvSpPr>
        <p:spPr>
          <a:xfrm xmlns:a="http://schemas.openxmlformats.org/drawingml/2006/main">
            <a:off x="9486900" y="3000375"/>
            <a:ext cx="17526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i="0">
                <a:solidFill>
                  <a:srgbClr val="66717E"/>
                </a:solidFill>
              </a:defRPr>
            </a:pPr>
            <a:r>
              <a:rPr sz="825" b="0" i="0">
                <a:solidFill>
                  <a:srgbClr val="66717E"/>
                </a:solidFill>
              </a:rPr>
              <a:t>[Role]</a:t>
            </a:r>
          </a:p>
        </p:txBody>
      </p:sp>
      <p:sp>
        <p:nvSpPr>
          <p:cNvPr id="30" name="">
            <a:extLst xmlns:a="http://schemas.openxmlformats.org/drawingml/2006/main">
              <a:ext uri="{FF2B5EF4-FFF2-40B4-BE49-F238E27FC236}">
                <a16:creationId xmlns:a16="http://schemas.microsoft.com/office/drawing/2014/main" id="{D7E4ED2A-48C3-4297-BB7E-E379BA728E5C}"/>
              </a:ext>
            </a:extLst>
          </p:cNvPr>
          <p:cNvSpPr>
            <a:spLocks xmlns:a="http://schemas.openxmlformats.org/drawingml/2006/main" noGrp="1"/>
          </p:cNvSpPr>
          <p:nvPr/>
        </p:nvSpPr>
        <p:spPr>
          <a:xfrm xmlns:a="http://schemas.openxmlformats.org/drawingml/2006/main">
            <a:off x="609600" y="3695700"/>
            <a:ext cx="3390900" cy="1885950"/>
          </a:xfrm>
          <a:prstGeom xmlns:a="http://schemas.openxmlformats.org/drawingml/2006/main" prst="roundRect">
            <a:avLst>
              <a:gd name="adj" fmla="val 4040"/>
            </a:avLst>
          </a:prstGeom>
          <a:solidFill xmlns:a="http://schemas.openxmlformats.org/drawingml/2006/main">
            <a:srgbClr val="FCE8E6"/>
          </a:solidFill>
          <a:ln xmlns:a="http://schemas.openxmlformats.org/drawingml/2006/main" w="9525">
            <a:solidFill>
              <a:srgbClr val="C9D2DC"/>
            </a:solidFill>
            <a:prstDash val="solid"/>
          </a:ln>
        </p:spPr>
      </p:sp>
      <p:sp>
        <p:nvSpPr>
          <p:cNvPr id="31" name="">
            <a:extLst xmlns:a="http://schemas.openxmlformats.org/drawingml/2006/main">
              <a:ext uri="{FF2B5EF4-FFF2-40B4-BE49-F238E27FC236}">
                <a16:creationId xmlns:a16="http://schemas.microsoft.com/office/drawing/2014/main" id="{ED914D7D-C51A-4C02-BC05-D7F3999AEE25}"/>
              </a:ext>
            </a:extLst>
          </p:cNvPr>
          <p:cNvSpPr>
            <a:spLocks xmlns:a="http://schemas.openxmlformats.org/drawingml/2006/main" noGrp="1"/>
          </p:cNvSpPr>
          <p:nvPr/>
        </p:nvSpPr>
        <p:spPr>
          <a:xfrm xmlns:a="http://schemas.openxmlformats.org/drawingml/2006/main">
            <a:off x="609600" y="3695700"/>
            <a:ext cx="76200" cy="1885950"/>
          </a:xfrm>
          <a:prstGeom xmlns:a="http://schemas.openxmlformats.org/drawingml/2006/main" prst="rect">
            <a:avLst/>
          </a:prstGeom>
          <a:solidFill xmlns:a="http://schemas.openxmlformats.org/drawingml/2006/main">
            <a:srgbClr val="B54B4B"/>
          </a:solidFill>
          <a:ln xmlns:a="http://schemas.openxmlformats.org/drawingml/2006/main" w="0">
            <a:solidFill>
              <a:srgbClr val="B54B4B"/>
            </a:solidFill>
            <a:prstDash val="solid"/>
          </a:ln>
        </p:spPr>
      </p:sp>
      <p:sp>
        <p:nvSpPr>
          <p:cNvPr id="32" name="">
            <a:extLst xmlns:a="http://schemas.openxmlformats.org/drawingml/2006/main">
              <a:ext uri="{FF2B5EF4-FFF2-40B4-BE49-F238E27FC236}">
                <a16:creationId xmlns:a16="http://schemas.microsoft.com/office/drawing/2014/main" id="{A4530FBC-8C0F-464F-AB8D-31A0E4B3FE2D}"/>
              </a:ext>
            </a:extLst>
          </p:cNvPr>
          <p:cNvSpPr>
            <a:spLocks xmlns:a="http://schemas.openxmlformats.org/drawingml/2006/main" noGrp="1"/>
          </p:cNvSpPr>
          <p:nvPr/>
        </p:nvSpPr>
        <p:spPr>
          <a:xfrm xmlns:a="http://schemas.openxmlformats.org/drawingml/2006/main">
            <a:off x="819150" y="3829050"/>
            <a:ext cx="3048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1" i="0">
                <a:solidFill>
                  <a:srgbClr val="17324D"/>
                </a:solidFill>
              </a:defRPr>
            </a:pPr>
            <a:r>
              <a:rPr sz="1350" b="1" i="0">
                <a:solidFill>
                  <a:srgbClr val="17324D"/>
                </a:solidFill>
              </a:rPr>
              <a:t>Observed friction</a:t>
            </a:r>
          </a:p>
        </p:txBody>
      </p:sp>
      <p:sp>
        <p:nvSpPr>
          <p:cNvPr id="33" name="">
            <a:extLst xmlns:a="http://schemas.openxmlformats.org/drawingml/2006/main">
              <a:ext uri="{FF2B5EF4-FFF2-40B4-BE49-F238E27FC236}">
                <a16:creationId xmlns:a16="http://schemas.microsoft.com/office/drawing/2014/main" id="{755B06FB-9D1C-4F57-9D84-14756FB54804}"/>
              </a:ext>
            </a:extLst>
          </p:cNvPr>
          <p:cNvSpPr>
            <a:spLocks xmlns:a="http://schemas.openxmlformats.org/drawingml/2006/main" noGrp="1"/>
          </p:cNvSpPr>
          <p:nvPr/>
        </p:nvSpPr>
        <p:spPr>
          <a:xfrm xmlns:a="http://schemas.openxmlformats.org/drawingml/2006/main">
            <a:off x="819150" y="4124325"/>
            <a:ext cx="3028950"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i="0">
                <a:solidFill>
                  <a:srgbClr val="20262E"/>
                </a:solidFill>
              </a:defRPr>
            </a:pPr>
            <a:r>
              <a:rPr sz="1275" b="0" i="0">
                <a:solidFill>
                  <a:srgbClr val="20262E"/>
                </a:solidFill>
              </a:rPr>
              <a:t>P-01  [Delay / rework / ambiguity]</a:t>
            </a:r>
          </a:p>
          <a:p xmlns:a="http://schemas.openxmlformats.org/drawingml/2006/main">
            <a:pPr algn="l">
              <a:defRPr sz="1275" b="0" i="0">
                <a:solidFill>
                  <a:srgbClr val="20262E"/>
                </a:solidFill>
              </a:defRPr>
            </a:pPr>
            <a:r>
              <a:rPr sz="1275" b="0" i="0">
                <a:solidFill>
                  <a:srgbClr val="20262E"/>
                </a:solidFill>
              </a:rPr>
              <a:t>P-02  [Manual transfer / duplicate entry]</a:t>
            </a:r>
          </a:p>
          <a:p xmlns:a="http://schemas.openxmlformats.org/drawingml/2006/main">
            <a:pPr algn="l">
              <a:defRPr sz="1275" b="0" i="0">
                <a:solidFill>
                  <a:srgbClr val="20262E"/>
                </a:solidFill>
              </a:defRPr>
            </a:pPr>
            <a:r>
              <a:rPr sz="1275" b="0" i="0">
                <a:solidFill>
                  <a:srgbClr val="20262E"/>
                </a:solidFill>
              </a:rPr>
              <a:t>P-03  [Missing ownership / control]</a:t>
            </a:r>
          </a:p>
        </p:txBody>
      </p:sp>
      <p:sp>
        <p:nvSpPr>
          <p:cNvPr id="34" name="">
            <a:extLst xmlns:a="http://schemas.openxmlformats.org/drawingml/2006/main">
              <a:ext uri="{FF2B5EF4-FFF2-40B4-BE49-F238E27FC236}">
                <a16:creationId xmlns:a16="http://schemas.microsoft.com/office/drawing/2014/main" id="{40270C28-2EB3-415F-8013-49001CB8392A}"/>
              </a:ext>
            </a:extLst>
          </p:cNvPr>
          <p:cNvSpPr>
            <a:spLocks xmlns:a="http://schemas.openxmlformats.org/drawingml/2006/main" noGrp="1"/>
          </p:cNvSpPr>
          <p:nvPr/>
        </p:nvSpPr>
        <p:spPr>
          <a:xfrm xmlns:a="http://schemas.openxmlformats.org/drawingml/2006/main">
            <a:off x="4229100" y="3695700"/>
            <a:ext cx="3390900" cy="1885950"/>
          </a:xfrm>
          <a:prstGeom xmlns:a="http://schemas.openxmlformats.org/drawingml/2006/main" prst="roundRect">
            <a:avLst>
              <a:gd name="adj" fmla="val 4040"/>
            </a:avLst>
          </a:prstGeom>
          <a:solidFill xmlns:a="http://schemas.openxmlformats.org/drawingml/2006/main">
            <a:srgbClr val="FFF4CE"/>
          </a:solidFill>
          <a:ln xmlns:a="http://schemas.openxmlformats.org/drawingml/2006/main" w="9525">
            <a:solidFill>
              <a:srgbClr val="C9D2DC"/>
            </a:solidFill>
            <a:prstDash val="solid"/>
          </a:ln>
        </p:spPr>
      </p:sp>
      <p:sp>
        <p:nvSpPr>
          <p:cNvPr id="35" name="">
            <a:extLst xmlns:a="http://schemas.openxmlformats.org/drawingml/2006/main">
              <a:ext uri="{FF2B5EF4-FFF2-40B4-BE49-F238E27FC236}">
                <a16:creationId xmlns:a16="http://schemas.microsoft.com/office/drawing/2014/main" id="{4AC56C53-A57C-44D6-A110-1BDEA88E4C42}"/>
              </a:ext>
            </a:extLst>
          </p:cNvPr>
          <p:cNvSpPr>
            <a:spLocks xmlns:a="http://schemas.openxmlformats.org/drawingml/2006/main" noGrp="1"/>
          </p:cNvSpPr>
          <p:nvPr/>
        </p:nvSpPr>
        <p:spPr>
          <a:xfrm xmlns:a="http://schemas.openxmlformats.org/drawingml/2006/main">
            <a:off x="4229100" y="3695700"/>
            <a:ext cx="76200" cy="1885950"/>
          </a:xfrm>
          <a:prstGeom xmlns:a="http://schemas.openxmlformats.org/drawingml/2006/main" prst="rect">
            <a:avLst/>
          </a:prstGeom>
          <a:solidFill xmlns:a="http://schemas.openxmlformats.org/drawingml/2006/main">
            <a:srgbClr val="F5C451"/>
          </a:solidFill>
          <a:ln xmlns:a="http://schemas.openxmlformats.org/drawingml/2006/main" w="0">
            <a:solidFill>
              <a:srgbClr val="F5C451"/>
            </a:solidFill>
            <a:prstDash val="solid"/>
          </a:ln>
        </p:spPr>
      </p:sp>
      <p:sp>
        <p:nvSpPr>
          <p:cNvPr id="36" name="">
            <a:extLst xmlns:a="http://schemas.openxmlformats.org/drawingml/2006/main">
              <a:ext uri="{FF2B5EF4-FFF2-40B4-BE49-F238E27FC236}">
                <a16:creationId xmlns:a16="http://schemas.microsoft.com/office/drawing/2014/main" id="{B6716CDE-AAC0-4C9A-B200-AA3446EFDF99}"/>
              </a:ext>
            </a:extLst>
          </p:cNvPr>
          <p:cNvSpPr>
            <a:spLocks xmlns:a="http://schemas.openxmlformats.org/drawingml/2006/main" noGrp="1"/>
          </p:cNvSpPr>
          <p:nvPr/>
        </p:nvSpPr>
        <p:spPr>
          <a:xfrm xmlns:a="http://schemas.openxmlformats.org/drawingml/2006/main">
            <a:off x="4438650" y="3829050"/>
            <a:ext cx="3048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1" i="0">
                <a:solidFill>
                  <a:srgbClr val="17324D"/>
                </a:solidFill>
              </a:defRPr>
            </a:pPr>
            <a:r>
              <a:rPr sz="1350" b="1" i="0">
                <a:solidFill>
                  <a:srgbClr val="17324D"/>
                </a:solidFill>
              </a:rPr>
              <a:t>Material handover</a:t>
            </a:r>
          </a:p>
        </p:txBody>
      </p:sp>
      <p:sp>
        <p:nvSpPr>
          <p:cNvPr id="37" name="">
            <a:extLst xmlns:a="http://schemas.openxmlformats.org/drawingml/2006/main">
              <a:ext uri="{FF2B5EF4-FFF2-40B4-BE49-F238E27FC236}">
                <a16:creationId xmlns:a16="http://schemas.microsoft.com/office/drawing/2014/main" id="{3D1FD162-7E6D-428D-85E2-51338F0D7992}"/>
              </a:ext>
            </a:extLst>
          </p:cNvPr>
          <p:cNvSpPr>
            <a:spLocks xmlns:a="http://schemas.openxmlformats.org/drawingml/2006/main" noGrp="1"/>
          </p:cNvSpPr>
          <p:nvPr/>
        </p:nvSpPr>
        <p:spPr>
          <a:xfrm xmlns:a="http://schemas.openxmlformats.org/drawingml/2006/main">
            <a:off x="4438650" y="4124325"/>
            <a:ext cx="3028950"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i="0">
                <a:solidFill>
                  <a:srgbClr val="20262E"/>
                </a:solidFill>
              </a:defRPr>
            </a:pPr>
            <a:r>
              <a:rPr sz="1200" b="0" i="0">
                <a:solidFill>
                  <a:srgbClr val="20262E"/>
                </a:solidFill>
              </a:rPr>
              <a:t>FROM  [Role]</a:t>
            </a:r>
          </a:p>
          <a:p xmlns:a="http://schemas.openxmlformats.org/drawingml/2006/main">
            <a:pPr algn="l">
              <a:defRPr sz="1200" b="0" i="0">
                <a:solidFill>
                  <a:srgbClr val="20262E"/>
                </a:solidFill>
              </a:defRPr>
            </a:pPr>
            <a:r>
              <a:rPr sz="1200" b="0" i="0">
                <a:solidFill>
                  <a:srgbClr val="20262E"/>
                </a:solidFill>
              </a:rPr>
              <a:t>TO  [Role]</a:t>
            </a:r>
          </a:p>
          <a:p xmlns:a="http://schemas.openxmlformats.org/drawingml/2006/main">
            <a:r>
              <a:t/>
            </a:r>
          </a:p>
          <a:p xmlns:a="http://schemas.openxmlformats.org/drawingml/2006/main">
            <a:pPr algn="l">
              <a:defRPr sz="1200" b="0" i="0">
                <a:solidFill>
                  <a:srgbClr val="20262E"/>
                </a:solidFill>
              </a:defRPr>
            </a:pPr>
            <a:r>
              <a:rPr sz="1200" b="0" i="0">
                <a:solidFill>
                  <a:srgbClr val="20262E"/>
                </a:solidFill>
              </a:rPr>
              <a:t>Information required: [fields / evidence]</a:t>
            </a:r>
          </a:p>
          <a:p xmlns:a="http://schemas.openxmlformats.org/drawingml/2006/main">
            <a:pPr algn="l">
              <a:defRPr sz="1200" b="0" i="0">
                <a:solidFill>
                  <a:srgbClr val="20262E"/>
                </a:solidFill>
              </a:defRPr>
            </a:pPr>
            <a:r>
              <a:rPr sz="1200" b="0" i="0">
                <a:solidFill>
                  <a:srgbClr val="20262E"/>
                </a:solidFill>
              </a:rPr>
              <a:t>Failure mode: [what is lost or delayed]</a:t>
            </a:r>
          </a:p>
        </p:txBody>
      </p:sp>
      <p:sp>
        <p:nvSpPr>
          <p:cNvPr id="38" name="">
            <a:extLst xmlns:a="http://schemas.openxmlformats.org/drawingml/2006/main">
              <a:ext uri="{FF2B5EF4-FFF2-40B4-BE49-F238E27FC236}">
                <a16:creationId xmlns:a16="http://schemas.microsoft.com/office/drawing/2014/main" id="{0B76480D-3031-458A-BC9A-F50DE83DEA6D}"/>
              </a:ext>
            </a:extLst>
          </p:cNvPr>
          <p:cNvSpPr>
            <a:spLocks xmlns:a="http://schemas.openxmlformats.org/drawingml/2006/main" noGrp="1"/>
          </p:cNvSpPr>
          <p:nvPr/>
        </p:nvSpPr>
        <p:spPr>
          <a:xfrm xmlns:a="http://schemas.openxmlformats.org/drawingml/2006/main">
            <a:off x="7848600" y="3695700"/>
            <a:ext cx="3733800" cy="1885950"/>
          </a:xfrm>
          <a:prstGeom xmlns:a="http://schemas.openxmlformats.org/drawingml/2006/main" prst="roundRect">
            <a:avLst>
              <a:gd name="adj" fmla="val 4040"/>
            </a:avLst>
          </a:prstGeom>
          <a:solidFill xmlns:a="http://schemas.openxmlformats.org/drawingml/2006/main">
            <a:srgbClr val="E8F3EC"/>
          </a:solidFill>
          <a:ln xmlns:a="http://schemas.openxmlformats.org/drawingml/2006/main" w="9525">
            <a:solidFill>
              <a:srgbClr val="C9D2DC"/>
            </a:solidFill>
            <a:prstDash val="solid"/>
          </a:ln>
        </p:spPr>
      </p:sp>
      <p:sp>
        <p:nvSpPr>
          <p:cNvPr id="39" name="">
            <a:extLst xmlns:a="http://schemas.openxmlformats.org/drawingml/2006/main">
              <a:ext uri="{FF2B5EF4-FFF2-40B4-BE49-F238E27FC236}">
                <a16:creationId xmlns:a16="http://schemas.microsoft.com/office/drawing/2014/main" id="{17BA9DA0-57EA-4C6E-AE7A-2F8D49605F94}"/>
              </a:ext>
            </a:extLst>
          </p:cNvPr>
          <p:cNvSpPr>
            <a:spLocks xmlns:a="http://schemas.openxmlformats.org/drawingml/2006/main" noGrp="1"/>
          </p:cNvSpPr>
          <p:nvPr/>
        </p:nvSpPr>
        <p:spPr>
          <a:xfrm xmlns:a="http://schemas.openxmlformats.org/drawingml/2006/main">
            <a:off x="7848600" y="3695700"/>
            <a:ext cx="76200" cy="1885950"/>
          </a:xfrm>
          <a:prstGeom xmlns:a="http://schemas.openxmlformats.org/drawingml/2006/main" prst="rect">
            <a:avLst/>
          </a:prstGeom>
          <a:solidFill xmlns:a="http://schemas.openxmlformats.org/drawingml/2006/main">
            <a:srgbClr val="2E7D5B"/>
          </a:solidFill>
          <a:ln xmlns:a="http://schemas.openxmlformats.org/drawingml/2006/main" w="0">
            <a:solidFill>
              <a:srgbClr val="2E7D5B"/>
            </a:solidFill>
            <a:prstDash val="solid"/>
          </a:ln>
        </p:spPr>
      </p:sp>
      <p:sp>
        <p:nvSpPr>
          <p:cNvPr id="40" name="">
            <a:extLst xmlns:a="http://schemas.openxmlformats.org/drawingml/2006/main">
              <a:ext uri="{FF2B5EF4-FFF2-40B4-BE49-F238E27FC236}">
                <a16:creationId xmlns:a16="http://schemas.microsoft.com/office/drawing/2014/main" id="{F7FF5F74-9E3C-42F6-9132-994205870F11}"/>
              </a:ext>
            </a:extLst>
          </p:cNvPr>
          <p:cNvSpPr>
            <a:spLocks xmlns:a="http://schemas.openxmlformats.org/drawingml/2006/main" noGrp="1"/>
          </p:cNvSpPr>
          <p:nvPr/>
        </p:nvSpPr>
        <p:spPr>
          <a:xfrm xmlns:a="http://schemas.openxmlformats.org/drawingml/2006/main">
            <a:off x="8058150" y="3829050"/>
            <a:ext cx="33909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1" i="0">
                <a:solidFill>
                  <a:srgbClr val="17324D"/>
                </a:solidFill>
              </a:defRPr>
            </a:pPr>
            <a:r>
              <a:rPr sz="1350" b="1" i="0">
                <a:solidFill>
                  <a:srgbClr val="17324D"/>
                </a:solidFill>
              </a:rPr>
              <a:t>Human control</a:t>
            </a:r>
          </a:p>
        </p:txBody>
      </p:sp>
      <p:sp>
        <p:nvSpPr>
          <p:cNvPr id="41" name="">
            <a:extLst xmlns:a="http://schemas.openxmlformats.org/drawingml/2006/main">
              <a:ext uri="{FF2B5EF4-FFF2-40B4-BE49-F238E27FC236}">
                <a16:creationId xmlns:a16="http://schemas.microsoft.com/office/drawing/2014/main" id="{29691220-0FBF-4916-BA2C-41775EBD0DAB}"/>
              </a:ext>
            </a:extLst>
          </p:cNvPr>
          <p:cNvSpPr>
            <a:spLocks xmlns:a="http://schemas.openxmlformats.org/drawingml/2006/main" noGrp="1"/>
          </p:cNvSpPr>
          <p:nvPr/>
        </p:nvSpPr>
        <p:spPr>
          <a:xfrm xmlns:a="http://schemas.openxmlformats.org/drawingml/2006/main">
            <a:off x="8058150" y="4124325"/>
            <a:ext cx="3371850"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i="0">
                <a:solidFill>
                  <a:srgbClr val="20262E"/>
                </a:solidFill>
              </a:defRPr>
            </a:pPr>
            <a:r>
              <a:rPr sz="1200" b="0" i="0">
                <a:solidFill>
                  <a:srgbClr val="20262E"/>
                </a:solidFill>
              </a:rPr>
              <a:t>Decision: [what]</a:t>
            </a:r>
          </a:p>
          <a:p xmlns:a="http://schemas.openxmlformats.org/drawingml/2006/main">
            <a:pPr algn="l">
              <a:defRPr sz="1200" b="0" i="0">
                <a:solidFill>
                  <a:srgbClr val="20262E"/>
                </a:solidFill>
              </a:defRPr>
            </a:pPr>
            <a:r>
              <a:rPr sz="1200" b="0" i="0">
                <a:solidFill>
                  <a:srgbClr val="20262E"/>
                </a:solidFill>
              </a:rPr>
              <a:t>Owner: [role]</a:t>
            </a:r>
          </a:p>
          <a:p xmlns:a="http://schemas.openxmlformats.org/drawingml/2006/main">
            <a:pPr algn="l">
              <a:defRPr sz="1200" b="0" i="0">
                <a:solidFill>
                  <a:srgbClr val="20262E"/>
                </a:solidFill>
              </a:defRPr>
            </a:pPr>
            <a:r>
              <a:rPr sz="1200" b="0" i="0">
                <a:solidFill>
                  <a:srgbClr val="20262E"/>
                </a:solidFill>
              </a:rPr>
              <a:t>Evidence: [record / status]</a:t>
            </a:r>
          </a:p>
          <a:p xmlns:a="http://schemas.openxmlformats.org/drawingml/2006/main">
            <a:pPr algn="l">
              <a:defRPr sz="1200" b="0" i="0">
                <a:solidFill>
                  <a:srgbClr val="20262E"/>
                </a:solidFill>
              </a:defRPr>
            </a:pPr>
            <a:r>
              <a:rPr sz="1200" b="0" i="0">
                <a:solidFill>
                  <a:srgbClr val="20262E"/>
                </a:solidFill>
              </a:rPr>
              <a:t>Exception: [where it goes]</a:t>
            </a:r>
          </a:p>
        </p:txBody>
      </p:sp>
    </p:spTree>
    <p:extLst>
      <p:ext uri="{BB962C8B-B14F-4D97-AF65-F5344CB8AC3E}">
        <p14:creationId xmlns:p14="http://schemas.microsoft.com/office/powerpoint/2010/main" val="1095771906"/>
      </p:ext>
    </p:extLst>
  </p:cSld>
</p:sld>
</file>

<file path=ppt/slides/slide6.xml><?xml version="1.0" encoding="utf-8"?>
<p:sld xmlns:p="http://schemas.openxmlformats.org/presentationml/2006/main">
  <p:cSld>
    <p:bg>
      <p:bgPr>
        <a:solidFill xmlns:a="http://schemas.openxmlformats.org/drawingml/2006/main">
          <a:srgbClr val="F7F9FB"/>
        </a:solidFill>
      </p:bgPr>
    </p:bg>
    <p:spTree>
      <p:nvGrpSpPr>
        <p:cNvPr id="1" name=""/>
        <p:cNvGrpSpPr/>
        <p:nvPr/>
      </p:nvGrpSpPr>
      <p:grpSpPr>
        <a:xfrm xmlns:a="http://schemas.openxmlformats.org/drawingml/2006/main"/>
      </p:grpSpPr>
      <p:sp>
        <p:nvSpPr>
          <p:cNvPr id="42" name="">
            <a:extLst xmlns:a="http://schemas.openxmlformats.org/drawingml/2006/main">
              <a:ext uri="{FF2B5EF4-FFF2-40B4-BE49-F238E27FC236}">
                <a16:creationId xmlns:a16="http://schemas.microsoft.com/office/drawing/2014/main" id="{3C0A3F6A-8082-45AA-9440-0C6305ADD265}"/>
              </a:ext>
            </a:extLst>
          </p:cNvPr>
          <p:cNvSpPr>
            <a:spLocks xmlns:a="http://schemas.openxmlformats.org/drawingml/2006/main" noGrp="1"/>
          </p:cNvSpPr>
          <p:nvPr/>
        </p:nvSpPr>
        <p:spPr>
          <a:xfrm xmlns:a="http://schemas.openxmlformats.org/drawingml/2006/main">
            <a:off x="609600" y="32385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i="0">
                <a:solidFill>
                  <a:srgbClr val="2E74B5"/>
                </a:solidFill>
              </a:defRPr>
            </a:pPr>
            <a:r>
              <a:rPr sz="900" b="1" i="0">
                <a:solidFill>
                  <a:srgbClr val="2E74B5"/>
                </a:solidFill>
              </a:rPr>
              <a:t>WORKFLOW MAP</a:t>
            </a:r>
          </a:p>
        </p:txBody>
      </p:sp>
      <p:sp>
        <p:nvSpPr>
          <p:cNvPr id="2" name="">
            <a:extLst xmlns:a="http://schemas.openxmlformats.org/drawingml/2006/main">
              <a:ext uri="{FF2B5EF4-FFF2-40B4-BE49-F238E27FC236}">
                <a16:creationId xmlns:a16="http://schemas.microsoft.com/office/drawing/2014/main" id="{107F6102-52B5-40A1-932E-E6DEB0A6E4C0}"/>
              </a:ext>
            </a:extLst>
          </p:cNvPr>
          <p:cNvSpPr>
            <a:spLocks xmlns:a="http://schemas.openxmlformats.org/drawingml/2006/main" noGrp="1"/>
          </p:cNvSpPr>
          <p:nvPr/>
        </p:nvSpPr>
        <p:spPr>
          <a:xfrm xmlns:a="http://schemas.openxmlformats.org/drawingml/2006/main">
            <a:off x="609600" y="552450"/>
            <a:ext cx="10287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550" b="1" i="0">
                <a:solidFill>
                  <a:srgbClr val="17324D"/>
                </a:solidFill>
              </a:defRPr>
            </a:pPr>
            <a:r>
              <a:rPr sz="2550" b="1" i="0">
                <a:solidFill>
                  <a:srgbClr val="17324D"/>
                </a:solidFill>
              </a:rPr>
              <a:t>Current state — ownership, system and exception path</a:t>
            </a:r>
          </a:p>
        </p:txBody>
      </p:sp>
      <p:sp>
        <p:nvSpPr>
          <p:cNvPr id="3" name="">
            <a:extLst xmlns:a="http://schemas.openxmlformats.org/drawingml/2006/main">
              <a:ext uri="{FF2B5EF4-FFF2-40B4-BE49-F238E27FC236}">
                <a16:creationId xmlns:a16="http://schemas.microsoft.com/office/drawing/2014/main" id="{590B7A99-4448-4F57-84A0-F3DCE6519EB9}"/>
              </a:ext>
            </a:extLst>
          </p:cNvPr>
          <p:cNvSpPr>
            <a:spLocks xmlns:a="http://schemas.openxmlformats.org/drawingml/2006/main" noGrp="1"/>
          </p:cNvSpPr>
          <p:nvPr/>
        </p:nvSpPr>
        <p:spPr>
          <a:xfrm xmlns:a="http://schemas.openxmlformats.org/drawingml/2006/main">
            <a:off x="609600" y="1143000"/>
            <a:ext cx="10972800" cy="19050"/>
          </a:xfrm>
          <a:prstGeom xmlns:a="http://schemas.openxmlformats.org/drawingml/2006/main" prst="rect">
            <a:avLst/>
          </a:prstGeom>
          <a:solidFill xmlns:a="http://schemas.openxmlformats.org/drawingml/2006/main">
            <a:srgbClr val="C9D2DC"/>
          </a:solidFill>
          <a:ln xmlns:a="http://schemas.openxmlformats.org/drawingml/2006/main" w="0">
            <a:solidFill>
              <a:srgbClr val="C9D2DC"/>
            </a:solidFill>
            <a:prstDash val="solid"/>
          </a:ln>
        </p:spPr>
      </p:sp>
      <p:sp>
        <p:nvSpPr>
          <p:cNvPr id="4" name="">
            <a:extLst xmlns:a="http://schemas.openxmlformats.org/drawingml/2006/main">
              <a:ext uri="{FF2B5EF4-FFF2-40B4-BE49-F238E27FC236}">
                <a16:creationId xmlns:a16="http://schemas.microsoft.com/office/drawing/2014/main" id="{4BD6FA40-044A-4672-8F9D-17D9574BB86A}"/>
              </a:ext>
            </a:extLst>
          </p:cNvPr>
          <p:cNvSpPr>
            <a:spLocks xmlns:a="http://schemas.openxmlformats.org/drawingml/2006/main" noGrp="1"/>
          </p:cNvSpPr>
          <p:nvPr/>
        </p:nvSpPr>
        <p:spPr>
          <a:xfrm xmlns:a="http://schemas.openxmlformats.org/drawingml/2006/main">
            <a:off x="609600" y="6505575"/>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50" b="1" i="0">
                <a:solidFill>
                  <a:srgbClr val="66717E"/>
                </a:solidFill>
              </a:defRPr>
            </a:pPr>
            <a:r>
              <a:rPr sz="750" b="1" i="0">
                <a:solidFill>
                  <a:srgbClr val="66717E"/>
                </a:solidFill>
              </a:rPr>
              <a:t>HEUTRIX  |  WORKFLOW DIAGNOSTIC</a:t>
            </a:r>
          </a:p>
        </p:txBody>
      </p:sp>
      <p:sp>
        <p:nvSpPr>
          <p:cNvPr id="5" name="">
            <a:extLst xmlns:a="http://schemas.openxmlformats.org/drawingml/2006/main">
              <a:ext uri="{FF2B5EF4-FFF2-40B4-BE49-F238E27FC236}">
                <a16:creationId xmlns:a16="http://schemas.microsoft.com/office/drawing/2014/main" id="{723365A0-A060-4B10-901C-24AF6677D34C}"/>
              </a:ext>
            </a:extLst>
          </p:cNvPr>
          <p:cNvSpPr>
            <a:spLocks xmlns:a="http://schemas.openxmlformats.org/drawingml/2006/main" noGrp="1"/>
          </p:cNvSpPr>
          <p:nvPr/>
        </p:nvSpPr>
        <p:spPr>
          <a:xfrm xmlns:a="http://schemas.openxmlformats.org/drawingml/2006/main">
            <a:off x="11096625" y="6477000"/>
            <a:ext cx="476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i="0">
                <a:solidFill>
                  <a:srgbClr val="66717E"/>
                </a:solidFill>
              </a:defRPr>
            </a:pPr>
            <a:r>
              <a:rPr sz="825" b="1" i="0">
                <a:solidFill>
                  <a:srgbClr val="66717E"/>
                </a:solidFill>
              </a:rPr>
              <a:t>06</a:t>
            </a:r>
          </a:p>
        </p:txBody>
      </p:sp>
      <p:sp>
        <p:nvSpPr>
          <p:cNvPr id="6" name="">
            <a:extLst xmlns:a="http://schemas.openxmlformats.org/drawingml/2006/main">
              <a:ext uri="{FF2B5EF4-FFF2-40B4-BE49-F238E27FC236}">
                <a16:creationId xmlns:a16="http://schemas.microsoft.com/office/drawing/2014/main" id="{87266263-BD2E-4D1E-AA1F-D037FF1E8FC8}"/>
              </a:ext>
            </a:extLst>
          </p:cNvPr>
          <p:cNvSpPr>
            <a:spLocks xmlns:a="http://schemas.openxmlformats.org/drawingml/2006/main" noGrp="1"/>
          </p:cNvSpPr>
          <p:nvPr/>
        </p:nvSpPr>
        <p:spPr>
          <a:xfrm xmlns:a="http://schemas.openxmlformats.org/drawingml/2006/main">
            <a:off x="609600" y="1581150"/>
            <a:ext cx="1428750" cy="1066800"/>
          </a:xfrm>
          <a:prstGeom xmlns:a="http://schemas.openxmlformats.org/drawingml/2006/main" prst="roundRect">
            <a:avLst>
              <a:gd name="adj" fmla="val 7143"/>
            </a:avLst>
          </a:prstGeom>
          <a:solidFill xmlns:a="http://schemas.openxmlformats.org/drawingml/2006/main">
            <a:srgbClr val="E8EEF5"/>
          </a:solidFill>
          <a:ln xmlns:a="http://schemas.openxmlformats.org/drawingml/2006/main" w="9525">
            <a:solidFill>
              <a:srgbClr val="C9D2DC"/>
            </a:solidFill>
            <a:prstDash val="solid"/>
          </a:ln>
        </p:spPr>
      </p:sp>
      <p:sp>
        <p:nvSpPr>
          <p:cNvPr id="7" name="">
            <a:extLst xmlns:a="http://schemas.openxmlformats.org/drawingml/2006/main">
              <a:ext uri="{FF2B5EF4-FFF2-40B4-BE49-F238E27FC236}">
                <a16:creationId xmlns:a16="http://schemas.microsoft.com/office/drawing/2014/main" id="{4B227B0C-2A66-449A-AA91-4782266A67F8}"/>
              </a:ext>
            </a:extLst>
          </p:cNvPr>
          <p:cNvSpPr>
            <a:spLocks xmlns:a="http://schemas.openxmlformats.org/drawingml/2006/main" noGrp="1"/>
          </p:cNvSpPr>
          <p:nvPr/>
        </p:nvSpPr>
        <p:spPr>
          <a:xfrm xmlns:a="http://schemas.openxmlformats.org/drawingml/2006/main">
            <a:off x="742950" y="1905000"/>
            <a:ext cx="1162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75" b="1" i="0">
                <a:solidFill>
                  <a:srgbClr val="17324D"/>
                </a:solidFill>
              </a:defRPr>
            </a:pPr>
            <a:r>
              <a:rPr sz="975" b="1" i="0">
                <a:solidFill>
                  <a:srgbClr val="17324D"/>
                </a:solidFill>
              </a:rPr>
              <a:t>REQUESTER / CLIENT</a:t>
            </a:r>
          </a:p>
        </p:txBody>
      </p:sp>
      <p:sp>
        <p:nvSpPr>
          <p:cNvPr id="8" name="">
            <a:extLst xmlns:a="http://schemas.openxmlformats.org/drawingml/2006/main">
              <a:ext uri="{FF2B5EF4-FFF2-40B4-BE49-F238E27FC236}">
                <a16:creationId xmlns:a16="http://schemas.microsoft.com/office/drawing/2014/main" id="{ADEE642F-8852-4384-896D-BDB1534F89B0}"/>
              </a:ext>
            </a:extLst>
          </p:cNvPr>
          <p:cNvSpPr>
            <a:spLocks xmlns:a="http://schemas.openxmlformats.org/drawingml/2006/main" noGrp="1"/>
          </p:cNvSpPr>
          <p:nvPr/>
        </p:nvSpPr>
        <p:spPr>
          <a:xfrm xmlns:a="http://schemas.openxmlformats.org/drawingml/2006/main">
            <a:off x="2152650" y="1581150"/>
            <a:ext cx="942975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9D2DC"/>
            </a:solidFill>
            <a:prstDash val="solid"/>
          </a:ln>
        </p:spPr>
      </p:sp>
      <p:sp>
        <p:nvSpPr>
          <p:cNvPr id="9" name="">
            <a:extLst xmlns:a="http://schemas.openxmlformats.org/drawingml/2006/main">
              <a:ext uri="{FF2B5EF4-FFF2-40B4-BE49-F238E27FC236}">
                <a16:creationId xmlns:a16="http://schemas.microsoft.com/office/drawing/2014/main" id="{EB26C637-E27C-4269-AC23-5501096962A8}"/>
              </a:ext>
            </a:extLst>
          </p:cNvPr>
          <p:cNvSpPr>
            <a:spLocks xmlns:a="http://schemas.openxmlformats.org/drawingml/2006/main" noGrp="1"/>
          </p:cNvSpPr>
          <p:nvPr/>
        </p:nvSpPr>
        <p:spPr>
          <a:xfrm xmlns:a="http://schemas.openxmlformats.org/drawingml/2006/main">
            <a:off x="609600" y="2876550"/>
            <a:ext cx="1428750" cy="1066800"/>
          </a:xfrm>
          <a:prstGeom xmlns:a="http://schemas.openxmlformats.org/drawingml/2006/main" prst="roundRect">
            <a:avLst>
              <a:gd name="adj" fmla="val 7143"/>
            </a:avLst>
          </a:prstGeom>
          <a:solidFill xmlns:a="http://schemas.openxmlformats.org/drawingml/2006/main">
            <a:srgbClr val="17324D"/>
          </a:solidFill>
          <a:ln xmlns:a="http://schemas.openxmlformats.org/drawingml/2006/main" w="9525">
            <a:solidFill>
              <a:srgbClr val="17324D"/>
            </a:solidFill>
            <a:prstDash val="solid"/>
          </a:ln>
        </p:spPr>
      </p:sp>
      <p:sp>
        <p:nvSpPr>
          <p:cNvPr id="10" name="">
            <a:extLst xmlns:a="http://schemas.openxmlformats.org/drawingml/2006/main">
              <a:ext uri="{FF2B5EF4-FFF2-40B4-BE49-F238E27FC236}">
                <a16:creationId xmlns:a16="http://schemas.microsoft.com/office/drawing/2014/main" id="{F5763B11-844E-4264-A0D3-6DCE508C8EE9}"/>
              </a:ext>
            </a:extLst>
          </p:cNvPr>
          <p:cNvSpPr>
            <a:spLocks xmlns:a="http://schemas.openxmlformats.org/drawingml/2006/main" noGrp="1"/>
          </p:cNvSpPr>
          <p:nvPr/>
        </p:nvSpPr>
        <p:spPr>
          <a:xfrm xmlns:a="http://schemas.openxmlformats.org/drawingml/2006/main">
            <a:off x="742950" y="3200400"/>
            <a:ext cx="1162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75" b="1" i="0">
                <a:solidFill>
                  <a:srgbClr val="FFFFFF"/>
                </a:solidFill>
              </a:defRPr>
            </a:pPr>
            <a:r>
              <a:rPr sz="975" b="1" i="0">
                <a:solidFill>
                  <a:srgbClr val="FFFFFF"/>
                </a:solidFill>
              </a:rPr>
              <a:t>OPERATIONS</a:t>
            </a:r>
          </a:p>
        </p:txBody>
      </p:sp>
      <p:sp>
        <p:nvSpPr>
          <p:cNvPr id="11" name="">
            <a:extLst xmlns:a="http://schemas.openxmlformats.org/drawingml/2006/main">
              <a:ext uri="{FF2B5EF4-FFF2-40B4-BE49-F238E27FC236}">
                <a16:creationId xmlns:a16="http://schemas.microsoft.com/office/drawing/2014/main" id="{FA4085A3-2794-4193-9C89-6CD8AC5F5136}"/>
              </a:ext>
            </a:extLst>
          </p:cNvPr>
          <p:cNvSpPr>
            <a:spLocks xmlns:a="http://schemas.openxmlformats.org/drawingml/2006/main" noGrp="1"/>
          </p:cNvSpPr>
          <p:nvPr/>
        </p:nvSpPr>
        <p:spPr>
          <a:xfrm xmlns:a="http://schemas.openxmlformats.org/drawingml/2006/main">
            <a:off x="2152650" y="2876550"/>
            <a:ext cx="942975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9D2DC"/>
            </a:solidFill>
            <a:prstDash val="solid"/>
          </a:ln>
        </p:spPr>
      </p:sp>
      <p:sp>
        <p:nvSpPr>
          <p:cNvPr id="12" name="">
            <a:extLst xmlns:a="http://schemas.openxmlformats.org/drawingml/2006/main">
              <a:ext uri="{FF2B5EF4-FFF2-40B4-BE49-F238E27FC236}">
                <a16:creationId xmlns:a16="http://schemas.microsoft.com/office/drawing/2014/main" id="{1795DF98-A4D9-40EF-83FF-D7E5392BC163}"/>
              </a:ext>
            </a:extLst>
          </p:cNvPr>
          <p:cNvSpPr>
            <a:spLocks xmlns:a="http://schemas.openxmlformats.org/drawingml/2006/main" noGrp="1"/>
          </p:cNvSpPr>
          <p:nvPr/>
        </p:nvSpPr>
        <p:spPr>
          <a:xfrm xmlns:a="http://schemas.openxmlformats.org/drawingml/2006/main">
            <a:off x="609600" y="4171950"/>
            <a:ext cx="1428750" cy="1066800"/>
          </a:xfrm>
          <a:prstGeom xmlns:a="http://schemas.openxmlformats.org/drawingml/2006/main" prst="roundRect">
            <a:avLst>
              <a:gd name="adj" fmla="val 7143"/>
            </a:avLst>
          </a:prstGeom>
          <a:solidFill xmlns:a="http://schemas.openxmlformats.org/drawingml/2006/main">
            <a:srgbClr val="E8EEF5"/>
          </a:solidFill>
          <a:ln xmlns:a="http://schemas.openxmlformats.org/drawingml/2006/main" w="9525">
            <a:solidFill>
              <a:srgbClr val="C9D2DC"/>
            </a:solidFill>
            <a:prstDash val="solid"/>
          </a:ln>
        </p:spPr>
      </p:sp>
      <p:sp>
        <p:nvSpPr>
          <p:cNvPr id="13" name="">
            <a:extLst xmlns:a="http://schemas.openxmlformats.org/drawingml/2006/main">
              <a:ext uri="{FF2B5EF4-FFF2-40B4-BE49-F238E27FC236}">
                <a16:creationId xmlns:a16="http://schemas.microsoft.com/office/drawing/2014/main" id="{617AEADD-F860-4D76-AC5A-D4461077BB39}"/>
              </a:ext>
            </a:extLst>
          </p:cNvPr>
          <p:cNvSpPr>
            <a:spLocks xmlns:a="http://schemas.openxmlformats.org/drawingml/2006/main" noGrp="1"/>
          </p:cNvSpPr>
          <p:nvPr/>
        </p:nvSpPr>
        <p:spPr>
          <a:xfrm xmlns:a="http://schemas.openxmlformats.org/drawingml/2006/main">
            <a:off x="742950" y="4495800"/>
            <a:ext cx="1162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75" b="1" i="0">
                <a:solidFill>
                  <a:srgbClr val="17324D"/>
                </a:solidFill>
              </a:defRPr>
            </a:pPr>
            <a:r>
              <a:rPr sz="975" b="1" i="0">
                <a:solidFill>
                  <a:srgbClr val="17324D"/>
                </a:solidFill>
              </a:rPr>
              <a:t>SYSTEM / CONTROL</a:t>
            </a:r>
          </a:p>
        </p:txBody>
      </p:sp>
      <p:sp>
        <p:nvSpPr>
          <p:cNvPr id="14" name="">
            <a:extLst xmlns:a="http://schemas.openxmlformats.org/drawingml/2006/main">
              <a:ext uri="{FF2B5EF4-FFF2-40B4-BE49-F238E27FC236}">
                <a16:creationId xmlns:a16="http://schemas.microsoft.com/office/drawing/2014/main" id="{407C5001-006C-498F-8BC2-058609AF528F}"/>
              </a:ext>
            </a:extLst>
          </p:cNvPr>
          <p:cNvSpPr>
            <a:spLocks xmlns:a="http://schemas.openxmlformats.org/drawingml/2006/main" noGrp="1"/>
          </p:cNvSpPr>
          <p:nvPr/>
        </p:nvSpPr>
        <p:spPr>
          <a:xfrm xmlns:a="http://schemas.openxmlformats.org/drawingml/2006/main">
            <a:off x="2152650" y="4171950"/>
            <a:ext cx="942975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9D2DC"/>
            </a:solidFill>
            <a:prstDash val="solid"/>
          </a:ln>
        </p:spPr>
      </p:sp>
      <p:sp>
        <p:nvSpPr>
          <p:cNvPr id="15" name="">
            <a:extLst xmlns:a="http://schemas.openxmlformats.org/drawingml/2006/main">
              <a:ext uri="{FF2B5EF4-FFF2-40B4-BE49-F238E27FC236}">
                <a16:creationId xmlns:a16="http://schemas.microsoft.com/office/drawing/2014/main" id="{3D743DBB-F94F-4367-A708-75B24269669E}"/>
              </a:ext>
            </a:extLst>
          </p:cNvPr>
          <p:cNvSpPr>
            <a:spLocks xmlns:a="http://schemas.openxmlformats.org/drawingml/2006/main" noGrp="1"/>
          </p:cNvSpPr>
          <p:nvPr/>
        </p:nvSpPr>
        <p:spPr>
          <a:xfrm xmlns:a="http://schemas.openxmlformats.org/drawingml/2006/main">
            <a:off x="3314700" y="2457450"/>
            <a:ext cx="28575" cy="933450"/>
          </a:xfrm>
          <a:prstGeom xmlns:a="http://schemas.openxmlformats.org/drawingml/2006/main" prst="rect">
            <a:avLst/>
          </a:prstGeom>
          <a:solidFill xmlns:a="http://schemas.openxmlformats.org/drawingml/2006/main">
            <a:srgbClr val="DCEAF7"/>
          </a:solidFill>
          <a:ln xmlns:a="http://schemas.openxmlformats.org/drawingml/2006/main" w="0">
            <a:solidFill>
              <a:srgbClr val="DCEAF7"/>
            </a:solidFill>
            <a:prstDash val="solid"/>
          </a:ln>
        </p:spPr>
      </p:sp>
      <p:sp>
        <p:nvSpPr>
          <p:cNvPr id="16" name="">
            <a:extLst xmlns:a="http://schemas.openxmlformats.org/drawingml/2006/main">
              <a:ext uri="{FF2B5EF4-FFF2-40B4-BE49-F238E27FC236}">
                <a16:creationId xmlns:a16="http://schemas.microsoft.com/office/drawing/2014/main" id="{4D841F39-2E00-40E7-864E-352788AB30F4}"/>
              </a:ext>
            </a:extLst>
          </p:cNvPr>
          <p:cNvSpPr>
            <a:spLocks xmlns:a="http://schemas.openxmlformats.org/drawingml/2006/main" noGrp="1"/>
          </p:cNvSpPr>
          <p:nvPr/>
        </p:nvSpPr>
        <p:spPr>
          <a:xfrm xmlns:a="http://schemas.openxmlformats.org/drawingml/2006/main">
            <a:off x="3314700" y="3371850"/>
            <a:ext cx="952500" cy="28575"/>
          </a:xfrm>
          <a:prstGeom xmlns:a="http://schemas.openxmlformats.org/drawingml/2006/main" prst="rect">
            <a:avLst/>
          </a:prstGeom>
          <a:solidFill xmlns:a="http://schemas.openxmlformats.org/drawingml/2006/main">
            <a:srgbClr val="DCEAF7"/>
          </a:solidFill>
          <a:ln xmlns:a="http://schemas.openxmlformats.org/drawingml/2006/main" w="0">
            <a:solidFill>
              <a:srgbClr val="DCEAF7"/>
            </a:solidFill>
            <a:prstDash val="solid"/>
          </a:ln>
        </p:spPr>
      </p:sp>
      <p:sp>
        <p:nvSpPr>
          <p:cNvPr id="17" name="">
            <a:extLst xmlns:a="http://schemas.openxmlformats.org/drawingml/2006/main">
              <a:ext uri="{FF2B5EF4-FFF2-40B4-BE49-F238E27FC236}">
                <a16:creationId xmlns:a16="http://schemas.microsoft.com/office/drawing/2014/main" id="{0F519EDD-AE4B-4346-89F9-E3DF34705B60}"/>
              </a:ext>
            </a:extLst>
          </p:cNvPr>
          <p:cNvSpPr>
            <a:spLocks xmlns:a="http://schemas.openxmlformats.org/drawingml/2006/main" noGrp="1"/>
          </p:cNvSpPr>
          <p:nvPr/>
        </p:nvSpPr>
        <p:spPr>
          <a:xfrm xmlns:a="http://schemas.openxmlformats.org/drawingml/2006/main">
            <a:off x="4267200" y="3209925"/>
            <a:ext cx="533400" cy="342900"/>
          </a:xfrm>
          <a:prstGeom xmlns:a="http://schemas.openxmlformats.org/drawingml/2006/main" prst="rightArrow">
            <a:avLst/>
          </a:prstGeom>
          <a:solidFill xmlns:a="http://schemas.openxmlformats.org/drawingml/2006/main">
            <a:srgbClr val="DCEAF7"/>
          </a:solidFill>
          <a:ln xmlns:a="http://schemas.openxmlformats.org/drawingml/2006/main" w="0">
            <a:solidFill>
              <a:srgbClr val="DCEAF7"/>
            </a:solidFill>
            <a:prstDash val="solid"/>
          </a:ln>
        </p:spPr>
      </p:sp>
      <p:sp>
        <p:nvSpPr>
          <p:cNvPr id="18" name="">
            <a:extLst xmlns:a="http://schemas.openxmlformats.org/drawingml/2006/main">
              <a:ext uri="{FF2B5EF4-FFF2-40B4-BE49-F238E27FC236}">
                <a16:creationId xmlns:a16="http://schemas.microsoft.com/office/drawing/2014/main" id="{BEAF7D85-8945-4FEB-AC34-2B5C5B0D6F61}"/>
              </a:ext>
            </a:extLst>
          </p:cNvPr>
          <p:cNvSpPr>
            <a:spLocks xmlns:a="http://schemas.openxmlformats.org/drawingml/2006/main" noGrp="1"/>
          </p:cNvSpPr>
          <p:nvPr/>
        </p:nvSpPr>
        <p:spPr>
          <a:xfrm xmlns:a="http://schemas.openxmlformats.org/drawingml/2006/main">
            <a:off x="7258050" y="3248025"/>
            <a:ext cx="514350" cy="323850"/>
          </a:xfrm>
          <a:prstGeom xmlns:a="http://schemas.openxmlformats.org/drawingml/2006/main" prst="rightArrow">
            <a:avLst/>
          </a:prstGeom>
          <a:solidFill xmlns:a="http://schemas.openxmlformats.org/drawingml/2006/main">
            <a:srgbClr val="DCEAF7"/>
          </a:solidFill>
          <a:ln xmlns:a="http://schemas.openxmlformats.org/drawingml/2006/main" w="0">
            <a:solidFill>
              <a:srgbClr val="DCEAF7"/>
            </a:solidFill>
            <a:prstDash val="solid"/>
          </a:ln>
        </p:spPr>
      </p:sp>
      <p:sp>
        <p:nvSpPr>
          <p:cNvPr id="19" name="">
            <a:extLst xmlns:a="http://schemas.openxmlformats.org/drawingml/2006/main">
              <a:ext uri="{FF2B5EF4-FFF2-40B4-BE49-F238E27FC236}">
                <a16:creationId xmlns:a16="http://schemas.microsoft.com/office/drawing/2014/main" id="{76B8138A-59EC-4E93-8C94-FFB1FB6915B2}"/>
              </a:ext>
            </a:extLst>
          </p:cNvPr>
          <p:cNvSpPr>
            <a:spLocks xmlns:a="http://schemas.openxmlformats.org/drawingml/2006/main" noGrp="1"/>
          </p:cNvSpPr>
          <p:nvPr/>
        </p:nvSpPr>
        <p:spPr>
          <a:xfrm xmlns:a="http://schemas.openxmlformats.org/drawingml/2006/main">
            <a:off x="8658225" y="2114550"/>
            <a:ext cx="28575" cy="933450"/>
          </a:xfrm>
          <a:prstGeom xmlns:a="http://schemas.openxmlformats.org/drawingml/2006/main" prst="rect">
            <a:avLst/>
          </a:prstGeom>
          <a:solidFill xmlns:a="http://schemas.openxmlformats.org/drawingml/2006/main">
            <a:srgbClr val="DCEAF7"/>
          </a:solidFill>
          <a:ln xmlns:a="http://schemas.openxmlformats.org/drawingml/2006/main" w="0">
            <a:solidFill>
              <a:srgbClr val="DCEAF7"/>
            </a:solidFill>
            <a:prstDash val="solid"/>
          </a:ln>
        </p:spPr>
      </p:sp>
      <p:sp>
        <p:nvSpPr>
          <p:cNvPr id="20" name="">
            <a:extLst xmlns:a="http://schemas.openxmlformats.org/drawingml/2006/main">
              <a:ext uri="{FF2B5EF4-FFF2-40B4-BE49-F238E27FC236}">
                <a16:creationId xmlns:a16="http://schemas.microsoft.com/office/drawing/2014/main" id="{FD25117E-22A4-4D4E-85C2-63499A1A1358}"/>
              </a:ext>
            </a:extLst>
          </p:cNvPr>
          <p:cNvSpPr>
            <a:spLocks xmlns:a="http://schemas.openxmlformats.org/drawingml/2006/main" noGrp="1"/>
          </p:cNvSpPr>
          <p:nvPr/>
        </p:nvSpPr>
        <p:spPr>
          <a:xfrm xmlns:a="http://schemas.openxmlformats.org/drawingml/2006/main">
            <a:off x="8667750" y="2095500"/>
            <a:ext cx="952500" cy="28575"/>
          </a:xfrm>
          <a:prstGeom xmlns:a="http://schemas.openxmlformats.org/drawingml/2006/main" prst="rect">
            <a:avLst/>
          </a:prstGeom>
          <a:solidFill xmlns:a="http://schemas.openxmlformats.org/drawingml/2006/main">
            <a:srgbClr val="DCEAF7"/>
          </a:solidFill>
          <a:ln xmlns:a="http://schemas.openxmlformats.org/drawingml/2006/main" w="0">
            <a:solidFill>
              <a:srgbClr val="DCEAF7"/>
            </a:solidFill>
            <a:prstDash val="solid"/>
          </a:ln>
        </p:spPr>
      </p:sp>
      <p:sp>
        <p:nvSpPr>
          <p:cNvPr id="21" name="">
            <a:extLst xmlns:a="http://schemas.openxmlformats.org/drawingml/2006/main">
              <a:ext uri="{FF2B5EF4-FFF2-40B4-BE49-F238E27FC236}">
                <a16:creationId xmlns:a16="http://schemas.microsoft.com/office/drawing/2014/main" id="{FE3EC207-30EE-4F58-89CD-D541C7FAD73D}"/>
              </a:ext>
            </a:extLst>
          </p:cNvPr>
          <p:cNvSpPr>
            <a:spLocks xmlns:a="http://schemas.openxmlformats.org/drawingml/2006/main" noGrp="1"/>
          </p:cNvSpPr>
          <p:nvPr/>
        </p:nvSpPr>
        <p:spPr>
          <a:xfrm xmlns:a="http://schemas.openxmlformats.org/drawingml/2006/main">
            <a:off x="9620250" y="1952625"/>
            <a:ext cx="514350" cy="323850"/>
          </a:xfrm>
          <a:prstGeom xmlns:a="http://schemas.openxmlformats.org/drawingml/2006/main" prst="rightArrow">
            <a:avLst/>
          </a:prstGeom>
          <a:solidFill xmlns:a="http://schemas.openxmlformats.org/drawingml/2006/main">
            <a:srgbClr val="DCEAF7"/>
          </a:solidFill>
          <a:ln xmlns:a="http://schemas.openxmlformats.org/drawingml/2006/main" w="0">
            <a:solidFill>
              <a:srgbClr val="DCEAF7"/>
            </a:solidFill>
            <a:prstDash val="solid"/>
          </a:ln>
        </p:spPr>
      </p:sp>
      <p:sp>
        <p:nvSpPr>
          <p:cNvPr id="22" name="">
            <a:extLst xmlns:a="http://schemas.openxmlformats.org/drawingml/2006/main">
              <a:ext uri="{FF2B5EF4-FFF2-40B4-BE49-F238E27FC236}">
                <a16:creationId xmlns:a16="http://schemas.microsoft.com/office/drawing/2014/main" id="{B9AD44DD-43E5-4C33-A6F2-22A86524F349}"/>
              </a:ext>
            </a:extLst>
          </p:cNvPr>
          <p:cNvSpPr>
            <a:spLocks xmlns:a="http://schemas.openxmlformats.org/drawingml/2006/main" noGrp="1"/>
          </p:cNvSpPr>
          <p:nvPr/>
        </p:nvSpPr>
        <p:spPr>
          <a:xfrm xmlns:a="http://schemas.openxmlformats.org/drawingml/2006/main">
            <a:off x="2381250" y="1752600"/>
            <a:ext cx="1885950" cy="704850"/>
          </a:xfrm>
          <a:prstGeom xmlns:a="http://schemas.openxmlformats.org/drawingml/2006/main" prst="roundRect">
            <a:avLst>
              <a:gd name="adj" fmla="val 10811"/>
            </a:avLst>
          </a:prstGeom>
          <a:solidFill xmlns:a="http://schemas.openxmlformats.org/drawingml/2006/main">
            <a:srgbClr val="FFFFFF"/>
          </a:solidFill>
          <a:ln xmlns:a="http://schemas.openxmlformats.org/drawingml/2006/main" w="9525">
            <a:solidFill>
              <a:srgbClr val="C9D2DC"/>
            </a:solidFill>
            <a:prstDash val="solid"/>
          </a:ln>
        </p:spPr>
      </p:sp>
      <p:sp>
        <p:nvSpPr>
          <p:cNvPr id="23" name="">
            <a:extLst xmlns:a="http://schemas.openxmlformats.org/drawingml/2006/main">
              <a:ext uri="{FF2B5EF4-FFF2-40B4-BE49-F238E27FC236}">
                <a16:creationId xmlns:a16="http://schemas.microsoft.com/office/drawing/2014/main" id="{AE13605A-2B3F-4DF7-B8DD-B4E9AD1D89EF}"/>
              </a:ext>
            </a:extLst>
          </p:cNvPr>
          <p:cNvSpPr>
            <a:spLocks xmlns:a="http://schemas.openxmlformats.org/drawingml/2006/main" noGrp="1"/>
          </p:cNvSpPr>
          <p:nvPr/>
        </p:nvSpPr>
        <p:spPr>
          <a:xfrm xmlns:a="http://schemas.openxmlformats.org/drawingml/2006/main">
            <a:off x="2495550" y="1828800"/>
            <a:ext cx="476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i="0">
                <a:solidFill>
                  <a:srgbClr val="2E74B5"/>
                </a:solidFill>
              </a:defRPr>
            </a:pPr>
            <a:r>
              <a:rPr sz="825" b="1" i="0">
                <a:solidFill>
                  <a:srgbClr val="2E74B5"/>
                </a:solidFill>
              </a:rPr>
              <a:t>S-01</a:t>
            </a:r>
          </a:p>
        </p:txBody>
      </p:sp>
      <p:sp>
        <p:nvSpPr>
          <p:cNvPr id="24" name="">
            <a:extLst xmlns:a="http://schemas.openxmlformats.org/drawingml/2006/main">
              <a:ext uri="{FF2B5EF4-FFF2-40B4-BE49-F238E27FC236}">
                <a16:creationId xmlns:a16="http://schemas.microsoft.com/office/drawing/2014/main" id="{D8776A8B-E7E4-417F-872B-C028ADAEFCE7}"/>
              </a:ext>
            </a:extLst>
          </p:cNvPr>
          <p:cNvSpPr>
            <a:spLocks xmlns:a="http://schemas.openxmlformats.org/drawingml/2006/main" noGrp="1"/>
          </p:cNvSpPr>
          <p:nvPr/>
        </p:nvSpPr>
        <p:spPr>
          <a:xfrm xmlns:a="http://schemas.openxmlformats.org/drawingml/2006/main">
            <a:off x="2495550" y="2028825"/>
            <a:ext cx="1657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i="0">
                <a:solidFill>
                  <a:srgbClr val="17324D"/>
                </a:solidFill>
              </a:defRPr>
            </a:pPr>
            <a:r>
              <a:rPr sz="1275" b="1" i="0">
                <a:solidFill>
                  <a:srgbClr val="17324D"/>
                </a:solidFill>
              </a:rPr>
              <a:t>Submit / trigger</a:t>
            </a:r>
          </a:p>
        </p:txBody>
      </p:sp>
      <p:sp>
        <p:nvSpPr>
          <p:cNvPr id="25" name="">
            <a:extLst xmlns:a="http://schemas.openxmlformats.org/drawingml/2006/main">
              <a:ext uri="{FF2B5EF4-FFF2-40B4-BE49-F238E27FC236}">
                <a16:creationId xmlns:a16="http://schemas.microsoft.com/office/drawing/2014/main" id="{6F09CFFB-E5F0-435A-B030-AE816C5284BE}"/>
              </a:ext>
            </a:extLst>
          </p:cNvPr>
          <p:cNvSpPr>
            <a:spLocks xmlns:a="http://schemas.openxmlformats.org/drawingml/2006/main" noGrp="1"/>
          </p:cNvSpPr>
          <p:nvPr/>
        </p:nvSpPr>
        <p:spPr>
          <a:xfrm xmlns:a="http://schemas.openxmlformats.org/drawingml/2006/main">
            <a:off x="2495550" y="2200275"/>
            <a:ext cx="16573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i="0">
                <a:solidFill>
                  <a:srgbClr val="66717E"/>
                </a:solidFill>
              </a:defRPr>
            </a:pPr>
            <a:r>
              <a:rPr sz="825" b="0" i="0">
                <a:solidFill>
                  <a:srgbClr val="66717E"/>
                </a:solidFill>
              </a:rPr>
              <a:t>[Role]</a:t>
            </a:r>
          </a:p>
        </p:txBody>
      </p:sp>
      <p:sp>
        <p:nvSpPr>
          <p:cNvPr id="26" name="">
            <a:extLst xmlns:a="http://schemas.openxmlformats.org/drawingml/2006/main">
              <a:ext uri="{FF2B5EF4-FFF2-40B4-BE49-F238E27FC236}">
                <a16:creationId xmlns:a16="http://schemas.microsoft.com/office/drawing/2014/main" id="{4B77ECD9-F368-4BF7-949C-4A8DB01E2031}"/>
              </a:ext>
            </a:extLst>
          </p:cNvPr>
          <p:cNvSpPr>
            <a:spLocks xmlns:a="http://schemas.openxmlformats.org/drawingml/2006/main" noGrp="1"/>
          </p:cNvSpPr>
          <p:nvPr/>
        </p:nvSpPr>
        <p:spPr>
          <a:xfrm xmlns:a="http://schemas.openxmlformats.org/drawingml/2006/main">
            <a:off x="4857750" y="3048000"/>
            <a:ext cx="2305050" cy="704850"/>
          </a:xfrm>
          <a:prstGeom xmlns:a="http://schemas.openxmlformats.org/drawingml/2006/main" prst="roundRect">
            <a:avLst>
              <a:gd name="adj" fmla="val 10811"/>
            </a:avLst>
          </a:prstGeom>
          <a:solidFill xmlns:a="http://schemas.openxmlformats.org/drawingml/2006/main">
            <a:srgbClr val="FFF4CE"/>
          </a:solidFill>
          <a:ln xmlns:a="http://schemas.openxmlformats.org/drawingml/2006/main" w="9525">
            <a:solidFill>
              <a:srgbClr val="C9D2DC"/>
            </a:solidFill>
            <a:prstDash val="solid"/>
          </a:ln>
        </p:spPr>
      </p:sp>
      <p:sp>
        <p:nvSpPr>
          <p:cNvPr id="27" name="">
            <a:extLst xmlns:a="http://schemas.openxmlformats.org/drawingml/2006/main">
              <a:ext uri="{FF2B5EF4-FFF2-40B4-BE49-F238E27FC236}">
                <a16:creationId xmlns:a16="http://schemas.microsoft.com/office/drawing/2014/main" id="{FC5DCD9F-D712-44A6-B579-77375F54C67B}"/>
              </a:ext>
            </a:extLst>
          </p:cNvPr>
          <p:cNvSpPr>
            <a:spLocks xmlns:a="http://schemas.openxmlformats.org/drawingml/2006/main" noGrp="1"/>
          </p:cNvSpPr>
          <p:nvPr/>
        </p:nvSpPr>
        <p:spPr>
          <a:xfrm xmlns:a="http://schemas.openxmlformats.org/drawingml/2006/main">
            <a:off x="4972050" y="3124200"/>
            <a:ext cx="476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i="0">
                <a:solidFill>
                  <a:srgbClr val="2E74B5"/>
                </a:solidFill>
              </a:defRPr>
            </a:pPr>
            <a:r>
              <a:rPr sz="825" b="1" i="0">
                <a:solidFill>
                  <a:srgbClr val="2E74B5"/>
                </a:solidFill>
              </a:rPr>
              <a:t>S-02</a:t>
            </a:r>
          </a:p>
        </p:txBody>
      </p:sp>
      <p:sp>
        <p:nvSpPr>
          <p:cNvPr id="28" name="">
            <a:extLst xmlns:a="http://schemas.openxmlformats.org/drawingml/2006/main">
              <a:ext uri="{FF2B5EF4-FFF2-40B4-BE49-F238E27FC236}">
                <a16:creationId xmlns:a16="http://schemas.microsoft.com/office/drawing/2014/main" id="{D365E2B5-0836-40B2-A2B8-B5E6A1D0B183}"/>
              </a:ext>
            </a:extLst>
          </p:cNvPr>
          <p:cNvSpPr>
            <a:spLocks xmlns:a="http://schemas.openxmlformats.org/drawingml/2006/main" noGrp="1"/>
          </p:cNvSpPr>
          <p:nvPr/>
        </p:nvSpPr>
        <p:spPr>
          <a:xfrm xmlns:a="http://schemas.openxmlformats.org/drawingml/2006/main">
            <a:off x="4972050" y="3324225"/>
            <a:ext cx="20764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i="0">
                <a:solidFill>
                  <a:srgbClr val="17324D"/>
                </a:solidFill>
              </a:defRPr>
            </a:pPr>
            <a:r>
              <a:rPr sz="1275" b="1" i="0">
                <a:solidFill>
                  <a:srgbClr val="17324D"/>
                </a:solidFill>
              </a:rPr>
              <a:t>Review and route</a:t>
            </a:r>
          </a:p>
        </p:txBody>
      </p:sp>
      <p:sp>
        <p:nvSpPr>
          <p:cNvPr id="29" name="">
            <a:extLst xmlns:a="http://schemas.openxmlformats.org/drawingml/2006/main">
              <a:ext uri="{FF2B5EF4-FFF2-40B4-BE49-F238E27FC236}">
                <a16:creationId xmlns:a16="http://schemas.microsoft.com/office/drawing/2014/main" id="{B1184154-632B-47C4-B643-8F4D21A024FA}"/>
              </a:ext>
            </a:extLst>
          </p:cNvPr>
          <p:cNvSpPr>
            <a:spLocks xmlns:a="http://schemas.openxmlformats.org/drawingml/2006/main" noGrp="1"/>
          </p:cNvSpPr>
          <p:nvPr/>
        </p:nvSpPr>
        <p:spPr>
          <a:xfrm xmlns:a="http://schemas.openxmlformats.org/drawingml/2006/main">
            <a:off x="4972050" y="3495675"/>
            <a:ext cx="20764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i="0">
                <a:solidFill>
                  <a:srgbClr val="66717E"/>
                </a:solidFill>
              </a:defRPr>
            </a:pPr>
            <a:r>
              <a:rPr sz="825" b="0" i="0">
                <a:solidFill>
                  <a:srgbClr val="66717E"/>
                </a:solidFill>
              </a:rPr>
              <a:t>[Owner]</a:t>
            </a:r>
          </a:p>
        </p:txBody>
      </p:sp>
      <p:sp>
        <p:nvSpPr>
          <p:cNvPr id="30" name="">
            <a:extLst xmlns:a="http://schemas.openxmlformats.org/drawingml/2006/main">
              <a:ext uri="{FF2B5EF4-FFF2-40B4-BE49-F238E27FC236}">
                <a16:creationId xmlns:a16="http://schemas.microsoft.com/office/drawing/2014/main" id="{F9A4A2E5-ADCC-4CA1-A124-9570353F795A}"/>
              </a:ext>
            </a:extLst>
          </p:cNvPr>
          <p:cNvSpPr>
            <a:spLocks xmlns:a="http://schemas.openxmlformats.org/drawingml/2006/main" noGrp="1"/>
          </p:cNvSpPr>
          <p:nvPr/>
        </p:nvSpPr>
        <p:spPr>
          <a:xfrm xmlns:a="http://schemas.openxmlformats.org/drawingml/2006/main">
            <a:off x="7810500" y="3048000"/>
            <a:ext cx="1714500" cy="704850"/>
          </a:xfrm>
          <a:prstGeom xmlns:a="http://schemas.openxmlformats.org/drawingml/2006/main" prst="roundRect">
            <a:avLst>
              <a:gd name="adj" fmla="val 10811"/>
            </a:avLst>
          </a:prstGeom>
          <a:solidFill xmlns:a="http://schemas.openxmlformats.org/drawingml/2006/main">
            <a:srgbClr val="FFFFFF"/>
          </a:solidFill>
          <a:ln xmlns:a="http://schemas.openxmlformats.org/drawingml/2006/main" w="9525">
            <a:solidFill>
              <a:srgbClr val="C9D2DC"/>
            </a:solidFill>
            <a:prstDash val="solid"/>
          </a:ln>
        </p:spPr>
      </p:sp>
      <p:sp>
        <p:nvSpPr>
          <p:cNvPr id="31" name="">
            <a:extLst xmlns:a="http://schemas.openxmlformats.org/drawingml/2006/main">
              <a:ext uri="{FF2B5EF4-FFF2-40B4-BE49-F238E27FC236}">
                <a16:creationId xmlns:a16="http://schemas.microsoft.com/office/drawing/2014/main" id="{62F4E0FB-4B36-4CB0-A139-8877988EE1E3}"/>
              </a:ext>
            </a:extLst>
          </p:cNvPr>
          <p:cNvSpPr>
            <a:spLocks xmlns:a="http://schemas.openxmlformats.org/drawingml/2006/main" noGrp="1"/>
          </p:cNvSpPr>
          <p:nvPr/>
        </p:nvSpPr>
        <p:spPr>
          <a:xfrm xmlns:a="http://schemas.openxmlformats.org/drawingml/2006/main">
            <a:off x="7924800" y="3124200"/>
            <a:ext cx="476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i="0">
                <a:solidFill>
                  <a:srgbClr val="2E74B5"/>
                </a:solidFill>
              </a:defRPr>
            </a:pPr>
            <a:r>
              <a:rPr sz="825" b="1" i="0">
                <a:solidFill>
                  <a:srgbClr val="2E74B5"/>
                </a:solidFill>
              </a:rPr>
              <a:t>S-03</a:t>
            </a:r>
          </a:p>
        </p:txBody>
      </p:sp>
      <p:sp>
        <p:nvSpPr>
          <p:cNvPr id="32" name="">
            <a:extLst xmlns:a="http://schemas.openxmlformats.org/drawingml/2006/main">
              <a:ext uri="{FF2B5EF4-FFF2-40B4-BE49-F238E27FC236}">
                <a16:creationId xmlns:a16="http://schemas.microsoft.com/office/drawing/2014/main" id="{96D2F380-063F-4250-99CB-5855EDFDE7F4}"/>
              </a:ext>
            </a:extLst>
          </p:cNvPr>
          <p:cNvSpPr>
            <a:spLocks xmlns:a="http://schemas.openxmlformats.org/drawingml/2006/main" noGrp="1"/>
          </p:cNvSpPr>
          <p:nvPr/>
        </p:nvSpPr>
        <p:spPr>
          <a:xfrm xmlns:a="http://schemas.openxmlformats.org/drawingml/2006/main">
            <a:off x="7924800" y="3324225"/>
            <a:ext cx="14859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i="0">
                <a:solidFill>
                  <a:srgbClr val="17324D"/>
                </a:solidFill>
              </a:defRPr>
            </a:pPr>
            <a:r>
              <a:rPr sz="1275" b="1" i="0">
                <a:solidFill>
                  <a:srgbClr val="17324D"/>
                </a:solidFill>
              </a:rPr>
              <a:t>Complete</a:t>
            </a:r>
          </a:p>
        </p:txBody>
      </p:sp>
      <p:sp>
        <p:nvSpPr>
          <p:cNvPr id="33" name="">
            <a:extLst xmlns:a="http://schemas.openxmlformats.org/drawingml/2006/main">
              <a:ext uri="{FF2B5EF4-FFF2-40B4-BE49-F238E27FC236}">
                <a16:creationId xmlns:a16="http://schemas.microsoft.com/office/drawing/2014/main" id="{D8784F9F-1F2A-44BB-B0CD-F2E9428B329B}"/>
              </a:ext>
            </a:extLst>
          </p:cNvPr>
          <p:cNvSpPr>
            <a:spLocks xmlns:a="http://schemas.openxmlformats.org/drawingml/2006/main" noGrp="1"/>
          </p:cNvSpPr>
          <p:nvPr/>
        </p:nvSpPr>
        <p:spPr>
          <a:xfrm xmlns:a="http://schemas.openxmlformats.org/drawingml/2006/main">
            <a:off x="7924800" y="3495675"/>
            <a:ext cx="1485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i="0">
                <a:solidFill>
                  <a:srgbClr val="66717E"/>
                </a:solidFill>
              </a:defRPr>
            </a:pPr>
            <a:r>
              <a:rPr sz="825" b="0" i="0">
                <a:solidFill>
                  <a:srgbClr val="66717E"/>
                </a:solidFill>
              </a:rPr>
              <a:t>[Owner]</a:t>
            </a:r>
          </a:p>
        </p:txBody>
      </p:sp>
      <p:sp>
        <p:nvSpPr>
          <p:cNvPr id="34" name="">
            <a:extLst xmlns:a="http://schemas.openxmlformats.org/drawingml/2006/main">
              <a:ext uri="{FF2B5EF4-FFF2-40B4-BE49-F238E27FC236}">
                <a16:creationId xmlns:a16="http://schemas.microsoft.com/office/drawing/2014/main" id="{C0F8149F-F618-4551-9CD8-6B4B77E2DDE9}"/>
              </a:ext>
            </a:extLst>
          </p:cNvPr>
          <p:cNvSpPr>
            <a:spLocks xmlns:a="http://schemas.openxmlformats.org/drawingml/2006/main" noGrp="1"/>
          </p:cNvSpPr>
          <p:nvPr/>
        </p:nvSpPr>
        <p:spPr>
          <a:xfrm xmlns:a="http://schemas.openxmlformats.org/drawingml/2006/main">
            <a:off x="10172700" y="1752600"/>
            <a:ext cx="1200150" cy="704850"/>
          </a:xfrm>
          <a:prstGeom xmlns:a="http://schemas.openxmlformats.org/drawingml/2006/main" prst="roundRect">
            <a:avLst>
              <a:gd name="adj" fmla="val 10811"/>
            </a:avLst>
          </a:prstGeom>
          <a:solidFill xmlns:a="http://schemas.openxmlformats.org/drawingml/2006/main">
            <a:srgbClr val="FFFFFF"/>
          </a:solidFill>
          <a:ln xmlns:a="http://schemas.openxmlformats.org/drawingml/2006/main" w="9525">
            <a:solidFill>
              <a:srgbClr val="C9D2DC"/>
            </a:solidFill>
            <a:prstDash val="solid"/>
          </a:ln>
        </p:spPr>
      </p:sp>
      <p:sp>
        <p:nvSpPr>
          <p:cNvPr id="35" name="">
            <a:extLst xmlns:a="http://schemas.openxmlformats.org/drawingml/2006/main">
              <a:ext uri="{FF2B5EF4-FFF2-40B4-BE49-F238E27FC236}">
                <a16:creationId xmlns:a16="http://schemas.microsoft.com/office/drawing/2014/main" id="{D10BA161-A951-4B92-A04F-5E449AE720F1}"/>
              </a:ext>
            </a:extLst>
          </p:cNvPr>
          <p:cNvSpPr>
            <a:spLocks xmlns:a="http://schemas.openxmlformats.org/drawingml/2006/main" noGrp="1"/>
          </p:cNvSpPr>
          <p:nvPr/>
        </p:nvSpPr>
        <p:spPr>
          <a:xfrm xmlns:a="http://schemas.openxmlformats.org/drawingml/2006/main">
            <a:off x="10287000" y="1828800"/>
            <a:ext cx="476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i="0">
                <a:solidFill>
                  <a:srgbClr val="2E74B5"/>
                </a:solidFill>
              </a:defRPr>
            </a:pPr>
            <a:r>
              <a:rPr sz="825" b="1" i="0">
                <a:solidFill>
                  <a:srgbClr val="2E74B5"/>
                </a:solidFill>
              </a:rPr>
              <a:t>S-04</a:t>
            </a:r>
          </a:p>
        </p:txBody>
      </p:sp>
      <p:sp>
        <p:nvSpPr>
          <p:cNvPr id="36" name="">
            <a:extLst xmlns:a="http://schemas.openxmlformats.org/drawingml/2006/main">
              <a:ext uri="{FF2B5EF4-FFF2-40B4-BE49-F238E27FC236}">
                <a16:creationId xmlns:a16="http://schemas.microsoft.com/office/drawing/2014/main" id="{5FF6A9C1-4DB8-46A8-B409-9CECBB1DD682}"/>
              </a:ext>
            </a:extLst>
          </p:cNvPr>
          <p:cNvSpPr>
            <a:spLocks xmlns:a="http://schemas.openxmlformats.org/drawingml/2006/main" noGrp="1"/>
          </p:cNvSpPr>
          <p:nvPr/>
        </p:nvSpPr>
        <p:spPr>
          <a:xfrm xmlns:a="http://schemas.openxmlformats.org/drawingml/2006/main">
            <a:off x="10287000" y="2028825"/>
            <a:ext cx="9715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i="0">
                <a:solidFill>
                  <a:srgbClr val="17324D"/>
                </a:solidFill>
              </a:defRPr>
            </a:pPr>
            <a:r>
              <a:rPr sz="1275" b="1" i="0">
                <a:solidFill>
                  <a:srgbClr val="17324D"/>
                </a:solidFill>
              </a:rPr>
              <a:t>Confirm</a:t>
            </a:r>
          </a:p>
        </p:txBody>
      </p:sp>
      <p:sp>
        <p:nvSpPr>
          <p:cNvPr id="37" name="">
            <a:extLst xmlns:a="http://schemas.openxmlformats.org/drawingml/2006/main">
              <a:ext uri="{FF2B5EF4-FFF2-40B4-BE49-F238E27FC236}">
                <a16:creationId xmlns:a16="http://schemas.microsoft.com/office/drawing/2014/main" id="{FA8C0241-57AA-48CC-8EF2-FF1AE3257555}"/>
              </a:ext>
            </a:extLst>
          </p:cNvPr>
          <p:cNvSpPr>
            <a:spLocks xmlns:a="http://schemas.openxmlformats.org/drawingml/2006/main" noGrp="1"/>
          </p:cNvSpPr>
          <p:nvPr/>
        </p:nvSpPr>
        <p:spPr>
          <a:xfrm xmlns:a="http://schemas.openxmlformats.org/drawingml/2006/main">
            <a:off x="10287000" y="2200275"/>
            <a:ext cx="971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i="0">
                <a:solidFill>
                  <a:srgbClr val="66717E"/>
                </a:solidFill>
              </a:defRPr>
            </a:pPr>
            <a:r>
              <a:rPr sz="825" b="0" i="0">
                <a:solidFill>
                  <a:srgbClr val="66717E"/>
                </a:solidFill>
              </a:rPr>
              <a:t>[Role]</a:t>
            </a:r>
          </a:p>
        </p:txBody>
      </p:sp>
      <p:sp>
        <p:nvSpPr>
          <p:cNvPr id="38" name="">
            <a:extLst xmlns:a="http://schemas.openxmlformats.org/drawingml/2006/main">
              <a:ext uri="{FF2B5EF4-FFF2-40B4-BE49-F238E27FC236}">
                <a16:creationId xmlns:a16="http://schemas.microsoft.com/office/drawing/2014/main" id="{BB262D94-92A5-486B-BA6C-62D6D69365B8}"/>
              </a:ext>
            </a:extLst>
          </p:cNvPr>
          <p:cNvSpPr>
            <a:spLocks xmlns:a="http://schemas.openxmlformats.org/drawingml/2006/main" noGrp="1"/>
          </p:cNvSpPr>
          <p:nvPr/>
        </p:nvSpPr>
        <p:spPr>
          <a:xfrm xmlns:a="http://schemas.openxmlformats.org/drawingml/2006/main">
            <a:off x="4857750" y="4343400"/>
            <a:ext cx="2305050" cy="685800"/>
          </a:xfrm>
          <a:prstGeom xmlns:a="http://schemas.openxmlformats.org/drawingml/2006/main" prst="roundRect">
            <a:avLst>
              <a:gd name="adj" fmla="val 11111"/>
            </a:avLst>
          </a:prstGeom>
          <a:solidFill xmlns:a="http://schemas.openxmlformats.org/drawingml/2006/main">
            <a:srgbClr val="FCE8E6"/>
          </a:solidFill>
          <a:ln xmlns:a="http://schemas.openxmlformats.org/drawingml/2006/main" w="9525">
            <a:solidFill>
              <a:srgbClr val="B54B4B"/>
            </a:solidFill>
            <a:prstDash val="solid"/>
          </a:ln>
        </p:spPr>
      </p:sp>
      <p:sp>
        <p:nvSpPr>
          <p:cNvPr id="39" name="">
            <a:extLst xmlns:a="http://schemas.openxmlformats.org/drawingml/2006/main">
              <a:ext uri="{FF2B5EF4-FFF2-40B4-BE49-F238E27FC236}">
                <a16:creationId xmlns:a16="http://schemas.microsoft.com/office/drawing/2014/main" id="{B8555F2F-6D6B-43CA-B2F1-86D06CE22E86}"/>
              </a:ext>
            </a:extLst>
          </p:cNvPr>
          <p:cNvSpPr>
            <a:spLocks xmlns:a="http://schemas.openxmlformats.org/drawingml/2006/main" noGrp="1"/>
          </p:cNvSpPr>
          <p:nvPr/>
        </p:nvSpPr>
        <p:spPr>
          <a:xfrm xmlns:a="http://schemas.openxmlformats.org/drawingml/2006/main">
            <a:off x="4991100" y="4457700"/>
            <a:ext cx="20383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1" i="0">
                <a:solidFill>
                  <a:srgbClr val="B54B4B"/>
                </a:solidFill>
              </a:defRPr>
            </a:pPr>
            <a:r>
              <a:rPr sz="1125" b="1" i="0">
                <a:solidFill>
                  <a:srgbClr val="B54B4B"/>
                </a:solidFill>
              </a:rPr>
              <a:t>EX-01  Missing / invalid input</a:t>
            </a:r>
          </a:p>
        </p:txBody>
      </p:sp>
      <p:sp>
        <p:nvSpPr>
          <p:cNvPr id="40" name="">
            <a:extLst xmlns:a="http://schemas.openxmlformats.org/drawingml/2006/main">
              <a:ext uri="{FF2B5EF4-FFF2-40B4-BE49-F238E27FC236}">
                <a16:creationId xmlns:a16="http://schemas.microsoft.com/office/drawing/2014/main" id="{2A5388C5-7001-4CC9-8615-FF94A0F7C56C}"/>
              </a:ext>
            </a:extLst>
          </p:cNvPr>
          <p:cNvSpPr>
            <a:spLocks xmlns:a="http://schemas.openxmlformats.org/drawingml/2006/main" noGrp="1"/>
          </p:cNvSpPr>
          <p:nvPr/>
        </p:nvSpPr>
        <p:spPr>
          <a:xfrm xmlns:a="http://schemas.openxmlformats.org/drawingml/2006/main">
            <a:off x="5981700" y="3752850"/>
            <a:ext cx="28575" cy="590550"/>
          </a:xfrm>
          <a:prstGeom xmlns:a="http://schemas.openxmlformats.org/drawingml/2006/main" prst="rect">
            <a:avLst/>
          </a:prstGeom>
          <a:solidFill xmlns:a="http://schemas.openxmlformats.org/drawingml/2006/main">
            <a:srgbClr val="B54B4B"/>
          </a:solidFill>
          <a:ln xmlns:a="http://schemas.openxmlformats.org/drawingml/2006/main" w="0">
            <a:solidFill>
              <a:srgbClr val="B54B4B"/>
            </a:solidFill>
            <a:prstDash val="solid"/>
          </a:ln>
        </p:spPr>
      </p:sp>
      <p:sp>
        <p:nvSpPr>
          <p:cNvPr id="41" name="">
            <a:extLst xmlns:a="http://schemas.openxmlformats.org/drawingml/2006/main">
              <a:ext uri="{FF2B5EF4-FFF2-40B4-BE49-F238E27FC236}">
                <a16:creationId xmlns:a16="http://schemas.microsoft.com/office/drawing/2014/main" id="{4CEBF808-0AA5-47CD-97ED-D735FC9FEFA8}"/>
              </a:ext>
            </a:extLst>
          </p:cNvPr>
          <p:cNvSpPr>
            <a:spLocks xmlns:a="http://schemas.openxmlformats.org/drawingml/2006/main" noGrp="1"/>
          </p:cNvSpPr>
          <p:nvPr/>
        </p:nvSpPr>
        <p:spPr>
          <a:xfrm xmlns:a="http://schemas.openxmlformats.org/drawingml/2006/main">
            <a:off x="2324100" y="5467350"/>
            <a:ext cx="89725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0" i="1">
                <a:solidFill>
                  <a:srgbClr val="66717E"/>
                </a:solidFill>
              </a:defRPr>
            </a:pPr>
            <a:r>
              <a:rPr sz="1200" b="0" i="1">
                <a:solidFill>
                  <a:srgbClr val="66717E"/>
                </a:solidFill>
              </a:rPr>
              <a:t>Record the real exception route — including return loops and manual workarounds.</a:t>
            </a:r>
          </a:p>
        </p:txBody>
      </p:sp>
    </p:spTree>
    <p:extLst>
      <p:ext uri="{BB962C8B-B14F-4D97-AF65-F5344CB8AC3E}">
        <p14:creationId xmlns:p14="http://schemas.microsoft.com/office/powerpoint/2010/main" val="770949074"/>
      </p:ext>
    </p:extLst>
  </p:cSld>
</p:sld>
</file>

<file path=ppt/slides/slide7.xml><?xml version="1.0" encoding="utf-8"?>
<p:sld xmlns:p="http://schemas.openxmlformats.org/presentationml/2006/main">
  <p:cSld>
    <p:bg>
      <p:bgPr>
        <a:solidFill xmlns:a="http://schemas.openxmlformats.org/drawingml/2006/main">
          <a:srgbClr val="F7F9FB"/>
        </a:solidFill>
      </p:bgPr>
    </p:bg>
    <p:spTree>
      <p:nvGrpSpPr>
        <p:cNvPr id="1" name=""/>
        <p:cNvGrpSpPr/>
        <p:nvPr/>
      </p:nvGrpSpPr>
      <p:grpSpPr>
        <a:xfrm xmlns:a="http://schemas.openxmlformats.org/drawingml/2006/main"/>
      </p:grpSpPr>
      <p:sp>
        <p:nvSpPr>
          <p:cNvPr id="37" name="">
            <a:extLst xmlns:a="http://schemas.openxmlformats.org/drawingml/2006/main">
              <a:ext uri="{FF2B5EF4-FFF2-40B4-BE49-F238E27FC236}">
                <a16:creationId xmlns:a16="http://schemas.microsoft.com/office/drawing/2014/main" id="{9830D104-60EF-442E-90A2-E71C1007C7F2}"/>
              </a:ext>
            </a:extLst>
          </p:cNvPr>
          <p:cNvSpPr>
            <a:spLocks xmlns:a="http://schemas.openxmlformats.org/drawingml/2006/main" noGrp="1"/>
          </p:cNvSpPr>
          <p:nvPr/>
        </p:nvSpPr>
        <p:spPr>
          <a:xfrm xmlns:a="http://schemas.openxmlformats.org/drawingml/2006/main">
            <a:off x="609600" y="32385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i="0">
                <a:solidFill>
                  <a:srgbClr val="2E74B5"/>
                </a:solidFill>
              </a:defRPr>
            </a:pPr>
            <a:r>
              <a:rPr sz="900" b="1" i="0">
                <a:solidFill>
                  <a:srgbClr val="2E74B5"/>
                </a:solidFill>
              </a:rPr>
              <a:t>FINDINGS</a:t>
            </a:r>
          </a:p>
        </p:txBody>
      </p:sp>
      <p:sp>
        <p:nvSpPr>
          <p:cNvPr id="2" name="">
            <a:extLst xmlns:a="http://schemas.openxmlformats.org/drawingml/2006/main">
              <a:ext uri="{FF2B5EF4-FFF2-40B4-BE49-F238E27FC236}">
                <a16:creationId xmlns:a16="http://schemas.microsoft.com/office/drawing/2014/main" id="{27CB14B5-1A3C-4F9A-A652-C1092B11215F}"/>
              </a:ext>
            </a:extLst>
          </p:cNvPr>
          <p:cNvSpPr>
            <a:spLocks xmlns:a="http://schemas.openxmlformats.org/drawingml/2006/main" noGrp="1"/>
          </p:cNvSpPr>
          <p:nvPr/>
        </p:nvSpPr>
        <p:spPr>
          <a:xfrm xmlns:a="http://schemas.openxmlformats.org/drawingml/2006/main">
            <a:off x="609600" y="552450"/>
            <a:ext cx="10287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550" b="1" i="0">
                <a:solidFill>
                  <a:srgbClr val="17324D"/>
                </a:solidFill>
              </a:defRPr>
            </a:pPr>
            <a:r>
              <a:rPr sz="2550" b="1" i="0">
                <a:solidFill>
                  <a:srgbClr val="17324D"/>
                </a:solidFill>
              </a:rPr>
              <a:t>Separate symptoms from root causes</a:t>
            </a:r>
          </a:p>
        </p:txBody>
      </p:sp>
      <p:sp>
        <p:nvSpPr>
          <p:cNvPr id="3" name="">
            <a:extLst xmlns:a="http://schemas.openxmlformats.org/drawingml/2006/main">
              <a:ext uri="{FF2B5EF4-FFF2-40B4-BE49-F238E27FC236}">
                <a16:creationId xmlns:a16="http://schemas.microsoft.com/office/drawing/2014/main" id="{B08CBD20-E89D-49D1-B881-7C4C2C2A1AD4}"/>
              </a:ext>
            </a:extLst>
          </p:cNvPr>
          <p:cNvSpPr>
            <a:spLocks xmlns:a="http://schemas.openxmlformats.org/drawingml/2006/main" noGrp="1"/>
          </p:cNvSpPr>
          <p:nvPr/>
        </p:nvSpPr>
        <p:spPr>
          <a:xfrm xmlns:a="http://schemas.openxmlformats.org/drawingml/2006/main">
            <a:off x="609600" y="1143000"/>
            <a:ext cx="10972800" cy="19050"/>
          </a:xfrm>
          <a:prstGeom xmlns:a="http://schemas.openxmlformats.org/drawingml/2006/main" prst="rect">
            <a:avLst/>
          </a:prstGeom>
          <a:solidFill xmlns:a="http://schemas.openxmlformats.org/drawingml/2006/main">
            <a:srgbClr val="C9D2DC"/>
          </a:solidFill>
          <a:ln xmlns:a="http://schemas.openxmlformats.org/drawingml/2006/main" w="0">
            <a:solidFill>
              <a:srgbClr val="C9D2DC"/>
            </a:solidFill>
            <a:prstDash val="solid"/>
          </a:ln>
        </p:spPr>
      </p:sp>
      <p:sp>
        <p:nvSpPr>
          <p:cNvPr id="4" name="">
            <a:extLst xmlns:a="http://schemas.openxmlformats.org/drawingml/2006/main">
              <a:ext uri="{FF2B5EF4-FFF2-40B4-BE49-F238E27FC236}">
                <a16:creationId xmlns:a16="http://schemas.microsoft.com/office/drawing/2014/main" id="{29F78B2F-1060-43C0-8F71-D0DD8CFC5347}"/>
              </a:ext>
            </a:extLst>
          </p:cNvPr>
          <p:cNvSpPr>
            <a:spLocks xmlns:a="http://schemas.openxmlformats.org/drawingml/2006/main" noGrp="1"/>
          </p:cNvSpPr>
          <p:nvPr/>
        </p:nvSpPr>
        <p:spPr>
          <a:xfrm xmlns:a="http://schemas.openxmlformats.org/drawingml/2006/main">
            <a:off x="609600" y="6505575"/>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50" b="1" i="0">
                <a:solidFill>
                  <a:srgbClr val="66717E"/>
                </a:solidFill>
              </a:defRPr>
            </a:pPr>
            <a:r>
              <a:rPr sz="750" b="1" i="0">
                <a:solidFill>
                  <a:srgbClr val="66717E"/>
                </a:solidFill>
              </a:rPr>
              <a:t>HEUTRIX  |  WORKFLOW DIAGNOSTIC</a:t>
            </a:r>
          </a:p>
        </p:txBody>
      </p:sp>
      <p:sp>
        <p:nvSpPr>
          <p:cNvPr id="5" name="">
            <a:extLst xmlns:a="http://schemas.openxmlformats.org/drawingml/2006/main">
              <a:ext uri="{FF2B5EF4-FFF2-40B4-BE49-F238E27FC236}">
                <a16:creationId xmlns:a16="http://schemas.microsoft.com/office/drawing/2014/main" id="{FC3EB98A-9181-4199-AFEC-573D560AEAFB}"/>
              </a:ext>
            </a:extLst>
          </p:cNvPr>
          <p:cNvSpPr>
            <a:spLocks xmlns:a="http://schemas.openxmlformats.org/drawingml/2006/main" noGrp="1"/>
          </p:cNvSpPr>
          <p:nvPr/>
        </p:nvSpPr>
        <p:spPr>
          <a:xfrm xmlns:a="http://schemas.openxmlformats.org/drawingml/2006/main">
            <a:off x="11096625" y="6477000"/>
            <a:ext cx="476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i="0">
                <a:solidFill>
                  <a:srgbClr val="66717E"/>
                </a:solidFill>
              </a:defRPr>
            </a:pPr>
            <a:r>
              <a:rPr sz="825" b="1" i="0">
                <a:solidFill>
                  <a:srgbClr val="66717E"/>
                </a:solidFill>
              </a:rPr>
              <a:t>07</a:t>
            </a:r>
          </a:p>
        </p:txBody>
      </p:sp>
      <p:sp>
        <p:nvSpPr>
          <p:cNvPr id="6" name="">
            <a:extLst xmlns:a="http://schemas.openxmlformats.org/drawingml/2006/main">
              <a:ext uri="{FF2B5EF4-FFF2-40B4-BE49-F238E27FC236}">
                <a16:creationId xmlns:a16="http://schemas.microsoft.com/office/drawing/2014/main" id="{8C126CB1-F470-4FA3-92AF-6CC02D60A8AC}"/>
              </a:ext>
            </a:extLst>
          </p:cNvPr>
          <p:cNvSpPr>
            <a:spLocks xmlns:a="http://schemas.openxmlformats.org/drawingml/2006/main" noGrp="1"/>
          </p:cNvSpPr>
          <p:nvPr/>
        </p:nvSpPr>
        <p:spPr>
          <a:xfrm xmlns:a="http://schemas.openxmlformats.org/drawingml/2006/main">
            <a:off x="609600" y="1409700"/>
            <a:ext cx="95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i="0">
                <a:solidFill>
                  <a:srgbClr val="66717E"/>
                </a:solidFill>
              </a:defRPr>
            </a:pPr>
            <a:r>
              <a:rPr sz="975" b="1" i="0">
                <a:solidFill>
                  <a:srgbClr val="66717E"/>
                </a:solidFill>
              </a:rPr>
              <a:t>Finding</a:t>
            </a:r>
          </a:p>
        </p:txBody>
      </p:sp>
      <p:sp>
        <p:nvSpPr>
          <p:cNvPr id="7" name="">
            <a:extLst xmlns:a="http://schemas.openxmlformats.org/drawingml/2006/main">
              <a:ext uri="{FF2B5EF4-FFF2-40B4-BE49-F238E27FC236}">
                <a16:creationId xmlns:a16="http://schemas.microsoft.com/office/drawing/2014/main" id="{E1198B8B-B2BE-4B72-9E8A-4C38B7F2EF03}"/>
              </a:ext>
            </a:extLst>
          </p:cNvPr>
          <p:cNvSpPr>
            <a:spLocks xmlns:a="http://schemas.openxmlformats.org/drawingml/2006/main" noGrp="1"/>
          </p:cNvSpPr>
          <p:nvPr/>
        </p:nvSpPr>
        <p:spPr>
          <a:xfrm xmlns:a="http://schemas.openxmlformats.org/drawingml/2006/main">
            <a:off x="1714500" y="1409700"/>
            <a:ext cx="238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i="0">
                <a:solidFill>
                  <a:srgbClr val="66717E"/>
                </a:solidFill>
              </a:defRPr>
            </a:pPr>
            <a:r>
              <a:rPr sz="975" b="1" i="0">
                <a:solidFill>
                  <a:srgbClr val="66717E"/>
                </a:solidFill>
              </a:rPr>
              <a:t>What we observed</a:t>
            </a:r>
          </a:p>
        </p:txBody>
      </p:sp>
      <p:sp>
        <p:nvSpPr>
          <p:cNvPr id="8" name="">
            <a:extLst xmlns:a="http://schemas.openxmlformats.org/drawingml/2006/main">
              <a:ext uri="{FF2B5EF4-FFF2-40B4-BE49-F238E27FC236}">
                <a16:creationId xmlns:a16="http://schemas.microsoft.com/office/drawing/2014/main" id="{563E77C6-E950-43C3-94BD-0A72804CB2DC}"/>
              </a:ext>
            </a:extLst>
          </p:cNvPr>
          <p:cNvSpPr>
            <a:spLocks xmlns:a="http://schemas.openxmlformats.org/drawingml/2006/main" noGrp="1"/>
          </p:cNvSpPr>
          <p:nvPr/>
        </p:nvSpPr>
        <p:spPr>
          <a:xfrm xmlns:a="http://schemas.openxmlformats.org/drawingml/2006/main">
            <a:off x="4286250" y="1409700"/>
            <a:ext cx="3943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i="0">
                <a:solidFill>
                  <a:srgbClr val="66717E"/>
                </a:solidFill>
              </a:defRPr>
            </a:pPr>
            <a:r>
              <a:rPr sz="975" b="1" i="0">
                <a:solidFill>
                  <a:srgbClr val="66717E"/>
                </a:solidFill>
              </a:rPr>
              <a:t>Why it occurs</a:t>
            </a:r>
          </a:p>
        </p:txBody>
      </p:sp>
      <p:sp>
        <p:nvSpPr>
          <p:cNvPr id="9" name="">
            <a:extLst xmlns:a="http://schemas.openxmlformats.org/drawingml/2006/main">
              <a:ext uri="{FF2B5EF4-FFF2-40B4-BE49-F238E27FC236}">
                <a16:creationId xmlns:a16="http://schemas.microsoft.com/office/drawing/2014/main" id="{2D4F2566-E856-4CBC-AB7C-1EC17AD3198B}"/>
              </a:ext>
            </a:extLst>
          </p:cNvPr>
          <p:cNvSpPr>
            <a:spLocks xmlns:a="http://schemas.openxmlformats.org/drawingml/2006/main" noGrp="1"/>
          </p:cNvSpPr>
          <p:nvPr/>
        </p:nvSpPr>
        <p:spPr>
          <a:xfrm xmlns:a="http://schemas.openxmlformats.org/drawingml/2006/main">
            <a:off x="8420100" y="1409700"/>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i="0">
                <a:solidFill>
                  <a:srgbClr val="66717E"/>
                </a:solidFill>
              </a:defRPr>
            </a:pPr>
            <a:r>
              <a:rPr sz="975" b="1" i="0">
                <a:solidFill>
                  <a:srgbClr val="66717E"/>
                </a:solidFill>
              </a:rPr>
              <a:t>Evidence</a:t>
            </a:r>
          </a:p>
        </p:txBody>
      </p:sp>
      <p:sp>
        <p:nvSpPr>
          <p:cNvPr id="10" name="">
            <a:extLst xmlns:a="http://schemas.openxmlformats.org/drawingml/2006/main">
              <a:ext uri="{FF2B5EF4-FFF2-40B4-BE49-F238E27FC236}">
                <a16:creationId xmlns:a16="http://schemas.microsoft.com/office/drawing/2014/main" id="{228D3EEC-28AD-425A-86D4-61F8A0B60B63}"/>
              </a:ext>
            </a:extLst>
          </p:cNvPr>
          <p:cNvSpPr>
            <a:spLocks xmlns:a="http://schemas.openxmlformats.org/drawingml/2006/main" noGrp="1"/>
          </p:cNvSpPr>
          <p:nvPr/>
        </p:nvSpPr>
        <p:spPr>
          <a:xfrm xmlns:a="http://schemas.openxmlformats.org/drawingml/2006/main">
            <a:off x="9906000" y="1409700"/>
            <a:ext cx="142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i="0">
                <a:solidFill>
                  <a:srgbClr val="66717E"/>
                </a:solidFill>
              </a:defRPr>
            </a:pPr>
            <a:r>
              <a:rPr sz="975" b="1" i="0">
                <a:solidFill>
                  <a:srgbClr val="66717E"/>
                </a:solidFill>
              </a:rPr>
              <a:t>Confidence</a:t>
            </a:r>
          </a:p>
        </p:txBody>
      </p:sp>
      <p:sp>
        <p:nvSpPr>
          <p:cNvPr id="11" name="">
            <a:extLst xmlns:a="http://schemas.openxmlformats.org/drawingml/2006/main">
              <a:ext uri="{FF2B5EF4-FFF2-40B4-BE49-F238E27FC236}">
                <a16:creationId xmlns:a16="http://schemas.microsoft.com/office/drawing/2014/main" id="{96266666-FA19-4485-8123-3B51A16E1818}"/>
              </a:ext>
            </a:extLst>
          </p:cNvPr>
          <p:cNvSpPr>
            <a:spLocks xmlns:a="http://schemas.openxmlformats.org/drawingml/2006/main" noGrp="1"/>
          </p:cNvSpPr>
          <p:nvPr/>
        </p:nvSpPr>
        <p:spPr>
          <a:xfrm xmlns:a="http://schemas.openxmlformats.org/drawingml/2006/main">
            <a:off x="609600" y="1714500"/>
            <a:ext cx="10972800" cy="990600"/>
          </a:xfrm>
          <a:prstGeom xmlns:a="http://schemas.openxmlformats.org/drawingml/2006/main" prst="roundRect">
            <a:avLst>
              <a:gd name="adj" fmla="val 7692"/>
            </a:avLst>
          </a:prstGeom>
          <a:solidFill xmlns:a="http://schemas.openxmlformats.org/drawingml/2006/main">
            <a:srgbClr val="FFFFFF"/>
          </a:solidFill>
          <a:ln xmlns:a="http://schemas.openxmlformats.org/drawingml/2006/main" w="9525">
            <a:solidFill>
              <a:srgbClr val="C9D2DC"/>
            </a:solidFill>
            <a:prstDash val="solid"/>
          </a:ln>
        </p:spPr>
      </p:sp>
      <p:sp>
        <p:nvSpPr>
          <p:cNvPr id="12" name="">
            <a:extLst xmlns:a="http://schemas.openxmlformats.org/drawingml/2006/main">
              <a:ext uri="{FF2B5EF4-FFF2-40B4-BE49-F238E27FC236}">
                <a16:creationId xmlns:a16="http://schemas.microsoft.com/office/drawing/2014/main" id="{B357914A-4E06-496D-AF10-CCE4B16A0CF0}"/>
              </a:ext>
            </a:extLst>
          </p:cNvPr>
          <p:cNvSpPr>
            <a:spLocks xmlns:a="http://schemas.openxmlformats.org/drawingml/2006/main" noGrp="1"/>
          </p:cNvSpPr>
          <p:nvPr/>
        </p:nvSpPr>
        <p:spPr>
          <a:xfrm xmlns:a="http://schemas.openxmlformats.org/drawingml/2006/main">
            <a:off x="781050" y="2038350"/>
            <a:ext cx="685800" cy="285750"/>
          </a:xfrm>
          <a:prstGeom xmlns:a="http://schemas.openxmlformats.org/drawingml/2006/main" prst="roundRect">
            <a:avLst>
              <a:gd name="adj" fmla="val 26667"/>
            </a:avLst>
          </a:prstGeom>
          <a:solidFill xmlns:a="http://schemas.openxmlformats.org/drawingml/2006/main">
            <a:srgbClr val="DCEAF7"/>
          </a:solidFill>
          <a:ln xmlns:a="http://schemas.openxmlformats.org/drawingml/2006/main" w="0">
            <a:solidFill>
              <a:srgbClr val="DCEAF7"/>
            </a:solidFill>
            <a:prstDash val="solid"/>
          </a:ln>
        </p:spPr>
      </p:sp>
      <p:sp>
        <p:nvSpPr>
          <p:cNvPr id="13" name="">
            <a:extLst xmlns:a="http://schemas.openxmlformats.org/drawingml/2006/main">
              <a:ext uri="{FF2B5EF4-FFF2-40B4-BE49-F238E27FC236}">
                <a16:creationId xmlns:a16="http://schemas.microsoft.com/office/drawing/2014/main" id="{90072134-EA12-4707-9ACE-876395543FA0}"/>
              </a:ext>
            </a:extLst>
          </p:cNvPr>
          <p:cNvSpPr>
            <a:spLocks xmlns:a="http://schemas.openxmlformats.org/drawingml/2006/main" noGrp="1"/>
          </p:cNvSpPr>
          <p:nvPr/>
        </p:nvSpPr>
        <p:spPr>
          <a:xfrm xmlns:a="http://schemas.openxmlformats.org/drawingml/2006/main">
            <a:off x="781050" y="2047875"/>
            <a:ext cx="6858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75" b="1" i="0">
                <a:solidFill>
                  <a:srgbClr val="17324D"/>
                </a:solidFill>
              </a:defRPr>
            </a:pPr>
            <a:r>
              <a:rPr sz="975" b="1" i="0">
                <a:solidFill>
                  <a:srgbClr val="17324D"/>
                </a:solidFill>
              </a:rPr>
              <a:t>F-01</a:t>
            </a:r>
          </a:p>
        </p:txBody>
      </p:sp>
      <p:sp>
        <p:nvSpPr>
          <p:cNvPr id="14" name="">
            <a:extLst xmlns:a="http://schemas.openxmlformats.org/drawingml/2006/main">
              <a:ext uri="{FF2B5EF4-FFF2-40B4-BE49-F238E27FC236}">
                <a16:creationId xmlns:a16="http://schemas.microsoft.com/office/drawing/2014/main" id="{7A6EC8A0-D9BD-4A3A-B1B4-C7E83D9BB3D8}"/>
              </a:ext>
            </a:extLst>
          </p:cNvPr>
          <p:cNvSpPr>
            <a:spLocks xmlns:a="http://schemas.openxmlformats.org/drawingml/2006/main" noGrp="1"/>
          </p:cNvSpPr>
          <p:nvPr/>
        </p:nvSpPr>
        <p:spPr>
          <a:xfrm xmlns:a="http://schemas.openxmlformats.org/drawingml/2006/main">
            <a:off x="1714500" y="1876425"/>
            <a:ext cx="23812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i="0">
                <a:solidFill>
                  <a:srgbClr val="17324D"/>
                </a:solidFill>
              </a:defRPr>
            </a:pPr>
            <a:r>
              <a:rPr sz="1275" b="1" i="0">
                <a:solidFill>
                  <a:srgbClr val="17324D"/>
                </a:solidFill>
              </a:rPr>
              <a:t>[Observed condition]</a:t>
            </a:r>
          </a:p>
        </p:txBody>
      </p:sp>
      <p:sp>
        <p:nvSpPr>
          <p:cNvPr id="15" name="">
            <a:extLst xmlns:a="http://schemas.openxmlformats.org/drawingml/2006/main">
              <a:ext uri="{FF2B5EF4-FFF2-40B4-BE49-F238E27FC236}">
                <a16:creationId xmlns:a16="http://schemas.microsoft.com/office/drawing/2014/main" id="{C2F1FBD4-A77A-4494-8E8D-0FAE21005CCD}"/>
              </a:ext>
            </a:extLst>
          </p:cNvPr>
          <p:cNvSpPr>
            <a:spLocks xmlns:a="http://schemas.openxmlformats.org/drawingml/2006/main" noGrp="1"/>
          </p:cNvSpPr>
          <p:nvPr/>
        </p:nvSpPr>
        <p:spPr>
          <a:xfrm xmlns:a="http://schemas.openxmlformats.org/drawingml/2006/main">
            <a:off x="4286250" y="1876425"/>
            <a:ext cx="39433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i="0">
                <a:solidFill>
                  <a:srgbClr val="20262E"/>
                </a:solidFill>
              </a:defRPr>
            </a:pPr>
            <a:r>
              <a:rPr sz="1200" b="0" i="0">
                <a:solidFill>
                  <a:srgbClr val="20262E"/>
                </a:solidFill>
              </a:rPr>
              <a:t>[Root cause: people / process / information / systems / controls]</a:t>
            </a:r>
          </a:p>
        </p:txBody>
      </p:sp>
      <p:sp>
        <p:nvSpPr>
          <p:cNvPr id="16" name="">
            <a:extLst xmlns:a="http://schemas.openxmlformats.org/drawingml/2006/main">
              <a:ext uri="{FF2B5EF4-FFF2-40B4-BE49-F238E27FC236}">
                <a16:creationId xmlns:a16="http://schemas.microsoft.com/office/drawing/2014/main" id="{914D700B-16D0-499E-A8BC-94304C597D0C}"/>
              </a:ext>
            </a:extLst>
          </p:cNvPr>
          <p:cNvSpPr>
            <a:spLocks xmlns:a="http://schemas.openxmlformats.org/drawingml/2006/main" noGrp="1"/>
          </p:cNvSpPr>
          <p:nvPr/>
        </p:nvSpPr>
        <p:spPr>
          <a:xfrm xmlns:a="http://schemas.openxmlformats.org/drawingml/2006/main">
            <a:off x="8420100" y="2000250"/>
            <a:ext cx="1143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1" i="0">
                <a:solidFill>
                  <a:srgbClr val="2E74B5"/>
                </a:solidFill>
              </a:defRPr>
            </a:pPr>
            <a:r>
              <a:rPr sz="1125" b="1" i="0">
                <a:solidFill>
                  <a:srgbClr val="2E74B5"/>
                </a:solidFill>
              </a:rPr>
              <a:t>E-01, E-03</a:t>
            </a:r>
          </a:p>
        </p:txBody>
      </p:sp>
      <p:sp>
        <p:nvSpPr>
          <p:cNvPr id="17" name="">
            <a:extLst xmlns:a="http://schemas.openxmlformats.org/drawingml/2006/main">
              <a:ext uri="{FF2B5EF4-FFF2-40B4-BE49-F238E27FC236}">
                <a16:creationId xmlns:a16="http://schemas.microsoft.com/office/drawing/2014/main" id="{8641BDC7-89A6-4FF6-90B9-79EA7EB39720}"/>
              </a:ext>
            </a:extLst>
          </p:cNvPr>
          <p:cNvSpPr>
            <a:spLocks xmlns:a="http://schemas.openxmlformats.org/drawingml/2006/main" noGrp="1"/>
          </p:cNvSpPr>
          <p:nvPr/>
        </p:nvSpPr>
        <p:spPr>
          <a:xfrm xmlns:a="http://schemas.openxmlformats.org/drawingml/2006/main">
            <a:off x="10020300" y="2038350"/>
            <a:ext cx="1219200" cy="285750"/>
          </a:xfrm>
          <a:prstGeom xmlns:a="http://schemas.openxmlformats.org/drawingml/2006/main" prst="roundRect">
            <a:avLst>
              <a:gd name="adj" fmla="val 26667"/>
            </a:avLst>
          </a:prstGeom>
          <a:solidFill xmlns:a="http://schemas.openxmlformats.org/drawingml/2006/main">
            <a:srgbClr val="E8F3EC"/>
          </a:solidFill>
          <a:ln xmlns:a="http://schemas.openxmlformats.org/drawingml/2006/main" w="0">
            <a:solidFill>
              <a:srgbClr val="E8F3EC"/>
            </a:solidFill>
            <a:prstDash val="solid"/>
          </a:ln>
        </p:spPr>
      </p:sp>
      <p:sp>
        <p:nvSpPr>
          <p:cNvPr id="18" name="">
            <a:extLst xmlns:a="http://schemas.openxmlformats.org/drawingml/2006/main">
              <a:ext uri="{FF2B5EF4-FFF2-40B4-BE49-F238E27FC236}">
                <a16:creationId xmlns:a16="http://schemas.microsoft.com/office/drawing/2014/main" id="{2F085786-8FF9-451F-83BC-196012F132BB}"/>
              </a:ext>
            </a:extLst>
          </p:cNvPr>
          <p:cNvSpPr>
            <a:spLocks xmlns:a="http://schemas.openxmlformats.org/drawingml/2006/main" noGrp="1"/>
          </p:cNvSpPr>
          <p:nvPr/>
        </p:nvSpPr>
        <p:spPr>
          <a:xfrm xmlns:a="http://schemas.openxmlformats.org/drawingml/2006/main">
            <a:off x="10020300" y="2047875"/>
            <a:ext cx="12192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75" b="1" i="0">
                <a:solidFill>
                  <a:srgbClr val="2E7D5B"/>
                </a:solidFill>
              </a:defRPr>
            </a:pPr>
            <a:r>
              <a:rPr sz="975" b="1" i="0">
                <a:solidFill>
                  <a:srgbClr val="2E7D5B"/>
                </a:solidFill>
              </a:rPr>
              <a:t>HIGH</a:t>
            </a:r>
          </a:p>
        </p:txBody>
      </p:sp>
      <p:sp>
        <p:nvSpPr>
          <p:cNvPr id="19" name="">
            <a:extLst xmlns:a="http://schemas.openxmlformats.org/drawingml/2006/main">
              <a:ext uri="{FF2B5EF4-FFF2-40B4-BE49-F238E27FC236}">
                <a16:creationId xmlns:a16="http://schemas.microsoft.com/office/drawing/2014/main" id="{4D2962F2-C253-42BB-A79D-D5414DE0E42A}"/>
              </a:ext>
            </a:extLst>
          </p:cNvPr>
          <p:cNvSpPr>
            <a:spLocks xmlns:a="http://schemas.openxmlformats.org/drawingml/2006/main" noGrp="1"/>
          </p:cNvSpPr>
          <p:nvPr/>
        </p:nvSpPr>
        <p:spPr>
          <a:xfrm xmlns:a="http://schemas.openxmlformats.org/drawingml/2006/main">
            <a:off x="609600" y="2914650"/>
            <a:ext cx="10972800" cy="990600"/>
          </a:xfrm>
          <a:prstGeom xmlns:a="http://schemas.openxmlformats.org/drawingml/2006/main" prst="roundRect">
            <a:avLst>
              <a:gd name="adj" fmla="val 7692"/>
            </a:avLst>
          </a:prstGeom>
          <a:solidFill xmlns:a="http://schemas.openxmlformats.org/drawingml/2006/main">
            <a:srgbClr val="FFFFFF"/>
          </a:solidFill>
          <a:ln xmlns:a="http://schemas.openxmlformats.org/drawingml/2006/main" w="9525">
            <a:solidFill>
              <a:srgbClr val="C9D2DC"/>
            </a:solidFill>
            <a:prstDash val="solid"/>
          </a:ln>
        </p:spPr>
      </p:sp>
      <p:sp>
        <p:nvSpPr>
          <p:cNvPr id="20" name="">
            <a:extLst xmlns:a="http://schemas.openxmlformats.org/drawingml/2006/main">
              <a:ext uri="{FF2B5EF4-FFF2-40B4-BE49-F238E27FC236}">
                <a16:creationId xmlns:a16="http://schemas.microsoft.com/office/drawing/2014/main" id="{E89AD92D-948A-4112-A6AD-6D6F29231D25}"/>
              </a:ext>
            </a:extLst>
          </p:cNvPr>
          <p:cNvSpPr>
            <a:spLocks xmlns:a="http://schemas.openxmlformats.org/drawingml/2006/main" noGrp="1"/>
          </p:cNvSpPr>
          <p:nvPr/>
        </p:nvSpPr>
        <p:spPr>
          <a:xfrm xmlns:a="http://schemas.openxmlformats.org/drawingml/2006/main">
            <a:off x="781050" y="3238500"/>
            <a:ext cx="685800" cy="285750"/>
          </a:xfrm>
          <a:prstGeom xmlns:a="http://schemas.openxmlformats.org/drawingml/2006/main" prst="roundRect">
            <a:avLst>
              <a:gd name="adj" fmla="val 26667"/>
            </a:avLst>
          </a:prstGeom>
          <a:solidFill xmlns:a="http://schemas.openxmlformats.org/drawingml/2006/main">
            <a:srgbClr val="DCEAF7"/>
          </a:solidFill>
          <a:ln xmlns:a="http://schemas.openxmlformats.org/drawingml/2006/main" w="0">
            <a:solidFill>
              <a:srgbClr val="DCEAF7"/>
            </a:solidFill>
            <a:prstDash val="solid"/>
          </a:ln>
        </p:spPr>
      </p:sp>
      <p:sp>
        <p:nvSpPr>
          <p:cNvPr id="21" name="">
            <a:extLst xmlns:a="http://schemas.openxmlformats.org/drawingml/2006/main">
              <a:ext uri="{FF2B5EF4-FFF2-40B4-BE49-F238E27FC236}">
                <a16:creationId xmlns:a16="http://schemas.microsoft.com/office/drawing/2014/main" id="{C599D3D1-08B1-43C1-A37E-FEB98BDDB439}"/>
              </a:ext>
            </a:extLst>
          </p:cNvPr>
          <p:cNvSpPr>
            <a:spLocks xmlns:a="http://schemas.openxmlformats.org/drawingml/2006/main" noGrp="1"/>
          </p:cNvSpPr>
          <p:nvPr/>
        </p:nvSpPr>
        <p:spPr>
          <a:xfrm xmlns:a="http://schemas.openxmlformats.org/drawingml/2006/main">
            <a:off x="781050" y="3248025"/>
            <a:ext cx="6858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75" b="1" i="0">
                <a:solidFill>
                  <a:srgbClr val="17324D"/>
                </a:solidFill>
              </a:defRPr>
            </a:pPr>
            <a:r>
              <a:rPr sz="975" b="1" i="0">
                <a:solidFill>
                  <a:srgbClr val="17324D"/>
                </a:solidFill>
              </a:rPr>
              <a:t>F-02</a:t>
            </a:r>
          </a:p>
        </p:txBody>
      </p:sp>
      <p:sp>
        <p:nvSpPr>
          <p:cNvPr id="22" name="">
            <a:extLst xmlns:a="http://schemas.openxmlformats.org/drawingml/2006/main">
              <a:ext uri="{FF2B5EF4-FFF2-40B4-BE49-F238E27FC236}">
                <a16:creationId xmlns:a16="http://schemas.microsoft.com/office/drawing/2014/main" id="{A04B9905-4AAB-4EC3-AA01-EFD53D9F49F2}"/>
              </a:ext>
            </a:extLst>
          </p:cNvPr>
          <p:cNvSpPr>
            <a:spLocks xmlns:a="http://schemas.openxmlformats.org/drawingml/2006/main" noGrp="1"/>
          </p:cNvSpPr>
          <p:nvPr/>
        </p:nvSpPr>
        <p:spPr>
          <a:xfrm xmlns:a="http://schemas.openxmlformats.org/drawingml/2006/main">
            <a:off x="1714500" y="3076575"/>
            <a:ext cx="23812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i="0">
                <a:solidFill>
                  <a:srgbClr val="17324D"/>
                </a:solidFill>
              </a:defRPr>
            </a:pPr>
            <a:r>
              <a:rPr sz="1275" b="1" i="0">
                <a:solidFill>
                  <a:srgbClr val="17324D"/>
                </a:solidFill>
              </a:rPr>
              <a:t>[Observed condition]</a:t>
            </a:r>
          </a:p>
        </p:txBody>
      </p:sp>
      <p:sp>
        <p:nvSpPr>
          <p:cNvPr id="23" name="">
            <a:extLst xmlns:a="http://schemas.openxmlformats.org/drawingml/2006/main">
              <a:ext uri="{FF2B5EF4-FFF2-40B4-BE49-F238E27FC236}">
                <a16:creationId xmlns:a16="http://schemas.microsoft.com/office/drawing/2014/main" id="{C87E90B9-4BA3-4E05-AF78-CE508F25423F}"/>
              </a:ext>
            </a:extLst>
          </p:cNvPr>
          <p:cNvSpPr>
            <a:spLocks xmlns:a="http://schemas.openxmlformats.org/drawingml/2006/main" noGrp="1"/>
          </p:cNvSpPr>
          <p:nvPr/>
        </p:nvSpPr>
        <p:spPr>
          <a:xfrm xmlns:a="http://schemas.openxmlformats.org/drawingml/2006/main">
            <a:off x="4286250" y="3076575"/>
            <a:ext cx="39433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i="0">
                <a:solidFill>
                  <a:srgbClr val="20262E"/>
                </a:solidFill>
              </a:defRPr>
            </a:pPr>
            <a:r>
              <a:rPr sz="1200" b="0" i="0">
                <a:solidFill>
                  <a:srgbClr val="20262E"/>
                </a:solidFill>
              </a:rPr>
              <a:t>[Root-cause hypothesis]</a:t>
            </a:r>
          </a:p>
        </p:txBody>
      </p:sp>
      <p:sp>
        <p:nvSpPr>
          <p:cNvPr id="24" name="">
            <a:extLst xmlns:a="http://schemas.openxmlformats.org/drawingml/2006/main">
              <a:ext uri="{FF2B5EF4-FFF2-40B4-BE49-F238E27FC236}">
                <a16:creationId xmlns:a16="http://schemas.microsoft.com/office/drawing/2014/main" id="{3DDE50BA-736F-4E8C-A2D2-C37E4FB0D7AC}"/>
              </a:ext>
            </a:extLst>
          </p:cNvPr>
          <p:cNvSpPr>
            <a:spLocks xmlns:a="http://schemas.openxmlformats.org/drawingml/2006/main" noGrp="1"/>
          </p:cNvSpPr>
          <p:nvPr/>
        </p:nvSpPr>
        <p:spPr>
          <a:xfrm xmlns:a="http://schemas.openxmlformats.org/drawingml/2006/main">
            <a:off x="8420100" y="3200400"/>
            <a:ext cx="1143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1" i="0">
                <a:solidFill>
                  <a:srgbClr val="2E74B5"/>
                </a:solidFill>
              </a:defRPr>
            </a:pPr>
            <a:r>
              <a:rPr sz="1125" b="1" i="0">
                <a:solidFill>
                  <a:srgbClr val="2E74B5"/>
                </a:solidFill>
              </a:rPr>
              <a:t>E-02, E-04</a:t>
            </a:r>
          </a:p>
        </p:txBody>
      </p:sp>
      <p:sp>
        <p:nvSpPr>
          <p:cNvPr id="25" name="">
            <a:extLst xmlns:a="http://schemas.openxmlformats.org/drawingml/2006/main">
              <a:ext uri="{FF2B5EF4-FFF2-40B4-BE49-F238E27FC236}">
                <a16:creationId xmlns:a16="http://schemas.microsoft.com/office/drawing/2014/main" id="{7374B1C1-0605-42D6-8FCD-42E35B767DF0}"/>
              </a:ext>
            </a:extLst>
          </p:cNvPr>
          <p:cNvSpPr>
            <a:spLocks xmlns:a="http://schemas.openxmlformats.org/drawingml/2006/main" noGrp="1"/>
          </p:cNvSpPr>
          <p:nvPr/>
        </p:nvSpPr>
        <p:spPr>
          <a:xfrm xmlns:a="http://schemas.openxmlformats.org/drawingml/2006/main">
            <a:off x="10020300" y="3238500"/>
            <a:ext cx="1219200" cy="285750"/>
          </a:xfrm>
          <a:prstGeom xmlns:a="http://schemas.openxmlformats.org/drawingml/2006/main" prst="roundRect">
            <a:avLst>
              <a:gd name="adj" fmla="val 26667"/>
            </a:avLst>
          </a:prstGeom>
          <a:solidFill xmlns:a="http://schemas.openxmlformats.org/drawingml/2006/main">
            <a:srgbClr val="FFF4CE"/>
          </a:solidFill>
          <a:ln xmlns:a="http://schemas.openxmlformats.org/drawingml/2006/main" w="0">
            <a:solidFill>
              <a:srgbClr val="FFF4CE"/>
            </a:solidFill>
            <a:prstDash val="solid"/>
          </a:ln>
        </p:spPr>
      </p:sp>
      <p:sp>
        <p:nvSpPr>
          <p:cNvPr id="26" name="">
            <a:extLst xmlns:a="http://schemas.openxmlformats.org/drawingml/2006/main">
              <a:ext uri="{FF2B5EF4-FFF2-40B4-BE49-F238E27FC236}">
                <a16:creationId xmlns:a16="http://schemas.microsoft.com/office/drawing/2014/main" id="{83A6BE76-E904-412F-8EA6-7B6C611660B2}"/>
              </a:ext>
            </a:extLst>
          </p:cNvPr>
          <p:cNvSpPr>
            <a:spLocks xmlns:a="http://schemas.openxmlformats.org/drawingml/2006/main" noGrp="1"/>
          </p:cNvSpPr>
          <p:nvPr/>
        </p:nvSpPr>
        <p:spPr>
          <a:xfrm xmlns:a="http://schemas.openxmlformats.org/drawingml/2006/main">
            <a:off x="10020300" y="3248025"/>
            <a:ext cx="12192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75" b="1" i="0">
                <a:solidFill>
                  <a:srgbClr val="17324D"/>
                </a:solidFill>
              </a:defRPr>
            </a:pPr>
            <a:r>
              <a:rPr sz="975" b="1" i="0">
                <a:solidFill>
                  <a:srgbClr val="17324D"/>
                </a:solidFill>
              </a:rPr>
              <a:t>MEDIUM</a:t>
            </a:r>
          </a:p>
        </p:txBody>
      </p:sp>
      <p:sp>
        <p:nvSpPr>
          <p:cNvPr id="27" name="">
            <a:extLst xmlns:a="http://schemas.openxmlformats.org/drawingml/2006/main">
              <a:ext uri="{FF2B5EF4-FFF2-40B4-BE49-F238E27FC236}">
                <a16:creationId xmlns:a16="http://schemas.microsoft.com/office/drawing/2014/main" id="{0DB030CF-80B6-4294-AD7D-E32182321FCF}"/>
              </a:ext>
            </a:extLst>
          </p:cNvPr>
          <p:cNvSpPr>
            <a:spLocks xmlns:a="http://schemas.openxmlformats.org/drawingml/2006/main" noGrp="1"/>
          </p:cNvSpPr>
          <p:nvPr/>
        </p:nvSpPr>
        <p:spPr>
          <a:xfrm xmlns:a="http://schemas.openxmlformats.org/drawingml/2006/main">
            <a:off x="609600" y="4114800"/>
            <a:ext cx="10972800" cy="990600"/>
          </a:xfrm>
          <a:prstGeom xmlns:a="http://schemas.openxmlformats.org/drawingml/2006/main" prst="roundRect">
            <a:avLst>
              <a:gd name="adj" fmla="val 7692"/>
            </a:avLst>
          </a:prstGeom>
          <a:solidFill xmlns:a="http://schemas.openxmlformats.org/drawingml/2006/main">
            <a:srgbClr val="FFFFFF"/>
          </a:solidFill>
          <a:ln xmlns:a="http://schemas.openxmlformats.org/drawingml/2006/main" w="9525">
            <a:solidFill>
              <a:srgbClr val="C9D2DC"/>
            </a:solidFill>
            <a:prstDash val="solid"/>
          </a:ln>
        </p:spPr>
      </p:sp>
      <p:sp>
        <p:nvSpPr>
          <p:cNvPr id="28" name="">
            <a:extLst xmlns:a="http://schemas.openxmlformats.org/drawingml/2006/main">
              <a:ext uri="{FF2B5EF4-FFF2-40B4-BE49-F238E27FC236}">
                <a16:creationId xmlns:a16="http://schemas.microsoft.com/office/drawing/2014/main" id="{3775E2F9-DC4A-448C-B6A5-207CDE6D1042}"/>
              </a:ext>
            </a:extLst>
          </p:cNvPr>
          <p:cNvSpPr>
            <a:spLocks xmlns:a="http://schemas.openxmlformats.org/drawingml/2006/main" noGrp="1"/>
          </p:cNvSpPr>
          <p:nvPr/>
        </p:nvSpPr>
        <p:spPr>
          <a:xfrm xmlns:a="http://schemas.openxmlformats.org/drawingml/2006/main">
            <a:off x="781050" y="4438650"/>
            <a:ext cx="685800" cy="285750"/>
          </a:xfrm>
          <a:prstGeom xmlns:a="http://schemas.openxmlformats.org/drawingml/2006/main" prst="roundRect">
            <a:avLst>
              <a:gd name="adj" fmla="val 26667"/>
            </a:avLst>
          </a:prstGeom>
          <a:solidFill xmlns:a="http://schemas.openxmlformats.org/drawingml/2006/main">
            <a:srgbClr val="DCEAF7"/>
          </a:solidFill>
          <a:ln xmlns:a="http://schemas.openxmlformats.org/drawingml/2006/main" w="0">
            <a:solidFill>
              <a:srgbClr val="DCEAF7"/>
            </a:solidFill>
            <a:prstDash val="solid"/>
          </a:ln>
        </p:spPr>
      </p:sp>
      <p:sp>
        <p:nvSpPr>
          <p:cNvPr id="29" name="">
            <a:extLst xmlns:a="http://schemas.openxmlformats.org/drawingml/2006/main">
              <a:ext uri="{FF2B5EF4-FFF2-40B4-BE49-F238E27FC236}">
                <a16:creationId xmlns:a16="http://schemas.microsoft.com/office/drawing/2014/main" id="{9AB470C8-AEED-4FAC-A019-4B0DD254365A}"/>
              </a:ext>
            </a:extLst>
          </p:cNvPr>
          <p:cNvSpPr>
            <a:spLocks xmlns:a="http://schemas.openxmlformats.org/drawingml/2006/main" noGrp="1"/>
          </p:cNvSpPr>
          <p:nvPr/>
        </p:nvSpPr>
        <p:spPr>
          <a:xfrm xmlns:a="http://schemas.openxmlformats.org/drawingml/2006/main">
            <a:off x="781050" y="4448175"/>
            <a:ext cx="6858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75" b="1" i="0">
                <a:solidFill>
                  <a:srgbClr val="17324D"/>
                </a:solidFill>
              </a:defRPr>
            </a:pPr>
            <a:r>
              <a:rPr sz="975" b="1" i="0">
                <a:solidFill>
                  <a:srgbClr val="17324D"/>
                </a:solidFill>
              </a:rPr>
              <a:t>F-03</a:t>
            </a:r>
          </a:p>
        </p:txBody>
      </p:sp>
      <p:sp>
        <p:nvSpPr>
          <p:cNvPr id="30" name="">
            <a:extLst xmlns:a="http://schemas.openxmlformats.org/drawingml/2006/main">
              <a:ext uri="{FF2B5EF4-FFF2-40B4-BE49-F238E27FC236}">
                <a16:creationId xmlns:a16="http://schemas.microsoft.com/office/drawing/2014/main" id="{440F8ADC-5440-4ADD-BAB4-26885FBA82E2}"/>
              </a:ext>
            </a:extLst>
          </p:cNvPr>
          <p:cNvSpPr>
            <a:spLocks xmlns:a="http://schemas.openxmlformats.org/drawingml/2006/main" noGrp="1"/>
          </p:cNvSpPr>
          <p:nvPr/>
        </p:nvSpPr>
        <p:spPr>
          <a:xfrm xmlns:a="http://schemas.openxmlformats.org/drawingml/2006/main">
            <a:off x="1714500" y="4276725"/>
            <a:ext cx="23812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i="0">
                <a:solidFill>
                  <a:srgbClr val="17324D"/>
                </a:solidFill>
              </a:defRPr>
            </a:pPr>
            <a:r>
              <a:rPr sz="1275" b="1" i="0">
                <a:solidFill>
                  <a:srgbClr val="17324D"/>
                </a:solidFill>
              </a:rPr>
              <a:t>[Observed condition]</a:t>
            </a:r>
          </a:p>
        </p:txBody>
      </p:sp>
      <p:sp>
        <p:nvSpPr>
          <p:cNvPr id="31" name="">
            <a:extLst xmlns:a="http://schemas.openxmlformats.org/drawingml/2006/main">
              <a:ext uri="{FF2B5EF4-FFF2-40B4-BE49-F238E27FC236}">
                <a16:creationId xmlns:a16="http://schemas.microsoft.com/office/drawing/2014/main" id="{DDDF181E-A408-4A79-AA63-4985169D04EC}"/>
              </a:ext>
            </a:extLst>
          </p:cNvPr>
          <p:cNvSpPr>
            <a:spLocks xmlns:a="http://schemas.openxmlformats.org/drawingml/2006/main" noGrp="1"/>
          </p:cNvSpPr>
          <p:nvPr/>
        </p:nvSpPr>
        <p:spPr>
          <a:xfrm xmlns:a="http://schemas.openxmlformats.org/drawingml/2006/main">
            <a:off x="4286250" y="4276725"/>
            <a:ext cx="39433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i="0">
                <a:solidFill>
                  <a:srgbClr val="20262E"/>
                </a:solidFill>
              </a:defRPr>
            </a:pPr>
            <a:r>
              <a:rPr sz="1200" b="0" i="0">
                <a:solidFill>
                  <a:srgbClr val="20262E"/>
                </a:solidFill>
              </a:rPr>
              <a:t>[Open question / unresolved cause]</a:t>
            </a:r>
          </a:p>
        </p:txBody>
      </p:sp>
      <p:sp>
        <p:nvSpPr>
          <p:cNvPr id="32" name="">
            <a:extLst xmlns:a="http://schemas.openxmlformats.org/drawingml/2006/main">
              <a:ext uri="{FF2B5EF4-FFF2-40B4-BE49-F238E27FC236}">
                <a16:creationId xmlns:a16="http://schemas.microsoft.com/office/drawing/2014/main" id="{ABA072D5-B2FE-4119-ABF4-E3871BCA8196}"/>
              </a:ext>
            </a:extLst>
          </p:cNvPr>
          <p:cNvSpPr>
            <a:spLocks xmlns:a="http://schemas.openxmlformats.org/drawingml/2006/main" noGrp="1"/>
          </p:cNvSpPr>
          <p:nvPr/>
        </p:nvSpPr>
        <p:spPr>
          <a:xfrm xmlns:a="http://schemas.openxmlformats.org/drawingml/2006/main">
            <a:off x="8420100" y="4400550"/>
            <a:ext cx="1143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1" i="0">
                <a:solidFill>
                  <a:srgbClr val="2E74B5"/>
                </a:solidFill>
              </a:defRPr>
            </a:pPr>
            <a:r>
              <a:rPr sz="1125" b="1" i="0">
                <a:solidFill>
                  <a:srgbClr val="2E74B5"/>
                </a:solidFill>
              </a:rPr>
              <a:t>E-05</a:t>
            </a:r>
          </a:p>
        </p:txBody>
      </p:sp>
      <p:sp>
        <p:nvSpPr>
          <p:cNvPr id="33" name="">
            <a:extLst xmlns:a="http://schemas.openxmlformats.org/drawingml/2006/main">
              <a:ext uri="{FF2B5EF4-FFF2-40B4-BE49-F238E27FC236}">
                <a16:creationId xmlns:a16="http://schemas.microsoft.com/office/drawing/2014/main" id="{A58DEFC1-1717-4E6C-A6E0-F82021158C59}"/>
              </a:ext>
            </a:extLst>
          </p:cNvPr>
          <p:cNvSpPr>
            <a:spLocks xmlns:a="http://schemas.openxmlformats.org/drawingml/2006/main" noGrp="1"/>
          </p:cNvSpPr>
          <p:nvPr/>
        </p:nvSpPr>
        <p:spPr>
          <a:xfrm xmlns:a="http://schemas.openxmlformats.org/drawingml/2006/main">
            <a:off x="10020300" y="4438650"/>
            <a:ext cx="1219200" cy="285750"/>
          </a:xfrm>
          <a:prstGeom xmlns:a="http://schemas.openxmlformats.org/drawingml/2006/main" prst="roundRect">
            <a:avLst>
              <a:gd name="adj" fmla="val 26667"/>
            </a:avLst>
          </a:prstGeom>
          <a:solidFill xmlns:a="http://schemas.openxmlformats.org/drawingml/2006/main">
            <a:srgbClr val="FCE8E6"/>
          </a:solidFill>
          <a:ln xmlns:a="http://schemas.openxmlformats.org/drawingml/2006/main" w="0">
            <a:solidFill>
              <a:srgbClr val="FCE8E6"/>
            </a:solidFill>
            <a:prstDash val="solid"/>
          </a:ln>
        </p:spPr>
      </p:sp>
      <p:sp>
        <p:nvSpPr>
          <p:cNvPr id="34" name="">
            <a:extLst xmlns:a="http://schemas.openxmlformats.org/drawingml/2006/main">
              <a:ext uri="{FF2B5EF4-FFF2-40B4-BE49-F238E27FC236}">
                <a16:creationId xmlns:a16="http://schemas.microsoft.com/office/drawing/2014/main" id="{2EF1CFF0-A3D7-41E8-B3C0-DF84A269774D}"/>
              </a:ext>
            </a:extLst>
          </p:cNvPr>
          <p:cNvSpPr>
            <a:spLocks xmlns:a="http://schemas.openxmlformats.org/drawingml/2006/main" noGrp="1"/>
          </p:cNvSpPr>
          <p:nvPr/>
        </p:nvSpPr>
        <p:spPr>
          <a:xfrm xmlns:a="http://schemas.openxmlformats.org/drawingml/2006/main">
            <a:off x="10020300" y="4448175"/>
            <a:ext cx="12192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75" b="1" i="0">
                <a:solidFill>
                  <a:srgbClr val="B54B4B"/>
                </a:solidFill>
              </a:defRPr>
            </a:pPr>
            <a:r>
              <a:rPr sz="975" b="1" i="0">
                <a:solidFill>
                  <a:srgbClr val="B54B4B"/>
                </a:solidFill>
              </a:rPr>
              <a:t>LOW</a:t>
            </a:r>
          </a:p>
        </p:txBody>
      </p:sp>
      <p:sp>
        <p:nvSpPr>
          <p:cNvPr id="35" name="">
            <a:extLst xmlns:a="http://schemas.openxmlformats.org/drawingml/2006/main">
              <a:ext uri="{FF2B5EF4-FFF2-40B4-BE49-F238E27FC236}">
                <a16:creationId xmlns:a16="http://schemas.microsoft.com/office/drawing/2014/main" id="{44B2094E-81B8-4A8E-8E6D-A162F4E59F51}"/>
              </a:ext>
            </a:extLst>
          </p:cNvPr>
          <p:cNvSpPr>
            <a:spLocks xmlns:a="http://schemas.openxmlformats.org/drawingml/2006/main" noGrp="1"/>
          </p:cNvSpPr>
          <p:nvPr/>
        </p:nvSpPr>
        <p:spPr>
          <a:xfrm xmlns:a="http://schemas.openxmlformats.org/drawingml/2006/main">
            <a:off x="609600" y="5486400"/>
            <a:ext cx="10972800" cy="514350"/>
          </a:xfrm>
          <a:prstGeom xmlns:a="http://schemas.openxmlformats.org/drawingml/2006/main" prst="roundRect">
            <a:avLst>
              <a:gd name="adj" fmla="val 14815"/>
            </a:avLst>
          </a:prstGeom>
          <a:solidFill xmlns:a="http://schemas.openxmlformats.org/drawingml/2006/main">
            <a:srgbClr val="FFF4CE"/>
          </a:solidFill>
          <a:ln xmlns:a="http://schemas.openxmlformats.org/drawingml/2006/main" w="0">
            <a:solidFill>
              <a:srgbClr val="FFF4CE"/>
            </a:solidFill>
            <a:prstDash val="solid"/>
          </a:ln>
        </p:spPr>
      </p:sp>
      <p:sp>
        <p:nvSpPr>
          <p:cNvPr id="36" name="">
            <a:extLst xmlns:a="http://schemas.openxmlformats.org/drawingml/2006/main">
              <a:ext uri="{FF2B5EF4-FFF2-40B4-BE49-F238E27FC236}">
                <a16:creationId xmlns:a16="http://schemas.microsoft.com/office/drawing/2014/main" id="{33456480-A1F0-4FA7-8903-D5E66C711084}"/>
              </a:ext>
            </a:extLst>
          </p:cNvPr>
          <p:cNvSpPr>
            <a:spLocks xmlns:a="http://schemas.openxmlformats.org/drawingml/2006/main" noGrp="1"/>
          </p:cNvSpPr>
          <p:nvPr/>
        </p:nvSpPr>
        <p:spPr>
          <a:xfrm xmlns:a="http://schemas.openxmlformats.org/drawingml/2006/main">
            <a:off x="838200" y="5610225"/>
            <a:ext cx="105156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i="0">
                <a:solidFill>
                  <a:srgbClr val="17324D"/>
                </a:solidFill>
              </a:defRPr>
            </a:pPr>
            <a:r>
              <a:rPr sz="1200" b="1" i="0">
                <a:solidFill>
                  <a:srgbClr val="17324D"/>
                </a:solidFill>
              </a:rPr>
              <a:t>Use confidence to show evidence strength — not to hide an unresolved material question.</a:t>
            </a:r>
          </a:p>
        </p:txBody>
      </p:sp>
    </p:spTree>
    <p:extLst>
      <p:ext uri="{BB962C8B-B14F-4D97-AF65-F5344CB8AC3E}">
        <p14:creationId xmlns:p14="http://schemas.microsoft.com/office/powerpoint/2010/main" val="781545092"/>
      </p:ext>
    </p:extLst>
  </p:cSld>
</p:sld>
</file>

<file path=ppt/slides/slide8.xml><?xml version="1.0" encoding="utf-8"?>
<p:sld xmlns:p="http://schemas.openxmlformats.org/presentationml/2006/main">
  <p:cSld>
    <p:bg>
      <p:bgPr>
        <a:solidFill xmlns:a="http://schemas.openxmlformats.org/drawingml/2006/main">
          <a:srgbClr val="F7F9FB"/>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613BCCC5-DEFC-4CED-9604-CE8A54F8C62D}"/>
              </a:ext>
            </a:extLst>
          </p:cNvPr>
          <p:cNvSpPr>
            <a:spLocks xmlns:a="http://schemas.openxmlformats.org/drawingml/2006/main" noGrp="1"/>
          </p:cNvSpPr>
          <p:nvPr/>
        </p:nvSpPr>
        <p:spPr>
          <a:xfrm xmlns:a="http://schemas.openxmlformats.org/drawingml/2006/main">
            <a:off x="609600" y="32385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i="0">
                <a:solidFill>
                  <a:srgbClr val="2E74B5"/>
                </a:solidFill>
              </a:defRPr>
            </a:pPr>
            <a:r>
              <a:rPr sz="900" b="1" i="0">
                <a:solidFill>
                  <a:srgbClr val="2E74B5"/>
                </a:solidFill>
              </a:rPr>
              <a:t>FUTURE STATE</a:t>
            </a:r>
          </a:p>
        </p:txBody>
      </p:sp>
      <p:sp>
        <p:nvSpPr>
          <p:cNvPr id="2" name="">
            <a:extLst xmlns:a="http://schemas.openxmlformats.org/drawingml/2006/main">
              <a:ext uri="{FF2B5EF4-FFF2-40B4-BE49-F238E27FC236}">
                <a16:creationId xmlns:a16="http://schemas.microsoft.com/office/drawing/2014/main" id="{F249469D-D14E-4351-82F9-0235BEF3ECB5}"/>
              </a:ext>
            </a:extLst>
          </p:cNvPr>
          <p:cNvSpPr>
            <a:spLocks xmlns:a="http://schemas.openxmlformats.org/drawingml/2006/main" noGrp="1"/>
          </p:cNvSpPr>
          <p:nvPr/>
        </p:nvSpPr>
        <p:spPr>
          <a:xfrm xmlns:a="http://schemas.openxmlformats.org/drawingml/2006/main">
            <a:off x="609600" y="552450"/>
            <a:ext cx="10287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550" b="1" i="0">
                <a:solidFill>
                  <a:srgbClr val="17324D"/>
                </a:solidFill>
              </a:defRPr>
            </a:pPr>
            <a:r>
              <a:rPr sz="2550" b="1" i="0">
                <a:solidFill>
                  <a:srgbClr val="17324D"/>
                </a:solidFill>
              </a:rPr>
              <a:t>Design the future state around clear operational principles</a:t>
            </a:r>
          </a:p>
        </p:txBody>
      </p:sp>
      <p:sp>
        <p:nvSpPr>
          <p:cNvPr id="3" name="">
            <a:extLst xmlns:a="http://schemas.openxmlformats.org/drawingml/2006/main">
              <a:ext uri="{FF2B5EF4-FFF2-40B4-BE49-F238E27FC236}">
                <a16:creationId xmlns:a16="http://schemas.microsoft.com/office/drawing/2014/main" id="{7061026D-D8BE-4BCA-B728-618EB14F5F2A}"/>
              </a:ext>
            </a:extLst>
          </p:cNvPr>
          <p:cNvSpPr>
            <a:spLocks xmlns:a="http://schemas.openxmlformats.org/drawingml/2006/main" noGrp="1"/>
          </p:cNvSpPr>
          <p:nvPr/>
        </p:nvSpPr>
        <p:spPr>
          <a:xfrm xmlns:a="http://schemas.openxmlformats.org/drawingml/2006/main">
            <a:off x="609600" y="1143000"/>
            <a:ext cx="10972800" cy="19050"/>
          </a:xfrm>
          <a:prstGeom xmlns:a="http://schemas.openxmlformats.org/drawingml/2006/main" prst="rect">
            <a:avLst/>
          </a:prstGeom>
          <a:solidFill xmlns:a="http://schemas.openxmlformats.org/drawingml/2006/main">
            <a:srgbClr val="C9D2DC"/>
          </a:solidFill>
          <a:ln xmlns:a="http://schemas.openxmlformats.org/drawingml/2006/main" w="0">
            <a:solidFill>
              <a:srgbClr val="C9D2DC"/>
            </a:solidFill>
            <a:prstDash val="solid"/>
          </a:ln>
        </p:spPr>
      </p:sp>
      <p:sp>
        <p:nvSpPr>
          <p:cNvPr id="4" name="">
            <a:extLst xmlns:a="http://schemas.openxmlformats.org/drawingml/2006/main">
              <a:ext uri="{FF2B5EF4-FFF2-40B4-BE49-F238E27FC236}">
                <a16:creationId xmlns:a16="http://schemas.microsoft.com/office/drawing/2014/main" id="{14BB54DE-71A0-4317-B377-0D82ACBBE528}"/>
              </a:ext>
            </a:extLst>
          </p:cNvPr>
          <p:cNvSpPr>
            <a:spLocks xmlns:a="http://schemas.openxmlformats.org/drawingml/2006/main" noGrp="1"/>
          </p:cNvSpPr>
          <p:nvPr/>
        </p:nvSpPr>
        <p:spPr>
          <a:xfrm xmlns:a="http://schemas.openxmlformats.org/drawingml/2006/main">
            <a:off x="609600" y="6505575"/>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50" b="1" i="0">
                <a:solidFill>
                  <a:srgbClr val="66717E"/>
                </a:solidFill>
              </a:defRPr>
            </a:pPr>
            <a:r>
              <a:rPr sz="750" b="1" i="0">
                <a:solidFill>
                  <a:srgbClr val="66717E"/>
                </a:solidFill>
              </a:rPr>
              <a:t>HEUTRIX  |  WORKFLOW DIAGNOSTIC</a:t>
            </a:r>
          </a:p>
        </p:txBody>
      </p:sp>
      <p:sp>
        <p:nvSpPr>
          <p:cNvPr id="5" name="">
            <a:extLst xmlns:a="http://schemas.openxmlformats.org/drawingml/2006/main">
              <a:ext uri="{FF2B5EF4-FFF2-40B4-BE49-F238E27FC236}">
                <a16:creationId xmlns:a16="http://schemas.microsoft.com/office/drawing/2014/main" id="{A0CD4B04-A611-4A58-9CAB-0213A0B353B8}"/>
              </a:ext>
            </a:extLst>
          </p:cNvPr>
          <p:cNvSpPr>
            <a:spLocks xmlns:a="http://schemas.openxmlformats.org/drawingml/2006/main" noGrp="1"/>
          </p:cNvSpPr>
          <p:nvPr/>
        </p:nvSpPr>
        <p:spPr>
          <a:xfrm xmlns:a="http://schemas.openxmlformats.org/drawingml/2006/main">
            <a:off x="11096625" y="6477000"/>
            <a:ext cx="476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i="0">
                <a:solidFill>
                  <a:srgbClr val="66717E"/>
                </a:solidFill>
              </a:defRPr>
            </a:pPr>
            <a:r>
              <a:rPr sz="825" b="1" i="0">
                <a:solidFill>
                  <a:srgbClr val="66717E"/>
                </a:solidFill>
              </a:rPr>
              <a:t>08</a:t>
            </a:r>
          </a:p>
        </p:txBody>
      </p:sp>
      <p:sp>
        <p:nvSpPr>
          <p:cNvPr id="6" name="">
            <a:extLst xmlns:a="http://schemas.openxmlformats.org/drawingml/2006/main">
              <a:ext uri="{FF2B5EF4-FFF2-40B4-BE49-F238E27FC236}">
                <a16:creationId xmlns:a16="http://schemas.microsoft.com/office/drawing/2014/main" id="{8C409447-19DB-414F-9A39-5FA444D54CD7}"/>
              </a:ext>
            </a:extLst>
          </p:cNvPr>
          <p:cNvSpPr>
            <a:spLocks xmlns:a="http://schemas.openxmlformats.org/drawingml/2006/main" noGrp="1"/>
          </p:cNvSpPr>
          <p:nvPr/>
        </p:nvSpPr>
        <p:spPr>
          <a:xfrm xmlns:a="http://schemas.openxmlformats.org/drawingml/2006/main">
            <a:off x="609600" y="1504950"/>
            <a:ext cx="5257800" cy="1847850"/>
          </a:xfrm>
          <a:prstGeom xmlns:a="http://schemas.openxmlformats.org/drawingml/2006/main" prst="roundRect">
            <a:avLst>
              <a:gd name="adj" fmla="val 4124"/>
            </a:avLst>
          </a:prstGeom>
          <a:solidFill xmlns:a="http://schemas.openxmlformats.org/drawingml/2006/main">
            <a:srgbClr val="FFFFFF"/>
          </a:solidFill>
          <a:ln xmlns:a="http://schemas.openxmlformats.org/drawingml/2006/main" w="9525">
            <a:solidFill>
              <a:srgbClr val="C9D2DC"/>
            </a:solidFill>
            <a:prstDash val="solid"/>
          </a:ln>
        </p:spPr>
      </p:sp>
      <p:sp>
        <p:nvSpPr>
          <p:cNvPr id="7" name="">
            <a:extLst xmlns:a="http://schemas.openxmlformats.org/drawingml/2006/main">
              <a:ext uri="{FF2B5EF4-FFF2-40B4-BE49-F238E27FC236}">
                <a16:creationId xmlns:a16="http://schemas.microsoft.com/office/drawing/2014/main" id="{12F21840-1E4E-418A-B075-00D3C6DADE91}"/>
              </a:ext>
            </a:extLst>
          </p:cNvPr>
          <p:cNvSpPr>
            <a:spLocks xmlns:a="http://schemas.openxmlformats.org/drawingml/2006/main" noGrp="1"/>
          </p:cNvSpPr>
          <p:nvPr/>
        </p:nvSpPr>
        <p:spPr>
          <a:xfrm xmlns:a="http://schemas.openxmlformats.org/drawingml/2006/main">
            <a:off x="819150" y="1714500"/>
            <a:ext cx="552450" cy="285750"/>
          </a:xfrm>
          <a:prstGeom xmlns:a="http://schemas.openxmlformats.org/drawingml/2006/main" prst="roundRect">
            <a:avLst>
              <a:gd name="adj" fmla="val 26667"/>
            </a:avLst>
          </a:prstGeom>
          <a:solidFill xmlns:a="http://schemas.openxmlformats.org/drawingml/2006/main">
            <a:srgbClr val="DCEAF7"/>
          </a:solidFill>
          <a:ln xmlns:a="http://schemas.openxmlformats.org/drawingml/2006/main" w="0">
            <a:solidFill>
              <a:srgbClr val="DCEAF7"/>
            </a:solidFill>
            <a:prstDash val="solid"/>
          </a:ln>
        </p:spPr>
      </p:sp>
      <p:sp>
        <p:nvSpPr>
          <p:cNvPr id="8" name="">
            <a:extLst xmlns:a="http://schemas.openxmlformats.org/drawingml/2006/main">
              <a:ext uri="{FF2B5EF4-FFF2-40B4-BE49-F238E27FC236}">
                <a16:creationId xmlns:a16="http://schemas.microsoft.com/office/drawing/2014/main" id="{0A1F034F-D6CD-4FC4-8835-5D79652086CC}"/>
              </a:ext>
            </a:extLst>
          </p:cNvPr>
          <p:cNvSpPr>
            <a:spLocks xmlns:a="http://schemas.openxmlformats.org/drawingml/2006/main" noGrp="1"/>
          </p:cNvSpPr>
          <p:nvPr/>
        </p:nvSpPr>
        <p:spPr>
          <a:xfrm xmlns:a="http://schemas.openxmlformats.org/drawingml/2006/main">
            <a:off x="819150" y="1724025"/>
            <a:ext cx="5524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75" b="1" i="0">
                <a:solidFill>
                  <a:srgbClr val="17324D"/>
                </a:solidFill>
              </a:defRPr>
            </a:pPr>
            <a:r>
              <a:rPr sz="975" b="1" i="0">
                <a:solidFill>
                  <a:srgbClr val="17324D"/>
                </a:solidFill>
              </a:rPr>
              <a:t>01</a:t>
            </a:r>
          </a:p>
        </p:txBody>
      </p:sp>
      <p:sp>
        <p:nvSpPr>
          <p:cNvPr id="9" name="">
            <a:extLst xmlns:a="http://schemas.openxmlformats.org/drawingml/2006/main">
              <a:ext uri="{FF2B5EF4-FFF2-40B4-BE49-F238E27FC236}">
                <a16:creationId xmlns:a16="http://schemas.microsoft.com/office/drawing/2014/main" id="{D31AC942-7C52-4DFD-A7D7-1DCA18C9BDB3}"/>
              </a:ext>
            </a:extLst>
          </p:cNvPr>
          <p:cNvSpPr>
            <a:spLocks xmlns:a="http://schemas.openxmlformats.org/drawingml/2006/main" noGrp="1"/>
          </p:cNvSpPr>
          <p:nvPr/>
        </p:nvSpPr>
        <p:spPr>
          <a:xfrm xmlns:a="http://schemas.openxmlformats.org/drawingml/2006/main">
            <a:off x="1562100" y="1714500"/>
            <a:ext cx="4000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725" b="1" i="0">
                <a:solidFill>
                  <a:srgbClr val="17324D"/>
                </a:solidFill>
              </a:defRPr>
            </a:pPr>
            <a:r>
              <a:rPr sz="1725" b="1" i="0">
                <a:solidFill>
                  <a:srgbClr val="17324D"/>
                </a:solidFill>
              </a:rPr>
              <a:t>Clarify ownership</a:t>
            </a:r>
          </a:p>
        </p:txBody>
      </p:sp>
      <p:sp>
        <p:nvSpPr>
          <p:cNvPr id="10" name="">
            <a:extLst xmlns:a="http://schemas.openxmlformats.org/drawingml/2006/main">
              <a:ext uri="{FF2B5EF4-FFF2-40B4-BE49-F238E27FC236}">
                <a16:creationId xmlns:a16="http://schemas.microsoft.com/office/drawing/2014/main" id="{2B299465-B694-42DC-B2AE-4057E064849D}"/>
              </a:ext>
            </a:extLst>
          </p:cNvPr>
          <p:cNvSpPr>
            <a:spLocks xmlns:a="http://schemas.openxmlformats.org/drawingml/2006/main" noGrp="1"/>
          </p:cNvSpPr>
          <p:nvPr/>
        </p:nvSpPr>
        <p:spPr>
          <a:xfrm xmlns:a="http://schemas.openxmlformats.org/drawingml/2006/main">
            <a:off x="1562100" y="2171700"/>
            <a:ext cx="4000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i="0">
                <a:solidFill>
                  <a:srgbClr val="20262E"/>
                </a:solidFill>
              </a:defRPr>
            </a:pPr>
            <a:r>
              <a:rPr sz="1275" b="0" i="0">
                <a:solidFill>
                  <a:srgbClr val="20262E"/>
                </a:solidFill>
              </a:rPr>
              <a:t>One accountable role at every material decision and handover.</a:t>
            </a:r>
          </a:p>
        </p:txBody>
      </p:sp>
      <p:sp>
        <p:nvSpPr>
          <p:cNvPr id="11" name="">
            <a:extLst xmlns:a="http://schemas.openxmlformats.org/drawingml/2006/main">
              <a:ext uri="{FF2B5EF4-FFF2-40B4-BE49-F238E27FC236}">
                <a16:creationId xmlns:a16="http://schemas.microsoft.com/office/drawing/2014/main" id="{E245CEA4-686A-42A3-A3DF-6993E4BD6785}"/>
              </a:ext>
            </a:extLst>
          </p:cNvPr>
          <p:cNvSpPr>
            <a:spLocks xmlns:a="http://schemas.openxmlformats.org/drawingml/2006/main" noGrp="1"/>
          </p:cNvSpPr>
          <p:nvPr/>
        </p:nvSpPr>
        <p:spPr>
          <a:xfrm xmlns:a="http://schemas.openxmlformats.org/drawingml/2006/main">
            <a:off x="6096000" y="1504950"/>
            <a:ext cx="5257800" cy="1847850"/>
          </a:xfrm>
          <a:prstGeom xmlns:a="http://schemas.openxmlformats.org/drawingml/2006/main" prst="roundRect">
            <a:avLst>
              <a:gd name="adj" fmla="val 4124"/>
            </a:avLst>
          </a:prstGeom>
          <a:solidFill xmlns:a="http://schemas.openxmlformats.org/drawingml/2006/main">
            <a:srgbClr val="FFFFFF"/>
          </a:solidFill>
          <a:ln xmlns:a="http://schemas.openxmlformats.org/drawingml/2006/main" w="9525">
            <a:solidFill>
              <a:srgbClr val="C9D2DC"/>
            </a:solidFill>
            <a:prstDash val="solid"/>
          </a:ln>
        </p:spPr>
      </p:sp>
      <p:sp>
        <p:nvSpPr>
          <p:cNvPr id="12" name="">
            <a:extLst xmlns:a="http://schemas.openxmlformats.org/drawingml/2006/main">
              <a:ext uri="{FF2B5EF4-FFF2-40B4-BE49-F238E27FC236}">
                <a16:creationId xmlns:a16="http://schemas.microsoft.com/office/drawing/2014/main" id="{55B5A381-850D-485F-9FC6-50E0AB7D6E53}"/>
              </a:ext>
            </a:extLst>
          </p:cNvPr>
          <p:cNvSpPr>
            <a:spLocks xmlns:a="http://schemas.openxmlformats.org/drawingml/2006/main" noGrp="1"/>
          </p:cNvSpPr>
          <p:nvPr/>
        </p:nvSpPr>
        <p:spPr>
          <a:xfrm xmlns:a="http://schemas.openxmlformats.org/drawingml/2006/main">
            <a:off x="6305550" y="1714500"/>
            <a:ext cx="552450" cy="285750"/>
          </a:xfrm>
          <a:prstGeom xmlns:a="http://schemas.openxmlformats.org/drawingml/2006/main" prst="roundRect">
            <a:avLst>
              <a:gd name="adj" fmla="val 26667"/>
            </a:avLst>
          </a:prstGeom>
          <a:solidFill xmlns:a="http://schemas.openxmlformats.org/drawingml/2006/main">
            <a:srgbClr val="E8F3EC"/>
          </a:solidFill>
          <a:ln xmlns:a="http://schemas.openxmlformats.org/drawingml/2006/main" w="0">
            <a:solidFill>
              <a:srgbClr val="E8F3EC"/>
            </a:solidFill>
            <a:prstDash val="solid"/>
          </a:ln>
        </p:spPr>
      </p:sp>
      <p:sp>
        <p:nvSpPr>
          <p:cNvPr id="13" name="">
            <a:extLst xmlns:a="http://schemas.openxmlformats.org/drawingml/2006/main">
              <a:ext uri="{FF2B5EF4-FFF2-40B4-BE49-F238E27FC236}">
                <a16:creationId xmlns:a16="http://schemas.microsoft.com/office/drawing/2014/main" id="{33D1D646-1681-41BD-B11D-80DBEA2F523E}"/>
              </a:ext>
            </a:extLst>
          </p:cNvPr>
          <p:cNvSpPr>
            <a:spLocks xmlns:a="http://schemas.openxmlformats.org/drawingml/2006/main" noGrp="1"/>
          </p:cNvSpPr>
          <p:nvPr/>
        </p:nvSpPr>
        <p:spPr>
          <a:xfrm xmlns:a="http://schemas.openxmlformats.org/drawingml/2006/main">
            <a:off x="6305550" y="1724025"/>
            <a:ext cx="5524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75" b="1" i="0">
                <a:solidFill>
                  <a:srgbClr val="2E7D5B"/>
                </a:solidFill>
              </a:defRPr>
            </a:pPr>
            <a:r>
              <a:rPr sz="975" b="1" i="0">
                <a:solidFill>
                  <a:srgbClr val="2E7D5B"/>
                </a:solidFill>
              </a:rPr>
              <a:t>02</a:t>
            </a:r>
          </a:p>
        </p:txBody>
      </p:sp>
      <p:sp>
        <p:nvSpPr>
          <p:cNvPr id="14" name="">
            <a:extLst xmlns:a="http://schemas.openxmlformats.org/drawingml/2006/main">
              <a:ext uri="{FF2B5EF4-FFF2-40B4-BE49-F238E27FC236}">
                <a16:creationId xmlns:a16="http://schemas.microsoft.com/office/drawing/2014/main" id="{7A71AA5B-D67B-43D5-BDD7-20AEB9427548}"/>
              </a:ext>
            </a:extLst>
          </p:cNvPr>
          <p:cNvSpPr>
            <a:spLocks xmlns:a="http://schemas.openxmlformats.org/drawingml/2006/main" noGrp="1"/>
          </p:cNvSpPr>
          <p:nvPr/>
        </p:nvSpPr>
        <p:spPr>
          <a:xfrm xmlns:a="http://schemas.openxmlformats.org/drawingml/2006/main">
            <a:off x="7048500" y="1714500"/>
            <a:ext cx="4000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725" b="1" i="0">
                <a:solidFill>
                  <a:srgbClr val="17324D"/>
                </a:solidFill>
              </a:defRPr>
            </a:pPr>
            <a:r>
              <a:rPr sz="1725" b="1" i="0">
                <a:solidFill>
                  <a:srgbClr val="17324D"/>
                </a:solidFill>
              </a:rPr>
              <a:t>Capture once</a:t>
            </a:r>
          </a:p>
        </p:txBody>
      </p:sp>
      <p:sp>
        <p:nvSpPr>
          <p:cNvPr id="15" name="">
            <a:extLst xmlns:a="http://schemas.openxmlformats.org/drawingml/2006/main">
              <a:ext uri="{FF2B5EF4-FFF2-40B4-BE49-F238E27FC236}">
                <a16:creationId xmlns:a16="http://schemas.microsoft.com/office/drawing/2014/main" id="{5968FA9B-D730-4C07-86BF-2DC2298AC499}"/>
              </a:ext>
            </a:extLst>
          </p:cNvPr>
          <p:cNvSpPr>
            <a:spLocks xmlns:a="http://schemas.openxmlformats.org/drawingml/2006/main" noGrp="1"/>
          </p:cNvSpPr>
          <p:nvPr/>
        </p:nvSpPr>
        <p:spPr>
          <a:xfrm xmlns:a="http://schemas.openxmlformats.org/drawingml/2006/main">
            <a:off x="7048500" y="2171700"/>
            <a:ext cx="4000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i="0">
                <a:solidFill>
                  <a:srgbClr val="20262E"/>
                </a:solidFill>
              </a:defRPr>
            </a:pPr>
            <a:r>
              <a:rPr sz="1275" b="0" i="0">
                <a:solidFill>
                  <a:srgbClr val="20262E"/>
                </a:solidFill>
              </a:rPr>
              <a:t>A defined source of truth with only the fields needed downstream.</a:t>
            </a:r>
          </a:p>
        </p:txBody>
      </p:sp>
      <p:sp>
        <p:nvSpPr>
          <p:cNvPr id="16" name="">
            <a:extLst xmlns:a="http://schemas.openxmlformats.org/drawingml/2006/main">
              <a:ext uri="{FF2B5EF4-FFF2-40B4-BE49-F238E27FC236}">
                <a16:creationId xmlns:a16="http://schemas.microsoft.com/office/drawing/2014/main" id="{70F63AE9-E9CE-4512-A44F-07698010E114}"/>
              </a:ext>
            </a:extLst>
          </p:cNvPr>
          <p:cNvSpPr>
            <a:spLocks xmlns:a="http://schemas.openxmlformats.org/drawingml/2006/main" noGrp="1"/>
          </p:cNvSpPr>
          <p:nvPr/>
        </p:nvSpPr>
        <p:spPr>
          <a:xfrm xmlns:a="http://schemas.openxmlformats.org/drawingml/2006/main">
            <a:off x="609600" y="3600450"/>
            <a:ext cx="5257800" cy="1847850"/>
          </a:xfrm>
          <a:prstGeom xmlns:a="http://schemas.openxmlformats.org/drawingml/2006/main" prst="roundRect">
            <a:avLst>
              <a:gd name="adj" fmla="val 4124"/>
            </a:avLst>
          </a:prstGeom>
          <a:solidFill xmlns:a="http://schemas.openxmlformats.org/drawingml/2006/main">
            <a:srgbClr val="FFFFFF"/>
          </a:solidFill>
          <a:ln xmlns:a="http://schemas.openxmlformats.org/drawingml/2006/main" w="9525">
            <a:solidFill>
              <a:srgbClr val="C9D2DC"/>
            </a:solidFill>
            <a:prstDash val="solid"/>
          </a:ln>
        </p:spPr>
      </p:sp>
      <p:sp>
        <p:nvSpPr>
          <p:cNvPr id="17" name="">
            <a:extLst xmlns:a="http://schemas.openxmlformats.org/drawingml/2006/main">
              <a:ext uri="{FF2B5EF4-FFF2-40B4-BE49-F238E27FC236}">
                <a16:creationId xmlns:a16="http://schemas.microsoft.com/office/drawing/2014/main" id="{275A33A2-E116-4BD6-825D-C7B92A4ED8D4}"/>
              </a:ext>
            </a:extLst>
          </p:cNvPr>
          <p:cNvSpPr>
            <a:spLocks xmlns:a="http://schemas.openxmlformats.org/drawingml/2006/main" noGrp="1"/>
          </p:cNvSpPr>
          <p:nvPr/>
        </p:nvSpPr>
        <p:spPr>
          <a:xfrm xmlns:a="http://schemas.openxmlformats.org/drawingml/2006/main">
            <a:off x="819150" y="3810000"/>
            <a:ext cx="552450" cy="285750"/>
          </a:xfrm>
          <a:prstGeom xmlns:a="http://schemas.openxmlformats.org/drawingml/2006/main" prst="roundRect">
            <a:avLst>
              <a:gd name="adj" fmla="val 26667"/>
            </a:avLst>
          </a:prstGeom>
          <a:solidFill xmlns:a="http://schemas.openxmlformats.org/drawingml/2006/main">
            <a:srgbClr val="FFF4CE"/>
          </a:solidFill>
          <a:ln xmlns:a="http://schemas.openxmlformats.org/drawingml/2006/main" w="0">
            <a:solidFill>
              <a:srgbClr val="FFF4CE"/>
            </a:solidFill>
            <a:prstDash val="solid"/>
          </a:ln>
        </p:spPr>
      </p:sp>
      <p:sp>
        <p:nvSpPr>
          <p:cNvPr id="18" name="">
            <a:extLst xmlns:a="http://schemas.openxmlformats.org/drawingml/2006/main">
              <a:ext uri="{FF2B5EF4-FFF2-40B4-BE49-F238E27FC236}">
                <a16:creationId xmlns:a16="http://schemas.microsoft.com/office/drawing/2014/main" id="{208AF12B-E0A1-4732-9F70-4AC81D0A0894}"/>
              </a:ext>
            </a:extLst>
          </p:cNvPr>
          <p:cNvSpPr>
            <a:spLocks xmlns:a="http://schemas.openxmlformats.org/drawingml/2006/main" noGrp="1"/>
          </p:cNvSpPr>
          <p:nvPr/>
        </p:nvSpPr>
        <p:spPr>
          <a:xfrm xmlns:a="http://schemas.openxmlformats.org/drawingml/2006/main">
            <a:off x="819150" y="3819525"/>
            <a:ext cx="5524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75" b="1" i="0">
                <a:solidFill>
                  <a:srgbClr val="17324D"/>
                </a:solidFill>
              </a:defRPr>
            </a:pPr>
            <a:r>
              <a:rPr sz="975" b="1" i="0">
                <a:solidFill>
                  <a:srgbClr val="17324D"/>
                </a:solidFill>
              </a:rPr>
              <a:t>03</a:t>
            </a:r>
          </a:p>
        </p:txBody>
      </p:sp>
      <p:sp>
        <p:nvSpPr>
          <p:cNvPr id="19" name="">
            <a:extLst xmlns:a="http://schemas.openxmlformats.org/drawingml/2006/main">
              <a:ext uri="{FF2B5EF4-FFF2-40B4-BE49-F238E27FC236}">
                <a16:creationId xmlns:a16="http://schemas.microsoft.com/office/drawing/2014/main" id="{FD480789-93CC-4B11-BC34-812BA8BBA05F}"/>
              </a:ext>
            </a:extLst>
          </p:cNvPr>
          <p:cNvSpPr>
            <a:spLocks xmlns:a="http://schemas.openxmlformats.org/drawingml/2006/main" noGrp="1"/>
          </p:cNvSpPr>
          <p:nvPr/>
        </p:nvSpPr>
        <p:spPr>
          <a:xfrm xmlns:a="http://schemas.openxmlformats.org/drawingml/2006/main">
            <a:off x="1562100" y="3810000"/>
            <a:ext cx="4000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725" b="1" i="0">
                <a:solidFill>
                  <a:srgbClr val="17324D"/>
                </a:solidFill>
              </a:defRPr>
            </a:pPr>
            <a:r>
              <a:rPr sz="1725" b="1" i="0">
                <a:solidFill>
                  <a:srgbClr val="17324D"/>
                </a:solidFill>
              </a:rPr>
              <a:t>Control by design</a:t>
            </a:r>
          </a:p>
        </p:txBody>
      </p:sp>
      <p:sp>
        <p:nvSpPr>
          <p:cNvPr id="20" name="">
            <a:extLst xmlns:a="http://schemas.openxmlformats.org/drawingml/2006/main">
              <a:ext uri="{FF2B5EF4-FFF2-40B4-BE49-F238E27FC236}">
                <a16:creationId xmlns:a16="http://schemas.microsoft.com/office/drawing/2014/main" id="{D6B99EE1-FB3E-4468-8869-767C35F13E9E}"/>
              </a:ext>
            </a:extLst>
          </p:cNvPr>
          <p:cNvSpPr>
            <a:spLocks xmlns:a="http://schemas.openxmlformats.org/drawingml/2006/main" noGrp="1"/>
          </p:cNvSpPr>
          <p:nvPr/>
        </p:nvSpPr>
        <p:spPr>
          <a:xfrm xmlns:a="http://schemas.openxmlformats.org/drawingml/2006/main">
            <a:off x="1562100" y="4267200"/>
            <a:ext cx="4000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i="0">
                <a:solidFill>
                  <a:srgbClr val="20262E"/>
                </a:solidFill>
              </a:defRPr>
            </a:pPr>
            <a:r>
              <a:rPr sz="1275" b="0" i="0">
                <a:solidFill>
                  <a:srgbClr val="20262E"/>
                </a:solidFill>
              </a:rPr>
              <a:t>Evidence, exception and approval records are created in the flow.</a:t>
            </a:r>
          </a:p>
        </p:txBody>
      </p:sp>
      <p:sp>
        <p:nvSpPr>
          <p:cNvPr id="21" name="">
            <a:extLst xmlns:a="http://schemas.openxmlformats.org/drawingml/2006/main">
              <a:ext uri="{FF2B5EF4-FFF2-40B4-BE49-F238E27FC236}">
                <a16:creationId xmlns:a16="http://schemas.microsoft.com/office/drawing/2014/main" id="{D5C77F4E-E624-4D24-BC14-61695328EC21}"/>
              </a:ext>
            </a:extLst>
          </p:cNvPr>
          <p:cNvSpPr>
            <a:spLocks xmlns:a="http://schemas.openxmlformats.org/drawingml/2006/main" noGrp="1"/>
          </p:cNvSpPr>
          <p:nvPr/>
        </p:nvSpPr>
        <p:spPr>
          <a:xfrm xmlns:a="http://schemas.openxmlformats.org/drawingml/2006/main">
            <a:off x="6096000" y="3600450"/>
            <a:ext cx="5257800" cy="1847850"/>
          </a:xfrm>
          <a:prstGeom xmlns:a="http://schemas.openxmlformats.org/drawingml/2006/main" prst="roundRect">
            <a:avLst>
              <a:gd name="adj" fmla="val 4124"/>
            </a:avLst>
          </a:prstGeom>
          <a:solidFill xmlns:a="http://schemas.openxmlformats.org/drawingml/2006/main">
            <a:srgbClr val="FFFFFF"/>
          </a:solidFill>
          <a:ln xmlns:a="http://schemas.openxmlformats.org/drawingml/2006/main" w="9525">
            <a:solidFill>
              <a:srgbClr val="C9D2DC"/>
            </a:solidFill>
            <a:prstDash val="solid"/>
          </a:ln>
        </p:spPr>
      </p:sp>
      <p:sp>
        <p:nvSpPr>
          <p:cNvPr id="22" name="">
            <a:extLst xmlns:a="http://schemas.openxmlformats.org/drawingml/2006/main">
              <a:ext uri="{FF2B5EF4-FFF2-40B4-BE49-F238E27FC236}">
                <a16:creationId xmlns:a16="http://schemas.microsoft.com/office/drawing/2014/main" id="{33466817-3582-4CDD-AA0E-953F4FEB9000}"/>
              </a:ext>
            </a:extLst>
          </p:cNvPr>
          <p:cNvSpPr>
            <a:spLocks xmlns:a="http://schemas.openxmlformats.org/drawingml/2006/main" noGrp="1"/>
          </p:cNvSpPr>
          <p:nvPr/>
        </p:nvSpPr>
        <p:spPr>
          <a:xfrm xmlns:a="http://schemas.openxmlformats.org/drawingml/2006/main">
            <a:off x="6305550" y="3810000"/>
            <a:ext cx="552450" cy="285750"/>
          </a:xfrm>
          <a:prstGeom xmlns:a="http://schemas.openxmlformats.org/drawingml/2006/main" prst="roundRect">
            <a:avLst>
              <a:gd name="adj" fmla="val 26667"/>
            </a:avLst>
          </a:prstGeom>
          <a:solidFill xmlns:a="http://schemas.openxmlformats.org/drawingml/2006/main">
            <a:srgbClr val="FCE8E6"/>
          </a:solidFill>
          <a:ln xmlns:a="http://schemas.openxmlformats.org/drawingml/2006/main" w="0">
            <a:solidFill>
              <a:srgbClr val="FCE8E6"/>
            </a:solidFill>
            <a:prstDash val="solid"/>
          </a:ln>
        </p:spPr>
      </p:sp>
      <p:sp>
        <p:nvSpPr>
          <p:cNvPr id="23" name="">
            <a:extLst xmlns:a="http://schemas.openxmlformats.org/drawingml/2006/main">
              <a:ext uri="{FF2B5EF4-FFF2-40B4-BE49-F238E27FC236}">
                <a16:creationId xmlns:a16="http://schemas.microsoft.com/office/drawing/2014/main" id="{3D33840F-395F-4CE8-B745-C2695756C3A1}"/>
              </a:ext>
            </a:extLst>
          </p:cNvPr>
          <p:cNvSpPr>
            <a:spLocks xmlns:a="http://schemas.openxmlformats.org/drawingml/2006/main" noGrp="1"/>
          </p:cNvSpPr>
          <p:nvPr/>
        </p:nvSpPr>
        <p:spPr>
          <a:xfrm xmlns:a="http://schemas.openxmlformats.org/drawingml/2006/main">
            <a:off x="6305550" y="3819525"/>
            <a:ext cx="5524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75" b="1" i="0">
                <a:solidFill>
                  <a:srgbClr val="B54B4B"/>
                </a:solidFill>
              </a:defRPr>
            </a:pPr>
            <a:r>
              <a:rPr sz="975" b="1" i="0">
                <a:solidFill>
                  <a:srgbClr val="B54B4B"/>
                </a:solidFill>
              </a:rPr>
              <a:t>04</a:t>
            </a:r>
          </a:p>
        </p:txBody>
      </p:sp>
      <p:sp>
        <p:nvSpPr>
          <p:cNvPr id="24" name="">
            <a:extLst xmlns:a="http://schemas.openxmlformats.org/drawingml/2006/main">
              <a:ext uri="{FF2B5EF4-FFF2-40B4-BE49-F238E27FC236}">
                <a16:creationId xmlns:a16="http://schemas.microsoft.com/office/drawing/2014/main" id="{E3E46716-100E-487F-B21D-CCEB2262F41E}"/>
              </a:ext>
            </a:extLst>
          </p:cNvPr>
          <p:cNvSpPr>
            <a:spLocks xmlns:a="http://schemas.openxmlformats.org/drawingml/2006/main" noGrp="1"/>
          </p:cNvSpPr>
          <p:nvPr/>
        </p:nvSpPr>
        <p:spPr>
          <a:xfrm xmlns:a="http://schemas.openxmlformats.org/drawingml/2006/main">
            <a:off x="7048500" y="3810000"/>
            <a:ext cx="4000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725" b="1" i="0">
                <a:solidFill>
                  <a:srgbClr val="17324D"/>
                </a:solidFill>
              </a:defRPr>
            </a:pPr>
            <a:r>
              <a:rPr sz="1725" b="1" i="0">
                <a:solidFill>
                  <a:srgbClr val="17324D"/>
                </a:solidFill>
              </a:rPr>
              <a:t>Keep human judgement</a:t>
            </a:r>
          </a:p>
        </p:txBody>
      </p:sp>
      <p:sp>
        <p:nvSpPr>
          <p:cNvPr id="25" name="">
            <a:extLst xmlns:a="http://schemas.openxmlformats.org/drawingml/2006/main">
              <a:ext uri="{FF2B5EF4-FFF2-40B4-BE49-F238E27FC236}">
                <a16:creationId xmlns:a16="http://schemas.microsoft.com/office/drawing/2014/main" id="{A4F1E4DD-E86D-4488-8580-66CF72EE1C10}"/>
              </a:ext>
            </a:extLst>
          </p:cNvPr>
          <p:cNvSpPr>
            <a:spLocks xmlns:a="http://schemas.openxmlformats.org/drawingml/2006/main" noGrp="1"/>
          </p:cNvSpPr>
          <p:nvPr/>
        </p:nvSpPr>
        <p:spPr>
          <a:xfrm xmlns:a="http://schemas.openxmlformats.org/drawingml/2006/main">
            <a:off x="7048500" y="4267200"/>
            <a:ext cx="4000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i="0">
                <a:solidFill>
                  <a:srgbClr val="20262E"/>
                </a:solidFill>
              </a:defRPr>
            </a:pPr>
            <a:r>
              <a:rPr sz="1275" b="0" i="0">
                <a:solidFill>
                  <a:srgbClr val="20262E"/>
                </a:solidFill>
              </a:rPr>
              <a:t>People retain material clinical, participant, employment, legal and operational decisions.</a:t>
            </a:r>
          </a:p>
        </p:txBody>
      </p:sp>
      <p:sp>
        <p:nvSpPr>
          <p:cNvPr id="26" name="">
            <a:extLst xmlns:a="http://schemas.openxmlformats.org/drawingml/2006/main">
              <a:ext uri="{FF2B5EF4-FFF2-40B4-BE49-F238E27FC236}">
                <a16:creationId xmlns:a16="http://schemas.microsoft.com/office/drawing/2014/main" id="{7F4B9225-DC98-4BFF-83D9-740390070CC3}"/>
              </a:ext>
            </a:extLst>
          </p:cNvPr>
          <p:cNvSpPr>
            <a:spLocks xmlns:a="http://schemas.openxmlformats.org/drawingml/2006/main" noGrp="1"/>
          </p:cNvSpPr>
          <p:nvPr/>
        </p:nvSpPr>
        <p:spPr>
          <a:xfrm xmlns:a="http://schemas.openxmlformats.org/drawingml/2006/main">
            <a:off x="609600" y="5810250"/>
            <a:ext cx="10972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i="0">
                <a:solidFill>
                  <a:srgbClr val="2E74B5"/>
                </a:solidFill>
              </a:defRPr>
            </a:pPr>
            <a:r>
              <a:rPr sz="1350" b="1" i="0">
                <a:solidFill>
                  <a:srgbClr val="2E74B5"/>
                </a:solidFill>
              </a:rPr>
              <a:t>Simplify first. Then choose the lightest approved technology that supports the operating model.</a:t>
            </a:r>
          </a:p>
        </p:txBody>
      </p:sp>
    </p:spTree>
    <p:extLst>
      <p:ext uri="{BB962C8B-B14F-4D97-AF65-F5344CB8AC3E}">
        <p14:creationId xmlns:p14="http://schemas.microsoft.com/office/powerpoint/2010/main" val="861670240"/>
      </p:ext>
    </p:extLst>
  </p:cSld>
</p:sld>
</file>

<file path=ppt/slides/slide9.xml><?xml version="1.0" encoding="utf-8"?>
<p:sld xmlns:p="http://schemas.openxmlformats.org/presentationml/2006/main">
  <p:cSld>
    <p:bg>
      <p:bgPr>
        <a:solidFill xmlns:a="http://schemas.openxmlformats.org/drawingml/2006/main">
          <a:srgbClr val="F7F9FB"/>
        </a:solidFill>
      </p:bgPr>
    </p:bg>
    <p:spTree>
      <p:nvGrpSpPr>
        <p:cNvPr id="1" name=""/>
        <p:cNvGrpSpPr/>
        <p:nvPr/>
      </p:nvGrpSpPr>
      <p:grpSpPr>
        <a:xfrm xmlns:a="http://schemas.openxmlformats.org/drawingml/2006/main"/>
      </p:grpSpPr>
      <p:sp>
        <p:nvSpPr>
          <p:cNvPr id="43" name="">
            <a:extLst xmlns:a="http://schemas.openxmlformats.org/drawingml/2006/main">
              <a:ext uri="{FF2B5EF4-FFF2-40B4-BE49-F238E27FC236}">
                <a16:creationId xmlns:a16="http://schemas.microsoft.com/office/drawing/2014/main" id="{F8153AD7-04CF-4B06-A7C0-DA38A0B25DC0}"/>
              </a:ext>
            </a:extLst>
          </p:cNvPr>
          <p:cNvSpPr>
            <a:spLocks xmlns:a="http://schemas.openxmlformats.org/drawingml/2006/main" noGrp="1"/>
          </p:cNvSpPr>
          <p:nvPr/>
        </p:nvSpPr>
        <p:spPr>
          <a:xfrm xmlns:a="http://schemas.openxmlformats.org/drawingml/2006/main">
            <a:off x="609600" y="32385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i="0">
                <a:solidFill>
                  <a:srgbClr val="2E74B5"/>
                </a:solidFill>
              </a:defRPr>
            </a:pPr>
            <a:r>
              <a:rPr sz="900" b="1" i="0">
                <a:solidFill>
                  <a:srgbClr val="2E74B5"/>
                </a:solidFill>
              </a:rPr>
              <a:t>WORKFLOW MAP</a:t>
            </a:r>
          </a:p>
        </p:txBody>
      </p:sp>
      <p:sp>
        <p:nvSpPr>
          <p:cNvPr id="2" name="">
            <a:extLst xmlns:a="http://schemas.openxmlformats.org/drawingml/2006/main">
              <a:ext uri="{FF2B5EF4-FFF2-40B4-BE49-F238E27FC236}">
                <a16:creationId xmlns:a16="http://schemas.microsoft.com/office/drawing/2014/main" id="{4EEC16CF-DE49-4C6F-8D3F-EDF3E79F0C81}"/>
              </a:ext>
            </a:extLst>
          </p:cNvPr>
          <p:cNvSpPr>
            <a:spLocks xmlns:a="http://schemas.openxmlformats.org/drawingml/2006/main" noGrp="1"/>
          </p:cNvSpPr>
          <p:nvPr/>
        </p:nvSpPr>
        <p:spPr>
          <a:xfrm xmlns:a="http://schemas.openxmlformats.org/drawingml/2006/main">
            <a:off x="609600" y="552450"/>
            <a:ext cx="10287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550" b="1" i="0">
                <a:solidFill>
                  <a:srgbClr val="17324D"/>
                </a:solidFill>
              </a:defRPr>
            </a:pPr>
            <a:r>
              <a:rPr sz="2550" b="1" i="0">
                <a:solidFill>
                  <a:srgbClr val="17324D"/>
                </a:solidFill>
              </a:rPr>
              <a:t>Future state — changed ownership, controls and information</a:t>
            </a:r>
          </a:p>
        </p:txBody>
      </p:sp>
      <p:sp>
        <p:nvSpPr>
          <p:cNvPr id="3" name="">
            <a:extLst xmlns:a="http://schemas.openxmlformats.org/drawingml/2006/main">
              <a:ext uri="{FF2B5EF4-FFF2-40B4-BE49-F238E27FC236}">
                <a16:creationId xmlns:a16="http://schemas.microsoft.com/office/drawing/2014/main" id="{C1D919D8-1A30-42A9-8343-3879FC22C206}"/>
              </a:ext>
            </a:extLst>
          </p:cNvPr>
          <p:cNvSpPr>
            <a:spLocks xmlns:a="http://schemas.openxmlformats.org/drawingml/2006/main" noGrp="1"/>
          </p:cNvSpPr>
          <p:nvPr/>
        </p:nvSpPr>
        <p:spPr>
          <a:xfrm xmlns:a="http://schemas.openxmlformats.org/drawingml/2006/main">
            <a:off x="609600" y="1143000"/>
            <a:ext cx="10972800" cy="19050"/>
          </a:xfrm>
          <a:prstGeom xmlns:a="http://schemas.openxmlformats.org/drawingml/2006/main" prst="rect">
            <a:avLst/>
          </a:prstGeom>
          <a:solidFill xmlns:a="http://schemas.openxmlformats.org/drawingml/2006/main">
            <a:srgbClr val="C9D2DC"/>
          </a:solidFill>
          <a:ln xmlns:a="http://schemas.openxmlformats.org/drawingml/2006/main" w="0">
            <a:solidFill>
              <a:srgbClr val="C9D2DC"/>
            </a:solidFill>
            <a:prstDash val="solid"/>
          </a:ln>
        </p:spPr>
      </p:sp>
      <p:sp>
        <p:nvSpPr>
          <p:cNvPr id="4" name="">
            <a:extLst xmlns:a="http://schemas.openxmlformats.org/drawingml/2006/main">
              <a:ext uri="{FF2B5EF4-FFF2-40B4-BE49-F238E27FC236}">
                <a16:creationId xmlns:a16="http://schemas.microsoft.com/office/drawing/2014/main" id="{A7783123-29A5-4843-9A68-664E7418AEBB}"/>
              </a:ext>
            </a:extLst>
          </p:cNvPr>
          <p:cNvSpPr>
            <a:spLocks xmlns:a="http://schemas.openxmlformats.org/drawingml/2006/main" noGrp="1"/>
          </p:cNvSpPr>
          <p:nvPr/>
        </p:nvSpPr>
        <p:spPr>
          <a:xfrm xmlns:a="http://schemas.openxmlformats.org/drawingml/2006/main">
            <a:off x="609600" y="6505575"/>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50" b="1" i="0">
                <a:solidFill>
                  <a:srgbClr val="66717E"/>
                </a:solidFill>
              </a:defRPr>
            </a:pPr>
            <a:r>
              <a:rPr sz="750" b="1" i="0">
                <a:solidFill>
                  <a:srgbClr val="66717E"/>
                </a:solidFill>
              </a:rPr>
              <a:t>HEUTRIX  |  WORKFLOW DIAGNOSTIC</a:t>
            </a:r>
          </a:p>
        </p:txBody>
      </p:sp>
      <p:sp>
        <p:nvSpPr>
          <p:cNvPr id="5" name="">
            <a:extLst xmlns:a="http://schemas.openxmlformats.org/drawingml/2006/main">
              <a:ext uri="{FF2B5EF4-FFF2-40B4-BE49-F238E27FC236}">
                <a16:creationId xmlns:a16="http://schemas.microsoft.com/office/drawing/2014/main" id="{7E24DE27-9DA4-4206-AA8E-1CF7414F6E61}"/>
              </a:ext>
            </a:extLst>
          </p:cNvPr>
          <p:cNvSpPr>
            <a:spLocks xmlns:a="http://schemas.openxmlformats.org/drawingml/2006/main" noGrp="1"/>
          </p:cNvSpPr>
          <p:nvPr/>
        </p:nvSpPr>
        <p:spPr>
          <a:xfrm xmlns:a="http://schemas.openxmlformats.org/drawingml/2006/main">
            <a:off x="11096625" y="6477000"/>
            <a:ext cx="476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i="0">
                <a:solidFill>
                  <a:srgbClr val="66717E"/>
                </a:solidFill>
              </a:defRPr>
            </a:pPr>
            <a:r>
              <a:rPr sz="825" b="1" i="0">
                <a:solidFill>
                  <a:srgbClr val="66717E"/>
                </a:solidFill>
              </a:rPr>
              <a:t>09</a:t>
            </a:r>
          </a:p>
        </p:txBody>
      </p:sp>
      <p:sp>
        <p:nvSpPr>
          <p:cNvPr id="6" name="">
            <a:extLst xmlns:a="http://schemas.openxmlformats.org/drawingml/2006/main">
              <a:ext uri="{FF2B5EF4-FFF2-40B4-BE49-F238E27FC236}">
                <a16:creationId xmlns:a16="http://schemas.microsoft.com/office/drawing/2014/main" id="{62D346B9-EDCD-4E9E-8E6F-6BC12DE4BF6B}"/>
              </a:ext>
            </a:extLst>
          </p:cNvPr>
          <p:cNvSpPr>
            <a:spLocks xmlns:a="http://schemas.openxmlformats.org/drawingml/2006/main" noGrp="1"/>
          </p:cNvSpPr>
          <p:nvPr/>
        </p:nvSpPr>
        <p:spPr>
          <a:xfrm xmlns:a="http://schemas.openxmlformats.org/drawingml/2006/main">
            <a:off x="2457450" y="2362200"/>
            <a:ext cx="590550" cy="400050"/>
          </a:xfrm>
          <a:prstGeom xmlns:a="http://schemas.openxmlformats.org/drawingml/2006/main" prst="rightArrow">
            <a:avLst/>
          </a:prstGeom>
          <a:solidFill xmlns:a="http://schemas.openxmlformats.org/drawingml/2006/main">
            <a:srgbClr val="E8F3EC"/>
          </a:solidFill>
          <a:ln xmlns:a="http://schemas.openxmlformats.org/drawingml/2006/main" w="0">
            <a:solidFill>
              <a:srgbClr val="E8F3EC"/>
            </a:solidFill>
            <a:prstDash val="solid"/>
          </a:ln>
        </p:spPr>
      </p:sp>
      <p:sp>
        <p:nvSpPr>
          <p:cNvPr id="7" name="">
            <a:extLst xmlns:a="http://schemas.openxmlformats.org/drawingml/2006/main">
              <a:ext uri="{FF2B5EF4-FFF2-40B4-BE49-F238E27FC236}">
                <a16:creationId xmlns:a16="http://schemas.microsoft.com/office/drawing/2014/main" id="{A9279693-136F-4856-8FE9-10730D1968FA}"/>
              </a:ext>
            </a:extLst>
          </p:cNvPr>
          <p:cNvSpPr>
            <a:spLocks xmlns:a="http://schemas.openxmlformats.org/drawingml/2006/main" noGrp="1"/>
          </p:cNvSpPr>
          <p:nvPr/>
        </p:nvSpPr>
        <p:spPr>
          <a:xfrm xmlns:a="http://schemas.openxmlformats.org/drawingml/2006/main">
            <a:off x="4648200" y="2362200"/>
            <a:ext cx="590550" cy="400050"/>
          </a:xfrm>
          <a:prstGeom xmlns:a="http://schemas.openxmlformats.org/drawingml/2006/main" prst="rightArrow">
            <a:avLst/>
          </a:prstGeom>
          <a:solidFill xmlns:a="http://schemas.openxmlformats.org/drawingml/2006/main">
            <a:srgbClr val="E8F3EC"/>
          </a:solidFill>
          <a:ln xmlns:a="http://schemas.openxmlformats.org/drawingml/2006/main" w="0">
            <a:solidFill>
              <a:srgbClr val="E8F3EC"/>
            </a:solidFill>
            <a:prstDash val="solid"/>
          </a:ln>
        </p:spPr>
      </p:sp>
      <p:sp>
        <p:nvSpPr>
          <p:cNvPr id="8" name="">
            <a:extLst xmlns:a="http://schemas.openxmlformats.org/drawingml/2006/main">
              <a:ext uri="{FF2B5EF4-FFF2-40B4-BE49-F238E27FC236}">
                <a16:creationId xmlns:a16="http://schemas.microsoft.com/office/drawing/2014/main" id="{DE343809-109D-4609-A96C-C6A2B6D0D004}"/>
              </a:ext>
            </a:extLst>
          </p:cNvPr>
          <p:cNvSpPr>
            <a:spLocks xmlns:a="http://schemas.openxmlformats.org/drawingml/2006/main" noGrp="1"/>
          </p:cNvSpPr>
          <p:nvPr/>
        </p:nvSpPr>
        <p:spPr>
          <a:xfrm xmlns:a="http://schemas.openxmlformats.org/drawingml/2006/main">
            <a:off x="6838950" y="2362200"/>
            <a:ext cx="590550" cy="400050"/>
          </a:xfrm>
          <a:prstGeom xmlns:a="http://schemas.openxmlformats.org/drawingml/2006/main" prst="rightArrow">
            <a:avLst/>
          </a:prstGeom>
          <a:solidFill xmlns:a="http://schemas.openxmlformats.org/drawingml/2006/main">
            <a:srgbClr val="E8F3EC"/>
          </a:solidFill>
          <a:ln xmlns:a="http://schemas.openxmlformats.org/drawingml/2006/main" w="0">
            <a:solidFill>
              <a:srgbClr val="E8F3EC"/>
            </a:solidFill>
            <a:prstDash val="solid"/>
          </a:ln>
        </p:spPr>
      </p:sp>
      <p:sp>
        <p:nvSpPr>
          <p:cNvPr id="9" name="">
            <a:extLst xmlns:a="http://schemas.openxmlformats.org/drawingml/2006/main">
              <a:ext uri="{FF2B5EF4-FFF2-40B4-BE49-F238E27FC236}">
                <a16:creationId xmlns:a16="http://schemas.microsoft.com/office/drawing/2014/main" id="{8105838F-CA69-4C7A-A670-B6428C913FDF}"/>
              </a:ext>
            </a:extLst>
          </p:cNvPr>
          <p:cNvSpPr>
            <a:spLocks xmlns:a="http://schemas.openxmlformats.org/drawingml/2006/main" noGrp="1"/>
          </p:cNvSpPr>
          <p:nvPr/>
        </p:nvSpPr>
        <p:spPr>
          <a:xfrm xmlns:a="http://schemas.openxmlformats.org/drawingml/2006/main">
            <a:off x="9029700" y="2362200"/>
            <a:ext cx="590550" cy="400050"/>
          </a:xfrm>
          <a:prstGeom xmlns:a="http://schemas.openxmlformats.org/drawingml/2006/main" prst="rightArrow">
            <a:avLst/>
          </a:prstGeom>
          <a:solidFill xmlns:a="http://schemas.openxmlformats.org/drawingml/2006/main">
            <a:srgbClr val="E8F3EC"/>
          </a:solidFill>
          <a:ln xmlns:a="http://schemas.openxmlformats.org/drawingml/2006/main" w="0">
            <a:solidFill>
              <a:srgbClr val="E8F3EC"/>
            </a:solidFill>
            <a:prstDash val="solid"/>
          </a:ln>
        </p:spPr>
      </p:sp>
      <p:sp>
        <p:nvSpPr>
          <p:cNvPr id="10" name="">
            <a:extLst xmlns:a="http://schemas.openxmlformats.org/drawingml/2006/main">
              <a:ext uri="{FF2B5EF4-FFF2-40B4-BE49-F238E27FC236}">
                <a16:creationId xmlns:a16="http://schemas.microsoft.com/office/drawing/2014/main" id="{094EE961-A7CE-4533-B684-7D6B124C830E}"/>
              </a:ext>
            </a:extLst>
          </p:cNvPr>
          <p:cNvSpPr>
            <a:spLocks xmlns:a="http://schemas.openxmlformats.org/drawingml/2006/main" noGrp="1"/>
          </p:cNvSpPr>
          <p:nvPr/>
        </p:nvSpPr>
        <p:spPr>
          <a:xfrm xmlns:a="http://schemas.openxmlformats.org/drawingml/2006/main">
            <a:off x="609600" y="1885950"/>
            <a:ext cx="1981200" cy="1371600"/>
          </a:xfrm>
          <a:prstGeom xmlns:a="http://schemas.openxmlformats.org/drawingml/2006/main" prst="roundRect">
            <a:avLst>
              <a:gd name="adj" fmla="val 5556"/>
            </a:avLst>
          </a:prstGeom>
          <a:solidFill xmlns:a="http://schemas.openxmlformats.org/drawingml/2006/main">
            <a:srgbClr val="FFFFFF"/>
          </a:solidFill>
          <a:ln xmlns:a="http://schemas.openxmlformats.org/drawingml/2006/main" w="9525">
            <a:solidFill>
              <a:srgbClr val="C9D2DC"/>
            </a:solidFill>
            <a:prstDash val="solid"/>
          </a:ln>
        </p:spPr>
      </p:sp>
      <p:sp>
        <p:nvSpPr>
          <p:cNvPr id="11" name="">
            <a:extLst xmlns:a="http://schemas.openxmlformats.org/drawingml/2006/main">
              <a:ext uri="{FF2B5EF4-FFF2-40B4-BE49-F238E27FC236}">
                <a16:creationId xmlns:a16="http://schemas.microsoft.com/office/drawing/2014/main" id="{6DB50398-1EF4-41B9-A1BC-F63251F142FB}"/>
              </a:ext>
            </a:extLst>
          </p:cNvPr>
          <p:cNvSpPr>
            <a:spLocks xmlns:a="http://schemas.openxmlformats.org/drawingml/2006/main" noGrp="1"/>
          </p:cNvSpPr>
          <p:nvPr/>
        </p:nvSpPr>
        <p:spPr>
          <a:xfrm xmlns:a="http://schemas.openxmlformats.org/drawingml/2006/main">
            <a:off x="723900" y="1962150"/>
            <a:ext cx="476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i="0">
                <a:solidFill>
                  <a:srgbClr val="2E74B5"/>
                </a:solidFill>
              </a:defRPr>
            </a:pPr>
            <a:r>
              <a:rPr sz="825" b="1" i="0">
                <a:solidFill>
                  <a:srgbClr val="2E74B5"/>
                </a:solidFill>
              </a:rPr>
              <a:t>C-01</a:t>
            </a:r>
          </a:p>
        </p:txBody>
      </p:sp>
      <p:sp>
        <p:nvSpPr>
          <p:cNvPr id="12" name="">
            <a:extLst xmlns:a="http://schemas.openxmlformats.org/drawingml/2006/main">
              <a:ext uri="{FF2B5EF4-FFF2-40B4-BE49-F238E27FC236}">
                <a16:creationId xmlns:a16="http://schemas.microsoft.com/office/drawing/2014/main" id="{841FB13E-55CE-4B95-A148-8EAB99FD822C}"/>
              </a:ext>
            </a:extLst>
          </p:cNvPr>
          <p:cNvSpPr>
            <a:spLocks xmlns:a="http://schemas.openxmlformats.org/drawingml/2006/main" noGrp="1"/>
          </p:cNvSpPr>
          <p:nvPr/>
        </p:nvSpPr>
        <p:spPr>
          <a:xfrm xmlns:a="http://schemas.openxmlformats.org/drawingml/2006/main">
            <a:off x="723900" y="2162175"/>
            <a:ext cx="17526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i="0">
                <a:solidFill>
                  <a:srgbClr val="17324D"/>
                </a:solidFill>
              </a:defRPr>
            </a:pPr>
            <a:r>
              <a:rPr sz="1275" b="1" i="0">
                <a:solidFill>
                  <a:srgbClr val="17324D"/>
                </a:solidFill>
              </a:rPr>
              <a:t>Structured intake</a:t>
            </a:r>
          </a:p>
        </p:txBody>
      </p:sp>
      <p:sp>
        <p:nvSpPr>
          <p:cNvPr id="13" name="">
            <a:extLst xmlns:a="http://schemas.openxmlformats.org/drawingml/2006/main">
              <a:ext uri="{FF2B5EF4-FFF2-40B4-BE49-F238E27FC236}">
                <a16:creationId xmlns:a16="http://schemas.microsoft.com/office/drawing/2014/main" id="{5BE8C341-517D-46C3-A5F2-4865E3983DF1}"/>
              </a:ext>
            </a:extLst>
          </p:cNvPr>
          <p:cNvSpPr>
            <a:spLocks xmlns:a="http://schemas.openxmlformats.org/drawingml/2006/main" noGrp="1"/>
          </p:cNvSpPr>
          <p:nvPr/>
        </p:nvSpPr>
        <p:spPr>
          <a:xfrm xmlns:a="http://schemas.openxmlformats.org/drawingml/2006/main">
            <a:off x="723900" y="3000375"/>
            <a:ext cx="17526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i="0">
                <a:solidFill>
                  <a:srgbClr val="66717E"/>
                </a:solidFill>
              </a:defRPr>
            </a:pPr>
            <a:r>
              <a:rPr sz="825" b="0" i="0">
                <a:solidFill>
                  <a:srgbClr val="66717E"/>
                </a:solidFill>
              </a:rPr>
              <a:t>[Requester]</a:t>
            </a:r>
          </a:p>
        </p:txBody>
      </p:sp>
      <p:sp>
        <p:nvSpPr>
          <p:cNvPr id="14" name="">
            <a:extLst xmlns:a="http://schemas.openxmlformats.org/drawingml/2006/main">
              <a:ext uri="{FF2B5EF4-FFF2-40B4-BE49-F238E27FC236}">
                <a16:creationId xmlns:a16="http://schemas.microsoft.com/office/drawing/2014/main" id="{67B114B5-03DC-4B1F-A3F8-CFB76947EB11}"/>
              </a:ext>
            </a:extLst>
          </p:cNvPr>
          <p:cNvSpPr>
            <a:spLocks xmlns:a="http://schemas.openxmlformats.org/drawingml/2006/main" noGrp="1"/>
          </p:cNvSpPr>
          <p:nvPr/>
        </p:nvSpPr>
        <p:spPr>
          <a:xfrm xmlns:a="http://schemas.openxmlformats.org/drawingml/2006/main">
            <a:off x="2800350" y="1885950"/>
            <a:ext cx="1981200" cy="1371600"/>
          </a:xfrm>
          <a:prstGeom xmlns:a="http://schemas.openxmlformats.org/drawingml/2006/main" prst="roundRect">
            <a:avLst>
              <a:gd name="adj" fmla="val 5556"/>
            </a:avLst>
          </a:prstGeom>
          <a:solidFill xmlns:a="http://schemas.openxmlformats.org/drawingml/2006/main">
            <a:srgbClr val="E8F3EC"/>
          </a:solidFill>
          <a:ln xmlns:a="http://schemas.openxmlformats.org/drawingml/2006/main" w="9525">
            <a:solidFill>
              <a:srgbClr val="C9D2DC"/>
            </a:solidFill>
            <a:prstDash val="solid"/>
          </a:ln>
        </p:spPr>
      </p:sp>
      <p:sp>
        <p:nvSpPr>
          <p:cNvPr id="15" name="">
            <a:extLst xmlns:a="http://schemas.openxmlformats.org/drawingml/2006/main">
              <a:ext uri="{FF2B5EF4-FFF2-40B4-BE49-F238E27FC236}">
                <a16:creationId xmlns:a16="http://schemas.microsoft.com/office/drawing/2014/main" id="{7E059979-A175-406E-ACAE-7527556296F3}"/>
              </a:ext>
            </a:extLst>
          </p:cNvPr>
          <p:cNvSpPr>
            <a:spLocks xmlns:a="http://schemas.openxmlformats.org/drawingml/2006/main" noGrp="1"/>
          </p:cNvSpPr>
          <p:nvPr/>
        </p:nvSpPr>
        <p:spPr>
          <a:xfrm xmlns:a="http://schemas.openxmlformats.org/drawingml/2006/main">
            <a:off x="2914650" y="1962150"/>
            <a:ext cx="476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i="0">
                <a:solidFill>
                  <a:srgbClr val="2E74B5"/>
                </a:solidFill>
              </a:defRPr>
            </a:pPr>
            <a:r>
              <a:rPr sz="825" b="1" i="0">
                <a:solidFill>
                  <a:srgbClr val="2E74B5"/>
                </a:solidFill>
              </a:rPr>
              <a:t>C-02</a:t>
            </a:r>
          </a:p>
        </p:txBody>
      </p:sp>
      <p:sp>
        <p:nvSpPr>
          <p:cNvPr id="16" name="">
            <a:extLst xmlns:a="http://schemas.openxmlformats.org/drawingml/2006/main">
              <a:ext uri="{FF2B5EF4-FFF2-40B4-BE49-F238E27FC236}">
                <a16:creationId xmlns:a16="http://schemas.microsoft.com/office/drawing/2014/main" id="{75E8B2DA-E7C6-4A3B-AB87-5ED2EEC2A1D7}"/>
              </a:ext>
            </a:extLst>
          </p:cNvPr>
          <p:cNvSpPr>
            <a:spLocks xmlns:a="http://schemas.openxmlformats.org/drawingml/2006/main" noGrp="1"/>
          </p:cNvSpPr>
          <p:nvPr/>
        </p:nvSpPr>
        <p:spPr>
          <a:xfrm xmlns:a="http://schemas.openxmlformats.org/drawingml/2006/main">
            <a:off x="2914650" y="2162175"/>
            <a:ext cx="17526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i="0">
                <a:solidFill>
                  <a:srgbClr val="17324D"/>
                </a:solidFill>
              </a:defRPr>
            </a:pPr>
            <a:r>
              <a:rPr sz="1275" b="1" i="0">
                <a:solidFill>
                  <a:srgbClr val="17324D"/>
                </a:solidFill>
              </a:rPr>
              <a:t>Validate once</a:t>
            </a:r>
          </a:p>
        </p:txBody>
      </p:sp>
      <p:sp>
        <p:nvSpPr>
          <p:cNvPr id="17" name="">
            <a:extLst xmlns:a="http://schemas.openxmlformats.org/drawingml/2006/main">
              <a:ext uri="{FF2B5EF4-FFF2-40B4-BE49-F238E27FC236}">
                <a16:creationId xmlns:a16="http://schemas.microsoft.com/office/drawing/2014/main" id="{B59C04ED-D7E6-4F32-80E3-ECBCAEBE62C4}"/>
              </a:ext>
            </a:extLst>
          </p:cNvPr>
          <p:cNvSpPr>
            <a:spLocks xmlns:a="http://schemas.openxmlformats.org/drawingml/2006/main" noGrp="1"/>
          </p:cNvSpPr>
          <p:nvPr/>
        </p:nvSpPr>
        <p:spPr>
          <a:xfrm xmlns:a="http://schemas.openxmlformats.org/drawingml/2006/main">
            <a:off x="2914650" y="3000375"/>
            <a:ext cx="17526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i="0">
                <a:solidFill>
                  <a:srgbClr val="66717E"/>
                </a:solidFill>
              </a:defRPr>
            </a:pPr>
            <a:r>
              <a:rPr sz="825" b="0" i="0">
                <a:solidFill>
                  <a:srgbClr val="66717E"/>
                </a:solidFill>
              </a:rPr>
              <a:t>[Owner]</a:t>
            </a:r>
          </a:p>
        </p:txBody>
      </p:sp>
      <p:sp>
        <p:nvSpPr>
          <p:cNvPr id="18" name="">
            <a:extLst xmlns:a="http://schemas.openxmlformats.org/drawingml/2006/main">
              <a:ext uri="{FF2B5EF4-FFF2-40B4-BE49-F238E27FC236}">
                <a16:creationId xmlns:a16="http://schemas.microsoft.com/office/drawing/2014/main" id="{9FAA77AB-F0AD-44D6-B5AB-E2D01E5CC1C3}"/>
              </a:ext>
            </a:extLst>
          </p:cNvPr>
          <p:cNvSpPr>
            <a:spLocks xmlns:a="http://schemas.openxmlformats.org/drawingml/2006/main" noGrp="1"/>
          </p:cNvSpPr>
          <p:nvPr/>
        </p:nvSpPr>
        <p:spPr>
          <a:xfrm xmlns:a="http://schemas.openxmlformats.org/drawingml/2006/main">
            <a:off x="4991100" y="1885950"/>
            <a:ext cx="1981200" cy="1371600"/>
          </a:xfrm>
          <a:prstGeom xmlns:a="http://schemas.openxmlformats.org/drawingml/2006/main" prst="roundRect">
            <a:avLst>
              <a:gd name="adj" fmla="val 5556"/>
            </a:avLst>
          </a:prstGeom>
          <a:solidFill xmlns:a="http://schemas.openxmlformats.org/drawingml/2006/main">
            <a:srgbClr val="DCEAF7"/>
          </a:solidFill>
          <a:ln xmlns:a="http://schemas.openxmlformats.org/drawingml/2006/main" w="9525">
            <a:solidFill>
              <a:srgbClr val="C9D2DC"/>
            </a:solidFill>
            <a:prstDash val="solid"/>
          </a:ln>
        </p:spPr>
      </p:sp>
      <p:sp>
        <p:nvSpPr>
          <p:cNvPr id="19" name="">
            <a:extLst xmlns:a="http://schemas.openxmlformats.org/drawingml/2006/main">
              <a:ext uri="{FF2B5EF4-FFF2-40B4-BE49-F238E27FC236}">
                <a16:creationId xmlns:a16="http://schemas.microsoft.com/office/drawing/2014/main" id="{E9EDDDF2-45D0-4EFF-92F7-86B4424C93EF}"/>
              </a:ext>
            </a:extLst>
          </p:cNvPr>
          <p:cNvSpPr>
            <a:spLocks xmlns:a="http://schemas.openxmlformats.org/drawingml/2006/main" noGrp="1"/>
          </p:cNvSpPr>
          <p:nvPr/>
        </p:nvSpPr>
        <p:spPr>
          <a:xfrm xmlns:a="http://schemas.openxmlformats.org/drawingml/2006/main">
            <a:off x="5105400" y="1962150"/>
            <a:ext cx="476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i="0">
                <a:solidFill>
                  <a:srgbClr val="2E74B5"/>
                </a:solidFill>
              </a:defRPr>
            </a:pPr>
            <a:r>
              <a:rPr sz="825" b="1" i="0">
                <a:solidFill>
                  <a:srgbClr val="2E74B5"/>
                </a:solidFill>
              </a:rPr>
              <a:t>C-03</a:t>
            </a:r>
          </a:p>
        </p:txBody>
      </p:sp>
      <p:sp>
        <p:nvSpPr>
          <p:cNvPr id="20" name="">
            <a:extLst xmlns:a="http://schemas.openxmlformats.org/drawingml/2006/main">
              <a:ext uri="{FF2B5EF4-FFF2-40B4-BE49-F238E27FC236}">
                <a16:creationId xmlns:a16="http://schemas.microsoft.com/office/drawing/2014/main" id="{0280DBBC-2011-438E-AACE-27FC02B8887E}"/>
              </a:ext>
            </a:extLst>
          </p:cNvPr>
          <p:cNvSpPr>
            <a:spLocks xmlns:a="http://schemas.openxmlformats.org/drawingml/2006/main" noGrp="1"/>
          </p:cNvSpPr>
          <p:nvPr/>
        </p:nvSpPr>
        <p:spPr>
          <a:xfrm xmlns:a="http://schemas.openxmlformats.org/drawingml/2006/main">
            <a:off x="5105400" y="2162175"/>
            <a:ext cx="17526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i="0">
                <a:solidFill>
                  <a:srgbClr val="17324D"/>
                </a:solidFill>
              </a:defRPr>
            </a:pPr>
            <a:r>
              <a:rPr sz="1275" b="1" i="0">
                <a:solidFill>
                  <a:srgbClr val="17324D"/>
                </a:solidFill>
              </a:rPr>
              <a:t>Route by rule</a:t>
            </a:r>
          </a:p>
        </p:txBody>
      </p:sp>
      <p:sp>
        <p:nvSpPr>
          <p:cNvPr id="21" name="">
            <a:extLst xmlns:a="http://schemas.openxmlformats.org/drawingml/2006/main">
              <a:ext uri="{FF2B5EF4-FFF2-40B4-BE49-F238E27FC236}">
                <a16:creationId xmlns:a16="http://schemas.microsoft.com/office/drawing/2014/main" id="{EFAA3C7F-D4D3-401D-8A56-10488ABCE149}"/>
              </a:ext>
            </a:extLst>
          </p:cNvPr>
          <p:cNvSpPr>
            <a:spLocks xmlns:a="http://schemas.openxmlformats.org/drawingml/2006/main" noGrp="1"/>
          </p:cNvSpPr>
          <p:nvPr/>
        </p:nvSpPr>
        <p:spPr>
          <a:xfrm xmlns:a="http://schemas.openxmlformats.org/drawingml/2006/main">
            <a:off x="5105400" y="3000375"/>
            <a:ext cx="17526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i="0">
                <a:solidFill>
                  <a:srgbClr val="66717E"/>
                </a:solidFill>
              </a:defRPr>
            </a:pPr>
            <a:r>
              <a:rPr sz="825" b="0" i="0">
                <a:solidFill>
                  <a:srgbClr val="66717E"/>
                </a:solidFill>
              </a:rPr>
              <a:t>[Owner]</a:t>
            </a:r>
          </a:p>
        </p:txBody>
      </p:sp>
      <p:sp>
        <p:nvSpPr>
          <p:cNvPr id="22" name="">
            <a:extLst xmlns:a="http://schemas.openxmlformats.org/drawingml/2006/main">
              <a:ext uri="{FF2B5EF4-FFF2-40B4-BE49-F238E27FC236}">
                <a16:creationId xmlns:a16="http://schemas.microsoft.com/office/drawing/2014/main" id="{2ADC45CA-0310-4590-8295-99A214A4B69C}"/>
              </a:ext>
            </a:extLst>
          </p:cNvPr>
          <p:cNvSpPr>
            <a:spLocks xmlns:a="http://schemas.openxmlformats.org/drawingml/2006/main" noGrp="1"/>
          </p:cNvSpPr>
          <p:nvPr/>
        </p:nvSpPr>
        <p:spPr>
          <a:xfrm xmlns:a="http://schemas.openxmlformats.org/drawingml/2006/main">
            <a:off x="7181850" y="1885950"/>
            <a:ext cx="1981200" cy="1371600"/>
          </a:xfrm>
          <a:prstGeom xmlns:a="http://schemas.openxmlformats.org/drawingml/2006/main" prst="roundRect">
            <a:avLst>
              <a:gd name="adj" fmla="val 5556"/>
            </a:avLst>
          </a:prstGeom>
          <a:solidFill xmlns:a="http://schemas.openxmlformats.org/drawingml/2006/main">
            <a:srgbClr val="FFF4CE"/>
          </a:solidFill>
          <a:ln xmlns:a="http://schemas.openxmlformats.org/drawingml/2006/main" w="9525">
            <a:solidFill>
              <a:srgbClr val="C9D2DC"/>
            </a:solidFill>
            <a:prstDash val="solid"/>
          </a:ln>
        </p:spPr>
      </p:sp>
      <p:sp>
        <p:nvSpPr>
          <p:cNvPr id="23" name="">
            <a:extLst xmlns:a="http://schemas.openxmlformats.org/drawingml/2006/main">
              <a:ext uri="{FF2B5EF4-FFF2-40B4-BE49-F238E27FC236}">
                <a16:creationId xmlns:a16="http://schemas.microsoft.com/office/drawing/2014/main" id="{ED294813-98C9-447A-8B6B-A1BBA34AF112}"/>
              </a:ext>
            </a:extLst>
          </p:cNvPr>
          <p:cNvSpPr>
            <a:spLocks xmlns:a="http://schemas.openxmlformats.org/drawingml/2006/main" noGrp="1"/>
          </p:cNvSpPr>
          <p:nvPr/>
        </p:nvSpPr>
        <p:spPr>
          <a:xfrm xmlns:a="http://schemas.openxmlformats.org/drawingml/2006/main">
            <a:off x="7296150" y="1962150"/>
            <a:ext cx="476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i="0">
                <a:solidFill>
                  <a:srgbClr val="2E74B5"/>
                </a:solidFill>
              </a:defRPr>
            </a:pPr>
            <a:r>
              <a:rPr sz="825" b="1" i="0">
                <a:solidFill>
                  <a:srgbClr val="2E74B5"/>
                </a:solidFill>
              </a:rPr>
              <a:t>C-04</a:t>
            </a:r>
          </a:p>
        </p:txBody>
      </p:sp>
      <p:sp>
        <p:nvSpPr>
          <p:cNvPr id="24" name="">
            <a:extLst xmlns:a="http://schemas.openxmlformats.org/drawingml/2006/main">
              <a:ext uri="{FF2B5EF4-FFF2-40B4-BE49-F238E27FC236}">
                <a16:creationId xmlns:a16="http://schemas.microsoft.com/office/drawing/2014/main" id="{2D0466DD-ABEE-4039-9C62-1F8F25B92F73}"/>
              </a:ext>
            </a:extLst>
          </p:cNvPr>
          <p:cNvSpPr>
            <a:spLocks xmlns:a="http://schemas.openxmlformats.org/drawingml/2006/main" noGrp="1"/>
          </p:cNvSpPr>
          <p:nvPr/>
        </p:nvSpPr>
        <p:spPr>
          <a:xfrm xmlns:a="http://schemas.openxmlformats.org/drawingml/2006/main">
            <a:off x="7296150" y="2162175"/>
            <a:ext cx="17526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i="0">
                <a:solidFill>
                  <a:srgbClr val="17324D"/>
                </a:solidFill>
              </a:defRPr>
            </a:pPr>
            <a:r>
              <a:rPr sz="1275" b="1" i="0">
                <a:solidFill>
                  <a:srgbClr val="17324D"/>
                </a:solidFill>
              </a:rPr>
              <a:t>Resolve / decide</a:t>
            </a:r>
          </a:p>
        </p:txBody>
      </p:sp>
      <p:sp>
        <p:nvSpPr>
          <p:cNvPr id="25" name="">
            <a:extLst xmlns:a="http://schemas.openxmlformats.org/drawingml/2006/main">
              <a:ext uri="{FF2B5EF4-FFF2-40B4-BE49-F238E27FC236}">
                <a16:creationId xmlns:a16="http://schemas.microsoft.com/office/drawing/2014/main" id="{369CB012-18F3-4014-86E1-039C5DB94F5F}"/>
              </a:ext>
            </a:extLst>
          </p:cNvPr>
          <p:cNvSpPr>
            <a:spLocks xmlns:a="http://schemas.openxmlformats.org/drawingml/2006/main" noGrp="1"/>
          </p:cNvSpPr>
          <p:nvPr/>
        </p:nvSpPr>
        <p:spPr>
          <a:xfrm xmlns:a="http://schemas.openxmlformats.org/drawingml/2006/main">
            <a:off x="7296150" y="3000375"/>
            <a:ext cx="17526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i="0">
                <a:solidFill>
                  <a:srgbClr val="66717E"/>
                </a:solidFill>
              </a:defRPr>
            </a:pPr>
            <a:r>
              <a:rPr sz="825" b="0" i="0">
                <a:solidFill>
                  <a:srgbClr val="66717E"/>
                </a:solidFill>
              </a:rPr>
              <a:t>[Human owner]</a:t>
            </a:r>
          </a:p>
        </p:txBody>
      </p:sp>
      <p:sp>
        <p:nvSpPr>
          <p:cNvPr id="26" name="">
            <a:extLst xmlns:a="http://schemas.openxmlformats.org/drawingml/2006/main">
              <a:ext uri="{FF2B5EF4-FFF2-40B4-BE49-F238E27FC236}">
                <a16:creationId xmlns:a16="http://schemas.microsoft.com/office/drawing/2014/main" id="{A5344FC0-CFEB-4B9D-8A81-5F855B366F8B}"/>
              </a:ext>
            </a:extLst>
          </p:cNvPr>
          <p:cNvSpPr>
            <a:spLocks xmlns:a="http://schemas.openxmlformats.org/drawingml/2006/main" noGrp="1"/>
          </p:cNvSpPr>
          <p:nvPr/>
        </p:nvSpPr>
        <p:spPr>
          <a:xfrm xmlns:a="http://schemas.openxmlformats.org/drawingml/2006/main">
            <a:off x="9372600" y="1885950"/>
            <a:ext cx="1981200" cy="1371600"/>
          </a:xfrm>
          <a:prstGeom xmlns:a="http://schemas.openxmlformats.org/drawingml/2006/main" prst="roundRect">
            <a:avLst>
              <a:gd name="adj" fmla="val 5556"/>
            </a:avLst>
          </a:prstGeom>
          <a:solidFill xmlns:a="http://schemas.openxmlformats.org/drawingml/2006/main">
            <a:srgbClr val="FFFFFF"/>
          </a:solidFill>
          <a:ln xmlns:a="http://schemas.openxmlformats.org/drawingml/2006/main" w="9525">
            <a:solidFill>
              <a:srgbClr val="C9D2DC"/>
            </a:solidFill>
            <a:prstDash val="solid"/>
          </a:ln>
        </p:spPr>
      </p:sp>
      <p:sp>
        <p:nvSpPr>
          <p:cNvPr id="27" name="">
            <a:extLst xmlns:a="http://schemas.openxmlformats.org/drawingml/2006/main">
              <a:ext uri="{FF2B5EF4-FFF2-40B4-BE49-F238E27FC236}">
                <a16:creationId xmlns:a16="http://schemas.microsoft.com/office/drawing/2014/main" id="{5901E82A-15D1-4953-9592-C17D073FE5A8}"/>
              </a:ext>
            </a:extLst>
          </p:cNvPr>
          <p:cNvSpPr>
            <a:spLocks xmlns:a="http://schemas.openxmlformats.org/drawingml/2006/main" noGrp="1"/>
          </p:cNvSpPr>
          <p:nvPr/>
        </p:nvSpPr>
        <p:spPr>
          <a:xfrm xmlns:a="http://schemas.openxmlformats.org/drawingml/2006/main">
            <a:off x="9486900" y="1962150"/>
            <a:ext cx="476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i="0">
                <a:solidFill>
                  <a:srgbClr val="2E74B5"/>
                </a:solidFill>
              </a:defRPr>
            </a:pPr>
            <a:r>
              <a:rPr sz="825" b="1" i="0">
                <a:solidFill>
                  <a:srgbClr val="2E74B5"/>
                </a:solidFill>
              </a:rPr>
              <a:t>C-05</a:t>
            </a:r>
          </a:p>
        </p:txBody>
      </p:sp>
      <p:sp>
        <p:nvSpPr>
          <p:cNvPr id="28" name="">
            <a:extLst xmlns:a="http://schemas.openxmlformats.org/drawingml/2006/main">
              <a:ext uri="{FF2B5EF4-FFF2-40B4-BE49-F238E27FC236}">
                <a16:creationId xmlns:a16="http://schemas.microsoft.com/office/drawing/2014/main" id="{EE325641-6C94-47B9-BD1D-99D16A758360}"/>
              </a:ext>
            </a:extLst>
          </p:cNvPr>
          <p:cNvSpPr>
            <a:spLocks xmlns:a="http://schemas.openxmlformats.org/drawingml/2006/main" noGrp="1"/>
          </p:cNvSpPr>
          <p:nvPr/>
        </p:nvSpPr>
        <p:spPr>
          <a:xfrm xmlns:a="http://schemas.openxmlformats.org/drawingml/2006/main">
            <a:off x="9486900" y="2162175"/>
            <a:ext cx="17526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i="0">
                <a:solidFill>
                  <a:srgbClr val="17324D"/>
                </a:solidFill>
              </a:defRPr>
            </a:pPr>
            <a:r>
              <a:rPr sz="1275" b="1" i="0">
                <a:solidFill>
                  <a:srgbClr val="17324D"/>
                </a:solidFill>
              </a:rPr>
              <a:t>Confirm + record</a:t>
            </a:r>
          </a:p>
        </p:txBody>
      </p:sp>
      <p:sp>
        <p:nvSpPr>
          <p:cNvPr id="29" name="">
            <a:extLst xmlns:a="http://schemas.openxmlformats.org/drawingml/2006/main">
              <a:ext uri="{FF2B5EF4-FFF2-40B4-BE49-F238E27FC236}">
                <a16:creationId xmlns:a16="http://schemas.microsoft.com/office/drawing/2014/main" id="{72CCD2AF-058E-4E03-982A-4A9FE12B68B3}"/>
              </a:ext>
            </a:extLst>
          </p:cNvPr>
          <p:cNvSpPr>
            <a:spLocks xmlns:a="http://schemas.openxmlformats.org/drawingml/2006/main" noGrp="1"/>
          </p:cNvSpPr>
          <p:nvPr/>
        </p:nvSpPr>
        <p:spPr>
          <a:xfrm xmlns:a="http://schemas.openxmlformats.org/drawingml/2006/main">
            <a:off x="9486900" y="3000375"/>
            <a:ext cx="17526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i="0">
                <a:solidFill>
                  <a:srgbClr val="66717E"/>
                </a:solidFill>
              </a:defRPr>
            </a:pPr>
            <a:r>
              <a:rPr sz="825" b="0" i="0">
                <a:solidFill>
                  <a:srgbClr val="66717E"/>
                </a:solidFill>
              </a:rPr>
              <a:t>[Owner]</a:t>
            </a:r>
          </a:p>
        </p:txBody>
      </p:sp>
      <p:sp>
        <p:nvSpPr>
          <p:cNvPr id="30" name="">
            <a:extLst xmlns:a="http://schemas.openxmlformats.org/drawingml/2006/main">
              <a:ext uri="{FF2B5EF4-FFF2-40B4-BE49-F238E27FC236}">
                <a16:creationId xmlns:a16="http://schemas.microsoft.com/office/drawing/2014/main" id="{CF52E05D-8C11-408E-8A33-D59FA102A115}"/>
              </a:ext>
            </a:extLst>
          </p:cNvPr>
          <p:cNvSpPr>
            <a:spLocks xmlns:a="http://schemas.openxmlformats.org/drawingml/2006/main" noGrp="1"/>
          </p:cNvSpPr>
          <p:nvPr/>
        </p:nvSpPr>
        <p:spPr>
          <a:xfrm xmlns:a="http://schemas.openxmlformats.org/drawingml/2006/main">
            <a:off x="609600" y="3733800"/>
            <a:ext cx="2514600" cy="1619250"/>
          </a:xfrm>
          <a:prstGeom xmlns:a="http://schemas.openxmlformats.org/drawingml/2006/main" prst="roundRect">
            <a:avLst>
              <a:gd name="adj" fmla="val 4706"/>
            </a:avLst>
          </a:prstGeom>
          <a:solidFill xmlns:a="http://schemas.openxmlformats.org/drawingml/2006/main">
            <a:srgbClr val="FFFFFF"/>
          </a:solidFill>
          <a:ln xmlns:a="http://schemas.openxmlformats.org/drawingml/2006/main" w="9525">
            <a:solidFill>
              <a:srgbClr val="C9D2DC"/>
            </a:solidFill>
            <a:prstDash val="solid"/>
          </a:ln>
        </p:spPr>
      </p:sp>
      <p:sp>
        <p:nvSpPr>
          <p:cNvPr id="31" name="">
            <a:extLst xmlns:a="http://schemas.openxmlformats.org/drawingml/2006/main">
              <a:ext uri="{FF2B5EF4-FFF2-40B4-BE49-F238E27FC236}">
                <a16:creationId xmlns:a16="http://schemas.microsoft.com/office/drawing/2014/main" id="{A7EF4B39-1A11-4FC3-AFA8-71AC1EB821C4}"/>
              </a:ext>
            </a:extLst>
          </p:cNvPr>
          <p:cNvSpPr>
            <a:spLocks xmlns:a="http://schemas.openxmlformats.org/drawingml/2006/main" noGrp="1"/>
          </p:cNvSpPr>
          <p:nvPr/>
        </p:nvSpPr>
        <p:spPr>
          <a:xfrm xmlns:a="http://schemas.openxmlformats.org/drawingml/2006/main">
            <a:off x="781050" y="3905250"/>
            <a:ext cx="2171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75" b="1" i="0">
                <a:solidFill>
                  <a:srgbClr val="2E74B5"/>
                </a:solidFill>
              </a:defRPr>
            </a:pPr>
            <a:r>
              <a:rPr sz="975" b="1" i="0">
                <a:solidFill>
                  <a:srgbClr val="2E74B5"/>
                </a:solidFill>
              </a:rPr>
              <a:t>OWNERSHIP</a:t>
            </a:r>
          </a:p>
        </p:txBody>
      </p:sp>
      <p:sp>
        <p:nvSpPr>
          <p:cNvPr id="32" name="">
            <a:extLst xmlns:a="http://schemas.openxmlformats.org/drawingml/2006/main">
              <a:ext uri="{FF2B5EF4-FFF2-40B4-BE49-F238E27FC236}">
                <a16:creationId xmlns:a16="http://schemas.microsoft.com/office/drawing/2014/main" id="{A10FBC5B-9121-4A03-A439-C8B864E579F5}"/>
              </a:ext>
            </a:extLst>
          </p:cNvPr>
          <p:cNvSpPr>
            <a:spLocks xmlns:a="http://schemas.openxmlformats.org/drawingml/2006/main" noGrp="1"/>
          </p:cNvSpPr>
          <p:nvPr/>
        </p:nvSpPr>
        <p:spPr>
          <a:xfrm xmlns:a="http://schemas.openxmlformats.org/drawingml/2006/main">
            <a:off x="781050" y="4286250"/>
            <a:ext cx="21717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00" b="1" i="0">
                <a:solidFill>
                  <a:srgbClr val="17324D"/>
                </a:solidFill>
              </a:defRPr>
            </a:pPr>
            <a:r>
              <a:rPr sz="1200" b="1" i="0">
                <a:solidFill>
                  <a:srgbClr val="17324D"/>
                </a:solidFill>
              </a:rPr>
              <a:t>[What changes and who is accountable]</a:t>
            </a:r>
          </a:p>
        </p:txBody>
      </p:sp>
      <p:sp>
        <p:nvSpPr>
          <p:cNvPr id="33" name="">
            <a:extLst xmlns:a="http://schemas.openxmlformats.org/drawingml/2006/main">
              <a:ext uri="{FF2B5EF4-FFF2-40B4-BE49-F238E27FC236}">
                <a16:creationId xmlns:a16="http://schemas.microsoft.com/office/drawing/2014/main" id="{FF1F6431-E840-455D-95E1-4B465217111A}"/>
              </a:ext>
            </a:extLst>
          </p:cNvPr>
          <p:cNvSpPr>
            <a:spLocks xmlns:a="http://schemas.openxmlformats.org/drawingml/2006/main" noGrp="1"/>
          </p:cNvSpPr>
          <p:nvPr/>
        </p:nvSpPr>
        <p:spPr>
          <a:xfrm xmlns:a="http://schemas.openxmlformats.org/drawingml/2006/main">
            <a:off x="3352800" y="3733800"/>
            <a:ext cx="2514600" cy="1619250"/>
          </a:xfrm>
          <a:prstGeom xmlns:a="http://schemas.openxmlformats.org/drawingml/2006/main" prst="roundRect">
            <a:avLst>
              <a:gd name="adj" fmla="val 4706"/>
            </a:avLst>
          </a:prstGeom>
          <a:solidFill xmlns:a="http://schemas.openxmlformats.org/drawingml/2006/main">
            <a:srgbClr val="FFFFFF"/>
          </a:solidFill>
          <a:ln xmlns:a="http://schemas.openxmlformats.org/drawingml/2006/main" w="9525">
            <a:solidFill>
              <a:srgbClr val="C9D2DC"/>
            </a:solidFill>
            <a:prstDash val="solid"/>
          </a:ln>
        </p:spPr>
      </p:sp>
      <p:sp>
        <p:nvSpPr>
          <p:cNvPr id="34" name="">
            <a:extLst xmlns:a="http://schemas.openxmlformats.org/drawingml/2006/main">
              <a:ext uri="{FF2B5EF4-FFF2-40B4-BE49-F238E27FC236}">
                <a16:creationId xmlns:a16="http://schemas.microsoft.com/office/drawing/2014/main" id="{821D2EA9-E237-48CB-AD04-C446D0045409}"/>
              </a:ext>
            </a:extLst>
          </p:cNvPr>
          <p:cNvSpPr>
            <a:spLocks xmlns:a="http://schemas.openxmlformats.org/drawingml/2006/main" noGrp="1"/>
          </p:cNvSpPr>
          <p:nvPr/>
        </p:nvSpPr>
        <p:spPr>
          <a:xfrm xmlns:a="http://schemas.openxmlformats.org/drawingml/2006/main">
            <a:off x="3524250" y="3905250"/>
            <a:ext cx="2171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75" b="1" i="0">
                <a:solidFill>
                  <a:srgbClr val="2E7D5B"/>
                </a:solidFill>
              </a:defRPr>
            </a:pPr>
            <a:r>
              <a:rPr sz="975" b="1" i="0">
                <a:solidFill>
                  <a:srgbClr val="2E7D5B"/>
                </a:solidFill>
              </a:rPr>
              <a:t>INFORMATION</a:t>
            </a:r>
          </a:p>
        </p:txBody>
      </p:sp>
      <p:sp>
        <p:nvSpPr>
          <p:cNvPr id="35" name="">
            <a:extLst xmlns:a="http://schemas.openxmlformats.org/drawingml/2006/main">
              <a:ext uri="{FF2B5EF4-FFF2-40B4-BE49-F238E27FC236}">
                <a16:creationId xmlns:a16="http://schemas.microsoft.com/office/drawing/2014/main" id="{6A997016-2D67-4BE3-9581-E1187210A6E1}"/>
              </a:ext>
            </a:extLst>
          </p:cNvPr>
          <p:cNvSpPr>
            <a:spLocks xmlns:a="http://schemas.openxmlformats.org/drawingml/2006/main" noGrp="1"/>
          </p:cNvSpPr>
          <p:nvPr/>
        </p:nvSpPr>
        <p:spPr>
          <a:xfrm xmlns:a="http://schemas.openxmlformats.org/drawingml/2006/main">
            <a:off x="3524250" y="4286250"/>
            <a:ext cx="21717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00" b="1" i="0">
                <a:solidFill>
                  <a:srgbClr val="17324D"/>
                </a:solidFill>
              </a:defRPr>
            </a:pPr>
            <a:r>
              <a:rPr sz="1200" b="1" i="0">
                <a:solidFill>
                  <a:srgbClr val="17324D"/>
                </a:solidFill>
              </a:rPr>
              <a:t>[What is captured once and reused]</a:t>
            </a:r>
          </a:p>
        </p:txBody>
      </p:sp>
      <p:sp>
        <p:nvSpPr>
          <p:cNvPr id="36" name="">
            <a:extLst xmlns:a="http://schemas.openxmlformats.org/drawingml/2006/main">
              <a:ext uri="{FF2B5EF4-FFF2-40B4-BE49-F238E27FC236}">
                <a16:creationId xmlns:a16="http://schemas.microsoft.com/office/drawing/2014/main" id="{E415C279-A771-49B6-9AB2-649385D5A549}"/>
              </a:ext>
            </a:extLst>
          </p:cNvPr>
          <p:cNvSpPr>
            <a:spLocks xmlns:a="http://schemas.openxmlformats.org/drawingml/2006/main" noGrp="1"/>
          </p:cNvSpPr>
          <p:nvPr/>
        </p:nvSpPr>
        <p:spPr>
          <a:xfrm xmlns:a="http://schemas.openxmlformats.org/drawingml/2006/main">
            <a:off x="6096000" y="3733800"/>
            <a:ext cx="2514600" cy="1619250"/>
          </a:xfrm>
          <a:prstGeom xmlns:a="http://schemas.openxmlformats.org/drawingml/2006/main" prst="roundRect">
            <a:avLst>
              <a:gd name="adj" fmla="val 4706"/>
            </a:avLst>
          </a:prstGeom>
          <a:solidFill xmlns:a="http://schemas.openxmlformats.org/drawingml/2006/main">
            <a:srgbClr val="FFFFFF"/>
          </a:solidFill>
          <a:ln xmlns:a="http://schemas.openxmlformats.org/drawingml/2006/main" w="9525">
            <a:solidFill>
              <a:srgbClr val="C9D2DC"/>
            </a:solidFill>
            <a:prstDash val="solid"/>
          </a:ln>
        </p:spPr>
      </p:sp>
      <p:sp>
        <p:nvSpPr>
          <p:cNvPr id="37" name="">
            <a:extLst xmlns:a="http://schemas.openxmlformats.org/drawingml/2006/main">
              <a:ext uri="{FF2B5EF4-FFF2-40B4-BE49-F238E27FC236}">
                <a16:creationId xmlns:a16="http://schemas.microsoft.com/office/drawing/2014/main" id="{2B96FD79-F18F-4462-9025-2F39CC8866D3}"/>
              </a:ext>
            </a:extLst>
          </p:cNvPr>
          <p:cNvSpPr>
            <a:spLocks xmlns:a="http://schemas.openxmlformats.org/drawingml/2006/main" noGrp="1"/>
          </p:cNvSpPr>
          <p:nvPr/>
        </p:nvSpPr>
        <p:spPr>
          <a:xfrm xmlns:a="http://schemas.openxmlformats.org/drawingml/2006/main">
            <a:off x="6267450" y="3905250"/>
            <a:ext cx="2171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75" b="1" i="0">
                <a:solidFill>
                  <a:srgbClr val="F5C451"/>
                </a:solidFill>
              </a:defRPr>
            </a:pPr>
            <a:r>
              <a:rPr sz="975" b="1" i="0">
                <a:solidFill>
                  <a:srgbClr val="F5C451"/>
                </a:solidFill>
              </a:rPr>
              <a:t>CONTROL</a:t>
            </a:r>
          </a:p>
        </p:txBody>
      </p:sp>
      <p:sp>
        <p:nvSpPr>
          <p:cNvPr id="38" name="">
            <a:extLst xmlns:a="http://schemas.openxmlformats.org/drawingml/2006/main">
              <a:ext uri="{FF2B5EF4-FFF2-40B4-BE49-F238E27FC236}">
                <a16:creationId xmlns:a16="http://schemas.microsoft.com/office/drawing/2014/main" id="{C9E4028A-12A0-45C5-8D8A-40BB960CD017}"/>
              </a:ext>
            </a:extLst>
          </p:cNvPr>
          <p:cNvSpPr>
            <a:spLocks xmlns:a="http://schemas.openxmlformats.org/drawingml/2006/main" noGrp="1"/>
          </p:cNvSpPr>
          <p:nvPr/>
        </p:nvSpPr>
        <p:spPr>
          <a:xfrm xmlns:a="http://schemas.openxmlformats.org/drawingml/2006/main">
            <a:off x="6267450" y="4286250"/>
            <a:ext cx="21717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00" b="1" i="0">
                <a:solidFill>
                  <a:srgbClr val="17324D"/>
                </a:solidFill>
              </a:defRPr>
            </a:pPr>
            <a:r>
              <a:rPr sz="1200" b="1" i="0">
                <a:solidFill>
                  <a:srgbClr val="17324D"/>
                </a:solidFill>
              </a:rPr>
              <a:t>[Approval, evidence or exception record]</a:t>
            </a:r>
          </a:p>
        </p:txBody>
      </p:sp>
      <p:sp>
        <p:nvSpPr>
          <p:cNvPr id="39" name="">
            <a:extLst xmlns:a="http://schemas.openxmlformats.org/drawingml/2006/main">
              <a:ext uri="{FF2B5EF4-FFF2-40B4-BE49-F238E27FC236}">
                <a16:creationId xmlns:a16="http://schemas.microsoft.com/office/drawing/2014/main" id="{2B8CD4CE-18CE-44F4-AE76-E4EFA1CC36DF}"/>
              </a:ext>
            </a:extLst>
          </p:cNvPr>
          <p:cNvSpPr>
            <a:spLocks xmlns:a="http://schemas.openxmlformats.org/drawingml/2006/main" noGrp="1"/>
          </p:cNvSpPr>
          <p:nvPr/>
        </p:nvSpPr>
        <p:spPr>
          <a:xfrm xmlns:a="http://schemas.openxmlformats.org/drawingml/2006/main">
            <a:off x="8839200" y="3733800"/>
            <a:ext cx="2514600" cy="1619250"/>
          </a:xfrm>
          <a:prstGeom xmlns:a="http://schemas.openxmlformats.org/drawingml/2006/main" prst="roundRect">
            <a:avLst>
              <a:gd name="adj" fmla="val 4706"/>
            </a:avLst>
          </a:prstGeom>
          <a:solidFill xmlns:a="http://schemas.openxmlformats.org/drawingml/2006/main">
            <a:srgbClr val="FFFFFF"/>
          </a:solidFill>
          <a:ln xmlns:a="http://schemas.openxmlformats.org/drawingml/2006/main" w="9525">
            <a:solidFill>
              <a:srgbClr val="C9D2DC"/>
            </a:solidFill>
            <a:prstDash val="solid"/>
          </a:ln>
        </p:spPr>
      </p:sp>
      <p:sp>
        <p:nvSpPr>
          <p:cNvPr id="40" name="">
            <a:extLst xmlns:a="http://schemas.openxmlformats.org/drawingml/2006/main">
              <a:ext uri="{FF2B5EF4-FFF2-40B4-BE49-F238E27FC236}">
                <a16:creationId xmlns:a16="http://schemas.microsoft.com/office/drawing/2014/main" id="{2A5E8DF9-0EAD-44FF-A075-601D9F663928}"/>
              </a:ext>
            </a:extLst>
          </p:cNvPr>
          <p:cNvSpPr>
            <a:spLocks xmlns:a="http://schemas.openxmlformats.org/drawingml/2006/main" noGrp="1"/>
          </p:cNvSpPr>
          <p:nvPr/>
        </p:nvSpPr>
        <p:spPr>
          <a:xfrm xmlns:a="http://schemas.openxmlformats.org/drawingml/2006/main">
            <a:off x="9010650" y="3905250"/>
            <a:ext cx="2171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75" b="1" i="0">
                <a:solidFill>
                  <a:srgbClr val="B54B4B"/>
                </a:solidFill>
              </a:defRPr>
            </a:pPr>
            <a:r>
              <a:rPr sz="975" b="1" i="0">
                <a:solidFill>
                  <a:srgbClr val="B54B4B"/>
                </a:solidFill>
              </a:rPr>
              <a:t>MEASURE</a:t>
            </a:r>
          </a:p>
        </p:txBody>
      </p:sp>
      <p:sp>
        <p:nvSpPr>
          <p:cNvPr id="41" name="">
            <a:extLst xmlns:a="http://schemas.openxmlformats.org/drawingml/2006/main">
              <a:ext uri="{FF2B5EF4-FFF2-40B4-BE49-F238E27FC236}">
                <a16:creationId xmlns:a16="http://schemas.microsoft.com/office/drawing/2014/main" id="{C0278734-B552-45D1-948C-592F198BC6CB}"/>
              </a:ext>
            </a:extLst>
          </p:cNvPr>
          <p:cNvSpPr>
            <a:spLocks xmlns:a="http://schemas.openxmlformats.org/drawingml/2006/main" noGrp="1"/>
          </p:cNvSpPr>
          <p:nvPr/>
        </p:nvSpPr>
        <p:spPr>
          <a:xfrm xmlns:a="http://schemas.openxmlformats.org/drawingml/2006/main">
            <a:off x="9010650" y="4286250"/>
            <a:ext cx="21717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00" b="1" i="0">
                <a:solidFill>
                  <a:srgbClr val="17324D"/>
                </a:solidFill>
              </a:defRPr>
            </a:pPr>
            <a:r>
              <a:rPr sz="1200" b="1" i="0">
                <a:solidFill>
                  <a:srgbClr val="17324D"/>
                </a:solidFill>
              </a:rPr>
              <a:t>[Metric, baseline and review cadence]</a:t>
            </a:r>
          </a:p>
        </p:txBody>
      </p:sp>
      <p:sp>
        <p:nvSpPr>
          <p:cNvPr id="42" name="">
            <a:extLst xmlns:a="http://schemas.openxmlformats.org/drawingml/2006/main">
              <a:ext uri="{FF2B5EF4-FFF2-40B4-BE49-F238E27FC236}">
                <a16:creationId xmlns:a16="http://schemas.microsoft.com/office/drawing/2014/main" id="{C740E69E-B016-41AE-A4C5-906388138666}"/>
              </a:ext>
            </a:extLst>
          </p:cNvPr>
          <p:cNvSpPr>
            <a:spLocks xmlns:a="http://schemas.openxmlformats.org/drawingml/2006/main" noGrp="1"/>
          </p:cNvSpPr>
          <p:nvPr/>
        </p:nvSpPr>
        <p:spPr>
          <a:xfrm xmlns:a="http://schemas.openxmlformats.org/drawingml/2006/main">
            <a:off x="609600" y="5676900"/>
            <a:ext cx="10972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0" i="1">
                <a:solidFill>
                  <a:srgbClr val="66717E"/>
                </a:solidFill>
              </a:defRPr>
            </a:pPr>
            <a:r>
              <a:rPr sz="1200" b="0" i="1">
                <a:solidFill>
                  <a:srgbClr val="66717E"/>
                </a:solidFill>
              </a:rPr>
              <a:t>Every material change must link back to a finding or pain ID.</a:t>
            </a:r>
          </a:p>
        </p:txBody>
      </p:sp>
    </p:spTree>
    <p:extLst>
      <p:ext uri="{BB962C8B-B14F-4D97-AF65-F5344CB8AC3E}">
        <p14:creationId xmlns:p14="http://schemas.microsoft.com/office/powerpoint/2010/main" val="1645318910"/>
      </p:ext>
    </p:extLst>
  </p:cSld>
</p:sld>
</file>

<file path=ppt/slides/slide10.xml><?xml version="1.0" encoding="utf-8"?>
<p:sld xmlns:p="http://schemas.openxmlformats.org/presentationml/2006/main">
  <p:cSld>
    <p:bg>
      <p:bgPr>
        <a:solidFill xmlns:a="http://schemas.openxmlformats.org/drawingml/2006/main">
          <a:srgbClr val="F7F9FB"/>
        </a:solidFill>
      </p:bgPr>
    </p:bg>
    <p:spTree>
      <p:nvGrpSpPr>
        <p:cNvPr id="1" name=""/>
        <p:cNvGrpSpPr/>
        <p:nvPr/>
      </p:nvGrpSpPr>
      <p:grpSpPr>
        <a:xfrm xmlns:a="http://schemas.openxmlformats.org/drawingml/2006/main"/>
      </p:grpSpPr>
      <p:sp>
        <p:nvSpPr>
          <p:cNvPr id="45" name="">
            <a:extLst xmlns:a="http://schemas.openxmlformats.org/drawingml/2006/main">
              <a:ext uri="{FF2B5EF4-FFF2-40B4-BE49-F238E27FC236}">
                <a16:creationId xmlns:a16="http://schemas.microsoft.com/office/drawing/2014/main" id="{7AC133D2-0C6C-4522-A3FC-382E1840E61B}"/>
              </a:ext>
            </a:extLst>
          </p:cNvPr>
          <p:cNvSpPr>
            <a:spLocks xmlns:a="http://schemas.openxmlformats.org/drawingml/2006/main" noGrp="1"/>
          </p:cNvSpPr>
          <p:nvPr/>
        </p:nvSpPr>
        <p:spPr>
          <a:xfrm xmlns:a="http://schemas.openxmlformats.org/drawingml/2006/main">
            <a:off x="609600" y="32385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i="0">
                <a:solidFill>
                  <a:srgbClr val="2E74B5"/>
                </a:solidFill>
              </a:defRPr>
            </a:pPr>
            <a:r>
              <a:rPr sz="900" b="1" i="0">
                <a:solidFill>
                  <a:srgbClr val="2E74B5"/>
                </a:solidFill>
              </a:rPr>
              <a:t>OPPORTUNITIES</a:t>
            </a:r>
          </a:p>
        </p:txBody>
      </p:sp>
      <p:sp>
        <p:nvSpPr>
          <p:cNvPr id="2" name="">
            <a:extLst xmlns:a="http://schemas.openxmlformats.org/drawingml/2006/main">
              <a:ext uri="{FF2B5EF4-FFF2-40B4-BE49-F238E27FC236}">
                <a16:creationId xmlns:a16="http://schemas.microsoft.com/office/drawing/2014/main" id="{CA7FC461-FDCE-4E0F-9961-085CCCD456F4}"/>
              </a:ext>
            </a:extLst>
          </p:cNvPr>
          <p:cNvSpPr>
            <a:spLocks xmlns:a="http://schemas.openxmlformats.org/drawingml/2006/main" noGrp="1"/>
          </p:cNvSpPr>
          <p:nvPr/>
        </p:nvSpPr>
        <p:spPr>
          <a:xfrm xmlns:a="http://schemas.openxmlformats.org/drawingml/2006/main">
            <a:off x="609600" y="552450"/>
            <a:ext cx="10287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550" b="1" i="0">
                <a:solidFill>
                  <a:srgbClr val="17324D"/>
                </a:solidFill>
              </a:defRPr>
            </a:pPr>
            <a:r>
              <a:rPr sz="2550" b="1" i="0">
                <a:solidFill>
                  <a:srgbClr val="17324D"/>
                </a:solidFill>
              </a:rPr>
              <a:t>Prioritise distinct changes — with gates visible</a:t>
            </a:r>
          </a:p>
        </p:txBody>
      </p:sp>
      <p:sp>
        <p:nvSpPr>
          <p:cNvPr id="3" name="">
            <a:extLst xmlns:a="http://schemas.openxmlformats.org/drawingml/2006/main">
              <a:ext uri="{FF2B5EF4-FFF2-40B4-BE49-F238E27FC236}">
                <a16:creationId xmlns:a16="http://schemas.microsoft.com/office/drawing/2014/main" id="{428B2C6E-1923-41EF-854D-9A49B8112901}"/>
              </a:ext>
            </a:extLst>
          </p:cNvPr>
          <p:cNvSpPr>
            <a:spLocks xmlns:a="http://schemas.openxmlformats.org/drawingml/2006/main" noGrp="1"/>
          </p:cNvSpPr>
          <p:nvPr/>
        </p:nvSpPr>
        <p:spPr>
          <a:xfrm xmlns:a="http://schemas.openxmlformats.org/drawingml/2006/main">
            <a:off x="609600" y="1143000"/>
            <a:ext cx="10972800" cy="19050"/>
          </a:xfrm>
          <a:prstGeom xmlns:a="http://schemas.openxmlformats.org/drawingml/2006/main" prst="rect">
            <a:avLst/>
          </a:prstGeom>
          <a:solidFill xmlns:a="http://schemas.openxmlformats.org/drawingml/2006/main">
            <a:srgbClr val="C9D2DC"/>
          </a:solidFill>
          <a:ln xmlns:a="http://schemas.openxmlformats.org/drawingml/2006/main" w="0">
            <a:solidFill>
              <a:srgbClr val="C9D2DC"/>
            </a:solidFill>
            <a:prstDash val="solid"/>
          </a:ln>
        </p:spPr>
      </p:sp>
      <p:sp>
        <p:nvSpPr>
          <p:cNvPr id="4" name="">
            <a:extLst xmlns:a="http://schemas.openxmlformats.org/drawingml/2006/main">
              <a:ext uri="{FF2B5EF4-FFF2-40B4-BE49-F238E27FC236}">
                <a16:creationId xmlns:a16="http://schemas.microsoft.com/office/drawing/2014/main" id="{7D6E38E0-4B46-44EC-8285-17570ECDC453}"/>
              </a:ext>
            </a:extLst>
          </p:cNvPr>
          <p:cNvSpPr>
            <a:spLocks xmlns:a="http://schemas.openxmlformats.org/drawingml/2006/main" noGrp="1"/>
          </p:cNvSpPr>
          <p:nvPr/>
        </p:nvSpPr>
        <p:spPr>
          <a:xfrm xmlns:a="http://schemas.openxmlformats.org/drawingml/2006/main">
            <a:off x="609600" y="6505575"/>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50" b="1" i="0">
                <a:solidFill>
                  <a:srgbClr val="66717E"/>
                </a:solidFill>
              </a:defRPr>
            </a:pPr>
            <a:r>
              <a:rPr sz="750" b="1" i="0">
                <a:solidFill>
                  <a:srgbClr val="66717E"/>
                </a:solidFill>
              </a:rPr>
              <a:t>HEUTRIX  |  WORKFLOW DIAGNOSTIC</a:t>
            </a:r>
          </a:p>
        </p:txBody>
      </p:sp>
      <p:sp>
        <p:nvSpPr>
          <p:cNvPr id="5" name="">
            <a:extLst xmlns:a="http://schemas.openxmlformats.org/drawingml/2006/main">
              <a:ext uri="{FF2B5EF4-FFF2-40B4-BE49-F238E27FC236}">
                <a16:creationId xmlns:a16="http://schemas.microsoft.com/office/drawing/2014/main" id="{A404EF39-5169-4FFC-B386-BEA6EC085A5A}"/>
              </a:ext>
            </a:extLst>
          </p:cNvPr>
          <p:cNvSpPr>
            <a:spLocks xmlns:a="http://schemas.openxmlformats.org/drawingml/2006/main" noGrp="1"/>
          </p:cNvSpPr>
          <p:nvPr/>
        </p:nvSpPr>
        <p:spPr>
          <a:xfrm xmlns:a="http://schemas.openxmlformats.org/drawingml/2006/main">
            <a:off x="11096625" y="6477000"/>
            <a:ext cx="476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i="0">
                <a:solidFill>
                  <a:srgbClr val="66717E"/>
                </a:solidFill>
              </a:defRPr>
            </a:pPr>
            <a:r>
              <a:rPr sz="825" b="1" i="0">
                <a:solidFill>
                  <a:srgbClr val="66717E"/>
                </a:solidFill>
              </a:rPr>
              <a:t>10</a:t>
            </a:r>
          </a:p>
        </p:txBody>
      </p:sp>
      <p:sp>
        <p:nvSpPr>
          <p:cNvPr id="6" name="">
            <a:extLst xmlns:a="http://schemas.openxmlformats.org/drawingml/2006/main">
              <a:ext uri="{FF2B5EF4-FFF2-40B4-BE49-F238E27FC236}">
                <a16:creationId xmlns:a16="http://schemas.microsoft.com/office/drawing/2014/main" id="{F60C6472-0C24-41C6-B5F6-F21D4E1362F8}"/>
              </a:ext>
            </a:extLst>
          </p:cNvPr>
          <p:cNvSpPr>
            <a:spLocks xmlns:a="http://schemas.openxmlformats.org/drawingml/2006/main" noGrp="1"/>
          </p:cNvSpPr>
          <p:nvPr/>
        </p:nvSpPr>
        <p:spPr>
          <a:xfrm xmlns:a="http://schemas.openxmlformats.org/drawingml/2006/main">
            <a:off x="609600" y="139065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i="0">
                <a:solidFill>
                  <a:srgbClr val="66717E"/>
                </a:solidFill>
              </a:defRPr>
            </a:pPr>
            <a:r>
              <a:rPr sz="900" b="1" i="0">
                <a:solidFill>
                  <a:srgbClr val="66717E"/>
                </a:solidFill>
              </a:rPr>
              <a:t>ID</a:t>
            </a:r>
          </a:p>
        </p:txBody>
      </p:sp>
      <p:sp>
        <p:nvSpPr>
          <p:cNvPr id="7" name="">
            <a:extLst xmlns:a="http://schemas.openxmlformats.org/drawingml/2006/main">
              <a:ext uri="{FF2B5EF4-FFF2-40B4-BE49-F238E27FC236}">
                <a16:creationId xmlns:a16="http://schemas.microsoft.com/office/drawing/2014/main" id="{8E54A336-85F5-4FCF-9266-656E2C74395B}"/>
              </a:ext>
            </a:extLst>
          </p:cNvPr>
          <p:cNvSpPr>
            <a:spLocks xmlns:a="http://schemas.openxmlformats.org/drawingml/2006/main" noGrp="1"/>
          </p:cNvSpPr>
          <p:nvPr/>
        </p:nvSpPr>
        <p:spPr>
          <a:xfrm xmlns:a="http://schemas.openxmlformats.org/drawingml/2006/main">
            <a:off x="1352550" y="1390650"/>
            <a:ext cx="142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i="0">
                <a:solidFill>
                  <a:srgbClr val="66717E"/>
                </a:solidFill>
              </a:defRPr>
            </a:pPr>
            <a:r>
              <a:rPr sz="900" b="1" i="0">
                <a:solidFill>
                  <a:srgbClr val="66717E"/>
                </a:solidFill>
              </a:rPr>
              <a:t>Priority / score</a:t>
            </a:r>
          </a:p>
        </p:txBody>
      </p:sp>
      <p:sp>
        <p:nvSpPr>
          <p:cNvPr id="8" name="">
            <a:extLst xmlns:a="http://schemas.openxmlformats.org/drawingml/2006/main">
              <a:ext uri="{FF2B5EF4-FFF2-40B4-BE49-F238E27FC236}">
                <a16:creationId xmlns:a16="http://schemas.microsoft.com/office/drawing/2014/main" id="{E88A4892-E4D4-466A-B070-B565F8DDC342}"/>
              </a:ext>
            </a:extLst>
          </p:cNvPr>
          <p:cNvSpPr>
            <a:spLocks xmlns:a="http://schemas.openxmlformats.org/drawingml/2006/main" noGrp="1"/>
          </p:cNvSpPr>
          <p:nvPr/>
        </p:nvSpPr>
        <p:spPr>
          <a:xfrm xmlns:a="http://schemas.openxmlformats.org/drawingml/2006/main">
            <a:off x="2952750" y="1390650"/>
            <a:ext cx="285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i="0">
                <a:solidFill>
                  <a:srgbClr val="66717E"/>
                </a:solidFill>
              </a:defRPr>
            </a:pPr>
            <a:r>
              <a:rPr sz="900" b="1" i="0">
                <a:solidFill>
                  <a:srgbClr val="66717E"/>
                </a:solidFill>
              </a:rPr>
              <a:t>Opportunity</a:t>
            </a:r>
          </a:p>
        </p:txBody>
      </p:sp>
      <p:sp>
        <p:nvSpPr>
          <p:cNvPr id="9" name="">
            <a:extLst xmlns:a="http://schemas.openxmlformats.org/drawingml/2006/main">
              <a:ext uri="{FF2B5EF4-FFF2-40B4-BE49-F238E27FC236}">
                <a16:creationId xmlns:a16="http://schemas.microsoft.com/office/drawing/2014/main" id="{AA4E38AE-04BA-43F3-A989-E9C01FDF1E00}"/>
              </a:ext>
            </a:extLst>
          </p:cNvPr>
          <p:cNvSpPr>
            <a:spLocks xmlns:a="http://schemas.openxmlformats.org/drawingml/2006/main" noGrp="1"/>
          </p:cNvSpPr>
          <p:nvPr/>
        </p:nvSpPr>
        <p:spPr>
          <a:xfrm xmlns:a="http://schemas.openxmlformats.org/drawingml/2006/main">
            <a:off x="6000750" y="1390650"/>
            <a:ext cx="2095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i="0">
                <a:solidFill>
                  <a:srgbClr val="66717E"/>
                </a:solidFill>
              </a:defRPr>
            </a:pPr>
            <a:r>
              <a:rPr sz="900" b="1" i="0">
                <a:solidFill>
                  <a:srgbClr val="66717E"/>
                </a:solidFill>
              </a:rPr>
              <a:t>High-level option</a:t>
            </a:r>
          </a:p>
        </p:txBody>
      </p:sp>
      <p:sp>
        <p:nvSpPr>
          <p:cNvPr id="10" name="">
            <a:extLst xmlns:a="http://schemas.openxmlformats.org/drawingml/2006/main">
              <a:ext uri="{FF2B5EF4-FFF2-40B4-BE49-F238E27FC236}">
                <a16:creationId xmlns:a16="http://schemas.microsoft.com/office/drawing/2014/main" id="{EA57AD79-CACE-41BF-A3D0-4E1C4158256E}"/>
              </a:ext>
            </a:extLst>
          </p:cNvPr>
          <p:cNvSpPr>
            <a:spLocks xmlns:a="http://schemas.openxmlformats.org/drawingml/2006/main" noGrp="1"/>
          </p:cNvSpPr>
          <p:nvPr/>
        </p:nvSpPr>
        <p:spPr>
          <a:xfrm xmlns:a="http://schemas.openxmlformats.org/drawingml/2006/main">
            <a:off x="8286750" y="1390650"/>
            <a:ext cx="285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i="0">
                <a:solidFill>
                  <a:srgbClr val="66717E"/>
                </a:solidFill>
              </a:defRPr>
            </a:pPr>
            <a:r>
              <a:rPr sz="900" b="1" i="0">
                <a:solidFill>
                  <a:srgbClr val="66717E"/>
                </a:solidFill>
              </a:rPr>
              <a:t>Dependencies / control gates</a:t>
            </a:r>
          </a:p>
        </p:txBody>
      </p:sp>
      <p:sp>
        <p:nvSpPr>
          <p:cNvPr id="11" name="">
            <a:extLst xmlns:a="http://schemas.openxmlformats.org/drawingml/2006/main">
              <a:ext uri="{FF2B5EF4-FFF2-40B4-BE49-F238E27FC236}">
                <a16:creationId xmlns:a16="http://schemas.microsoft.com/office/drawing/2014/main" id="{56A764A4-A272-4D14-9CE4-0989AF2D608D}"/>
              </a:ext>
            </a:extLst>
          </p:cNvPr>
          <p:cNvSpPr>
            <a:spLocks xmlns:a="http://schemas.openxmlformats.org/drawingml/2006/main" noGrp="1"/>
          </p:cNvSpPr>
          <p:nvPr/>
        </p:nvSpPr>
        <p:spPr>
          <a:xfrm xmlns:a="http://schemas.openxmlformats.org/drawingml/2006/main">
            <a:off x="609600" y="1657350"/>
            <a:ext cx="10972800" cy="800100"/>
          </a:xfrm>
          <a:prstGeom xmlns:a="http://schemas.openxmlformats.org/drawingml/2006/main" prst="roundRect">
            <a:avLst>
              <a:gd name="adj" fmla="val 9524"/>
            </a:avLst>
          </a:prstGeom>
          <a:solidFill xmlns:a="http://schemas.openxmlformats.org/drawingml/2006/main">
            <a:srgbClr val="FFFFFF"/>
          </a:solidFill>
          <a:ln xmlns:a="http://schemas.openxmlformats.org/drawingml/2006/main" w="9525">
            <a:solidFill>
              <a:srgbClr val="C9D2DC"/>
            </a:solidFill>
            <a:prstDash val="solid"/>
          </a:ln>
        </p:spPr>
      </p:sp>
      <p:sp>
        <p:nvSpPr>
          <p:cNvPr id="12" name="">
            <a:extLst xmlns:a="http://schemas.openxmlformats.org/drawingml/2006/main">
              <a:ext uri="{FF2B5EF4-FFF2-40B4-BE49-F238E27FC236}">
                <a16:creationId xmlns:a16="http://schemas.microsoft.com/office/drawing/2014/main" id="{5BAA928A-1FE4-45EE-869D-6446F8F43725}"/>
              </a:ext>
            </a:extLst>
          </p:cNvPr>
          <p:cNvSpPr>
            <a:spLocks xmlns:a="http://schemas.openxmlformats.org/drawingml/2006/main" noGrp="1"/>
          </p:cNvSpPr>
          <p:nvPr/>
        </p:nvSpPr>
        <p:spPr>
          <a:xfrm xmlns:a="http://schemas.openxmlformats.org/drawingml/2006/main">
            <a:off x="742950" y="1914525"/>
            <a:ext cx="685800" cy="285750"/>
          </a:xfrm>
          <a:prstGeom xmlns:a="http://schemas.openxmlformats.org/drawingml/2006/main" prst="roundRect">
            <a:avLst>
              <a:gd name="adj" fmla="val 26667"/>
            </a:avLst>
          </a:prstGeom>
          <a:solidFill xmlns:a="http://schemas.openxmlformats.org/drawingml/2006/main">
            <a:srgbClr val="DCEAF7"/>
          </a:solidFill>
          <a:ln xmlns:a="http://schemas.openxmlformats.org/drawingml/2006/main" w="0">
            <a:solidFill>
              <a:srgbClr val="DCEAF7"/>
            </a:solidFill>
            <a:prstDash val="solid"/>
          </a:ln>
        </p:spPr>
      </p:sp>
      <p:sp>
        <p:nvSpPr>
          <p:cNvPr id="13" name="">
            <a:extLst xmlns:a="http://schemas.openxmlformats.org/drawingml/2006/main">
              <a:ext uri="{FF2B5EF4-FFF2-40B4-BE49-F238E27FC236}">
                <a16:creationId xmlns:a16="http://schemas.microsoft.com/office/drawing/2014/main" id="{BC0DFFE7-0BAB-492E-8145-9749C6CBD126}"/>
              </a:ext>
            </a:extLst>
          </p:cNvPr>
          <p:cNvSpPr>
            <a:spLocks xmlns:a="http://schemas.openxmlformats.org/drawingml/2006/main" noGrp="1"/>
          </p:cNvSpPr>
          <p:nvPr/>
        </p:nvSpPr>
        <p:spPr>
          <a:xfrm xmlns:a="http://schemas.openxmlformats.org/drawingml/2006/main">
            <a:off x="742950" y="1924050"/>
            <a:ext cx="6858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75" b="1" i="0">
                <a:solidFill>
                  <a:srgbClr val="17324D"/>
                </a:solidFill>
              </a:defRPr>
            </a:pPr>
            <a:r>
              <a:rPr sz="975" b="1" i="0">
                <a:solidFill>
                  <a:srgbClr val="17324D"/>
                </a:solidFill>
              </a:rPr>
              <a:t>O-01</a:t>
            </a:r>
          </a:p>
        </p:txBody>
      </p:sp>
      <p:sp>
        <p:nvSpPr>
          <p:cNvPr id="14" name="">
            <a:extLst xmlns:a="http://schemas.openxmlformats.org/drawingml/2006/main">
              <a:ext uri="{FF2B5EF4-FFF2-40B4-BE49-F238E27FC236}">
                <a16:creationId xmlns:a16="http://schemas.microsoft.com/office/drawing/2014/main" id="{578D5565-8FA0-4ACA-BE8F-DB6D8099958C}"/>
              </a:ext>
            </a:extLst>
          </p:cNvPr>
          <p:cNvSpPr>
            <a:spLocks xmlns:a="http://schemas.openxmlformats.org/drawingml/2006/main" noGrp="1"/>
          </p:cNvSpPr>
          <p:nvPr/>
        </p:nvSpPr>
        <p:spPr>
          <a:xfrm xmlns:a="http://schemas.openxmlformats.org/drawingml/2006/main">
            <a:off x="1600200" y="1914525"/>
            <a:ext cx="1200150" cy="285750"/>
          </a:xfrm>
          <a:prstGeom xmlns:a="http://schemas.openxmlformats.org/drawingml/2006/main" prst="roundRect">
            <a:avLst>
              <a:gd name="adj" fmla="val 26667"/>
            </a:avLst>
          </a:prstGeom>
          <a:solidFill xmlns:a="http://schemas.openxmlformats.org/drawingml/2006/main">
            <a:srgbClr val="E8F3EC"/>
          </a:solidFill>
          <a:ln xmlns:a="http://schemas.openxmlformats.org/drawingml/2006/main" w="0">
            <a:solidFill>
              <a:srgbClr val="E8F3EC"/>
            </a:solidFill>
            <a:prstDash val="solid"/>
          </a:ln>
        </p:spPr>
      </p:sp>
      <p:sp>
        <p:nvSpPr>
          <p:cNvPr id="15" name="">
            <a:extLst xmlns:a="http://schemas.openxmlformats.org/drawingml/2006/main">
              <a:ext uri="{FF2B5EF4-FFF2-40B4-BE49-F238E27FC236}">
                <a16:creationId xmlns:a16="http://schemas.microsoft.com/office/drawing/2014/main" id="{DA2070E2-85D0-4939-903F-3C2D6686FBCD}"/>
              </a:ext>
            </a:extLst>
          </p:cNvPr>
          <p:cNvSpPr>
            <a:spLocks xmlns:a="http://schemas.openxmlformats.org/drawingml/2006/main" noGrp="1"/>
          </p:cNvSpPr>
          <p:nvPr/>
        </p:nvSpPr>
        <p:spPr>
          <a:xfrm xmlns:a="http://schemas.openxmlformats.org/drawingml/2006/main">
            <a:off x="1600200" y="1924050"/>
            <a:ext cx="12001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75" b="1" i="0">
                <a:solidFill>
                  <a:srgbClr val="2E7D5B"/>
                </a:solidFill>
              </a:defRPr>
            </a:pPr>
            <a:r>
              <a:rPr sz="975" b="1" i="0">
                <a:solidFill>
                  <a:srgbClr val="2E7D5B"/>
                </a:solidFill>
              </a:rPr>
              <a:t>P1  |  [4.3]</a:t>
            </a:r>
          </a:p>
        </p:txBody>
      </p:sp>
      <p:sp>
        <p:nvSpPr>
          <p:cNvPr id="16" name="">
            <a:extLst xmlns:a="http://schemas.openxmlformats.org/drawingml/2006/main">
              <a:ext uri="{FF2B5EF4-FFF2-40B4-BE49-F238E27FC236}">
                <a16:creationId xmlns:a16="http://schemas.microsoft.com/office/drawing/2014/main" id="{60C2F386-ABFC-409F-B38A-85EF6A762C1F}"/>
              </a:ext>
            </a:extLst>
          </p:cNvPr>
          <p:cNvSpPr>
            <a:spLocks xmlns:a="http://schemas.openxmlformats.org/drawingml/2006/main" noGrp="1"/>
          </p:cNvSpPr>
          <p:nvPr/>
        </p:nvSpPr>
        <p:spPr>
          <a:xfrm xmlns:a="http://schemas.openxmlformats.org/drawingml/2006/main">
            <a:off x="2952750" y="1790700"/>
            <a:ext cx="2857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i="0">
                <a:solidFill>
                  <a:srgbClr val="17324D"/>
                </a:solidFill>
              </a:defRPr>
            </a:pPr>
            <a:r>
              <a:rPr sz="1200" b="1" i="0">
                <a:solidFill>
                  <a:srgbClr val="17324D"/>
                </a:solidFill>
              </a:rPr>
              <a:t>[Change with strongest operational value]</a:t>
            </a:r>
          </a:p>
        </p:txBody>
      </p:sp>
      <p:sp>
        <p:nvSpPr>
          <p:cNvPr id="17" name="">
            <a:extLst xmlns:a="http://schemas.openxmlformats.org/drawingml/2006/main">
              <a:ext uri="{FF2B5EF4-FFF2-40B4-BE49-F238E27FC236}">
                <a16:creationId xmlns:a16="http://schemas.microsoft.com/office/drawing/2014/main" id="{06FBB9B2-9B6D-43BE-A3DE-FA8F03918710}"/>
              </a:ext>
            </a:extLst>
          </p:cNvPr>
          <p:cNvSpPr>
            <a:spLocks xmlns:a="http://schemas.openxmlformats.org/drawingml/2006/main" noGrp="1"/>
          </p:cNvSpPr>
          <p:nvPr/>
        </p:nvSpPr>
        <p:spPr>
          <a:xfrm xmlns:a="http://schemas.openxmlformats.org/drawingml/2006/main">
            <a:off x="6000750" y="1790700"/>
            <a:ext cx="2095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0" i="0">
                <a:solidFill>
                  <a:srgbClr val="20262E"/>
                </a:solidFill>
              </a:defRPr>
            </a:pPr>
            <a:r>
              <a:rPr sz="1125" b="0" i="0">
                <a:solidFill>
                  <a:srgbClr val="20262E"/>
                </a:solidFill>
              </a:rPr>
              <a:t>[Process / configure / low-code]</a:t>
            </a:r>
          </a:p>
        </p:txBody>
      </p:sp>
      <p:sp>
        <p:nvSpPr>
          <p:cNvPr id="18" name="">
            <a:extLst xmlns:a="http://schemas.openxmlformats.org/drawingml/2006/main">
              <a:ext uri="{FF2B5EF4-FFF2-40B4-BE49-F238E27FC236}">
                <a16:creationId xmlns:a16="http://schemas.microsoft.com/office/drawing/2014/main" id="{6FE0A40E-0315-422D-8DFE-C38F518B978C}"/>
              </a:ext>
            </a:extLst>
          </p:cNvPr>
          <p:cNvSpPr>
            <a:spLocks xmlns:a="http://schemas.openxmlformats.org/drawingml/2006/main" noGrp="1"/>
          </p:cNvSpPr>
          <p:nvPr/>
        </p:nvSpPr>
        <p:spPr>
          <a:xfrm xmlns:a="http://schemas.openxmlformats.org/drawingml/2006/main">
            <a:off x="8286750" y="1790700"/>
            <a:ext cx="30289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0" i="0">
                <a:solidFill>
                  <a:srgbClr val="20262E"/>
                </a:solidFill>
              </a:defRPr>
            </a:pPr>
            <a:r>
              <a:rPr sz="1125" b="0" i="0">
                <a:solidFill>
                  <a:srgbClr val="20262E"/>
                </a:solidFill>
              </a:rPr>
              <a:t>[Owner, evidence, approval]</a:t>
            </a:r>
          </a:p>
        </p:txBody>
      </p:sp>
      <p:sp>
        <p:nvSpPr>
          <p:cNvPr id="19" name="">
            <a:extLst xmlns:a="http://schemas.openxmlformats.org/drawingml/2006/main">
              <a:ext uri="{FF2B5EF4-FFF2-40B4-BE49-F238E27FC236}">
                <a16:creationId xmlns:a16="http://schemas.microsoft.com/office/drawing/2014/main" id="{B6369E6A-38A0-41F5-91BE-34193A882B7C}"/>
              </a:ext>
            </a:extLst>
          </p:cNvPr>
          <p:cNvSpPr>
            <a:spLocks xmlns:a="http://schemas.openxmlformats.org/drawingml/2006/main" noGrp="1"/>
          </p:cNvSpPr>
          <p:nvPr/>
        </p:nvSpPr>
        <p:spPr>
          <a:xfrm xmlns:a="http://schemas.openxmlformats.org/drawingml/2006/main">
            <a:off x="609600" y="2647950"/>
            <a:ext cx="10972800" cy="800100"/>
          </a:xfrm>
          <a:prstGeom xmlns:a="http://schemas.openxmlformats.org/drawingml/2006/main" prst="roundRect">
            <a:avLst>
              <a:gd name="adj" fmla="val 9524"/>
            </a:avLst>
          </a:prstGeom>
          <a:solidFill xmlns:a="http://schemas.openxmlformats.org/drawingml/2006/main">
            <a:srgbClr val="FFFFFF"/>
          </a:solidFill>
          <a:ln xmlns:a="http://schemas.openxmlformats.org/drawingml/2006/main" w="9525">
            <a:solidFill>
              <a:srgbClr val="C9D2DC"/>
            </a:solidFill>
            <a:prstDash val="solid"/>
          </a:ln>
        </p:spPr>
      </p:sp>
      <p:sp>
        <p:nvSpPr>
          <p:cNvPr id="20" name="">
            <a:extLst xmlns:a="http://schemas.openxmlformats.org/drawingml/2006/main">
              <a:ext uri="{FF2B5EF4-FFF2-40B4-BE49-F238E27FC236}">
                <a16:creationId xmlns:a16="http://schemas.microsoft.com/office/drawing/2014/main" id="{251EA633-591A-460F-8B2B-44C90B86DBAC}"/>
              </a:ext>
            </a:extLst>
          </p:cNvPr>
          <p:cNvSpPr>
            <a:spLocks xmlns:a="http://schemas.openxmlformats.org/drawingml/2006/main" noGrp="1"/>
          </p:cNvSpPr>
          <p:nvPr/>
        </p:nvSpPr>
        <p:spPr>
          <a:xfrm xmlns:a="http://schemas.openxmlformats.org/drawingml/2006/main">
            <a:off x="742950" y="2905125"/>
            <a:ext cx="685800" cy="285750"/>
          </a:xfrm>
          <a:prstGeom xmlns:a="http://schemas.openxmlformats.org/drawingml/2006/main" prst="roundRect">
            <a:avLst>
              <a:gd name="adj" fmla="val 26667"/>
            </a:avLst>
          </a:prstGeom>
          <a:solidFill xmlns:a="http://schemas.openxmlformats.org/drawingml/2006/main">
            <a:srgbClr val="DCEAF7"/>
          </a:solidFill>
          <a:ln xmlns:a="http://schemas.openxmlformats.org/drawingml/2006/main" w="0">
            <a:solidFill>
              <a:srgbClr val="DCEAF7"/>
            </a:solidFill>
            <a:prstDash val="solid"/>
          </a:ln>
        </p:spPr>
      </p:sp>
      <p:sp>
        <p:nvSpPr>
          <p:cNvPr id="21" name="">
            <a:extLst xmlns:a="http://schemas.openxmlformats.org/drawingml/2006/main">
              <a:ext uri="{FF2B5EF4-FFF2-40B4-BE49-F238E27FC236}">
                <a16:creationId xmlns:a16="http://schemas.microsoft.com/office/drawing/2014/main" id="{8BA77AC7-4AC2-41EB-B209-FD02B0772A22}"/>
              </a:ext>
            </a:extLst>
          </p:cNvPr>
          <p:cNvSpPr>
            <a:spLocks xmlns:a="http://schemas.openxmlformats.org/drawingml/2006/main" noGrp="1"/>
          </p:cNvSpPr>
          <p:nvPr/>
        </p:nvSpPr>
        <p:spPr>
          <a:xfrm xmlns:a="http://schemas.openxmlformats.org/drawingml/2006/main">
            <a:off x="742950" y="2914650"/>
            <a:ext cx="6858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75" b="1" i="0">
                <a:solidFill>
                  <a:srgbClr val="17324D"/>
                </a:solidFill>
              </a:defRPr>
            </a:pPr>
            <a:r>
              <a:rPr sz="975" b="1" i="0">
                <a:solidFill>
                  <a:srgbClr val="17324D"/>
                </a:solidFill>
              </a:rPr>
              <a:t>O-02</a:t>
            </a:r>
          </a:p>
        </p:txBody>
      </p:sp>
      <p:sp>
        <p:nvSpPr>
          <p:cNvPr id="22" name="">
            <a:extLst xmlns:a="http://schemas.openxmlformats.org/drawingml/2006/main">
              <a:ext uri="{FF2B5EF4-FFF2-40B4-BE49-F238E27FC236}">
                <a16:creationId xmlns:a16="http://schemas.microsoft.com/office/drawing/2014/main" id="{5C187420-49FF-41F6-BC8C-D91C0552977D}"/>
              </a:ext>
            </a:extLst>
          </p:cNvPr>
          <p:cNvSpPr>
            <a:spLocks xmlns:a="http://schemas.openxmlformats.org/drawingml/2006/main" noGrp="1"/>
          </p:cNvSpPr>
          <p:nvPr/>
        </p:nvSpPr>
        <p:spPr>
          <a:xfrm xmlns:a="http://schemas.openxmlformats.org/drawingml/2006/main">
            <a:off x="1600200" y="2905125"/>
            <a:ext cx="1200150" cy="285750"/>
          </a:xfrm>
          <a:prstGeom xmlns:a="http://schemas.openxmlformats.org/drawingml/2006/main" prst="roundRect">
            <a:avLst>
              <a:gd name="adj" fmla="val 26667"/>
            </a:avLst>
          </a:prstGeom>
          <a:solidFill xmlns:a="http://schemas.openxmlformats.org/drawingml/2006/main">
            <a:srgbClr val="DCEAF7"/>
          </a:solidFill>
          <a:ln xmlns:a="http://schemas.openxmlformats.org/drawingml/2006/main" w="0">
            <a:solidFill>
              <a:srgbClr val="DCEAF7"/>
            </a:solidFill>
            <a:prstDash val="solid"/>
          </a:ln>
        </p:spPr>
      </p:sp>
      <p:sp>
        <p:nvSpPr>
          <p:cNvPr id="23" name="">
            <a:extLst xmlns:a="http://schemas.openxmlformats.org/drawingml/2006/main">
              <a:ext uri="{FF2B5EF4-FFF2-40B4-BE49-F238E27FC236}">
                <a16:creationId xmlns:a16="http://schemas.microsoft.com/office/drawing/2014/main" id="{A0BF8CC4-1341-4D49-B883-13BA8794F91E}"/>
              </a:ext>
            </a:extLst>
          </p:cNvPr>
          <p:cNvSpPr>
            <a:spLocks xmlns:a="http://schemas.openxmlformats.org/drawingml/2006/main" noGrp="1"/>
          </p:cNvSpPr>
          <p:nvPr/>
        </p:nvSpPr>
        <p:spPr>
          <a:xfrm xmlns:a="http://schemas.openxmlformats.org/drawingml/2006/main">
            <a:off x="1600200" y="2914650"/>
            <a:ext cx="12001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75" b="1" i="0">
                <a:solidFill>
                  <a:srgbClr val="17324D"/>
                </a:solidFill>
              </a:defRPr>
            </a:pPr>
            <a:r>
              <a:rPr sz="975" b="1" i="0">
                <a:solidFill>
                  <a:srgbClr val="17324D"/>
                </a:solidFill>
              </a:rPr>
              <a:t>P2  |  [3.7]</a:t>
            </a:r>
          </a:p>
        </p:txBody>
      </p:sp>
      <p:sp>
        <p:nvSpPr>
          <p:cNvPr id="24" name="">
            <a:extLst xmlns:a="http://schemas.openxmlformats.org/drawingml/2006/main">
              <a:ext uri="{FF2B5EF4-FFF2-40B4-BE49-F238E27FC236}">
                <a16:creationId xmlns:a16="http://schemas.microsoft.com/office/drawing/2014/main" id="{667C68E2-AFA4-41A9-BC5E-DCF3ABC372EA}"/>
              </a:ext>
            </a:extLst>
          </p:cNvPr>
          <p:cNvSpPr>
            <a:spLocks xmlns:a="http://schemas.openxmlformats.org/drawingml/2006/main" noGrp="1"/>
          </p:cNvSpPr>
          <p:nvPr/>
        </p:nvSpPr>
        <p:spPr>
          <a:xfrm xmlns:a="http://schemas.openxmlformats.org/drawingml/2006/main">
            <a:off x="2952750" y="2781300"/>
            <a:ext cx="2857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i="0">
                <a:solidFill>
                  <a:srgbClr val="17324D"/>
                </a:solidFill>
              </a:defRPr>
            </a:pPr>
            <a:r>
              <a:rPr sz="1200" b="1" i="0">
                <a:solidFill>
                  <a:srgbClr val="17324D"/>
                </a:solidFill>
              </a:rPr>
              <a:t>[Second distinct change]</a:t>
            </a:r>
          </a:p>
        </p:txBody>
      </p:sp>
      <p:sp>
        <p:nvSpPr>
          <p:cNvPr id="25" name="">
            <a:extLst xmlns:a="http://schemas.openxmlformats.org/drawingml/2006/main">
              <a:ext uri="{FF2B5EF4-FFF2-40B4-BE49-F238E27FC236}">
                <a16:creationId xmlns:a16="http://schemas.microsoft.com/office/drawing/2014/main" id="{B5BA9CCE-A713-4E71-8240-FC3952B1D9E3}"/>
              </a:ext>
            </a:extLst>
          </p:cNvPr>
          <p:cNvSpPr>
            <a:spLocks xmlns:a="http://schemas.openxmlformats.org/drawingml/2006/main" noGrp="1"/>
          </p:cNvSpPr>
          <p:nvPr/>
        </p:nvSpPr>
        <p:spPr>
          <a:xfrm xmlns:a="http://schemas.openxmlformats.org/drawingml/2006/main">
            <a:off x="6000750" y="2781300"/>
            <a:ext cx="2095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0" i="0">
                <a:solidFill>
                  <a:srgbClr val="20262E"/>
                </a:solidFill>
              </a:defRPr>
            </a:pPr>
            <a:r>
              <a:rPr sz="1125" b="0" i="0">
                <a:solidFill>
                  <a:srgbClr val="20262E"/>
                </a:solidFill>
              </a:rPr>
              <a:t>[High-level option]</a:t>
            </a:r>
          </a:p>
        </p:txBody>
      </p:sp>
      <p:sp>
        <p:nvSpPr>
          <p:cNvPr id="26" name="">
            <a:extLst xmlns:a="http://schemas.openxmlformats.org/drawingml/2006/main">
              <a:ext uri="{FF2B5EF4-FFF2-40B4-BE49-F238E27FC236}">
                <a16:creationId xmlns:a16="http://schemas.microsoft.com/office/drawing/2014/main" id="{2B5DC560-F155-485A-A24C-F6F7AF9995DB}"/>
              </a:ext>
            </a:extLst>
          </p:cNvPr>
          <p:cNvSpPr>
            <a:spLocks xmlns:a="http://schemas.openxmlformats.org/drawingml/2006/main" noGrp="1"/>
          </p:cNvSpPr>
          <p:nvPr/>
        </p:nvSpPr>
        <p:spPr>
          <a:xfrm xmlns:a="http://schemas.openxmlformats.org/drawingml/2006/main">
            <a:off x="8286750" y="2781300"/>
            <a:ext cx="30289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0" i="0">
                <a:solidFill>
                  <a:srgbClr val="20262E"/>
                </a:solidFill>
              </a:defRPr>
            </a:pPr>
            <a:r>
              <a:rPr sz="1125" b="0" i="0">
                <a:solidFill>
                  <a:srgbClr val="20262E"/>
                </a:solidFill>
              </a:rPr>
              <a:t>[Dependency / gate]</a:t>
            </a:r>
          </a:p>
        </p:txBody>
      </p:sp>
      <p:sp>
        <p:nvSpPr>
          <p:cNvPr id="27" name="">
            <a:extLst xmlns:a="http://schemas.openxmlformats.org/drawingml/2006/main">
              <a:ext uri="{FF2B5EF4-FFF2-40B4-BE49-F238E27FC236}">
                <a16:creationId xmlns:a16="http://schemas.microsoft.com/office/drawing/2014/main" id="{D180A2B2-9CAC-4600-BCAD-55F67AA04F4E}"/>
              </a:ext>
            </a:extLst>
          </p:cNvPr>
          <p:cNvSpPr>
            <a:spLocks xmlns:a="http://schemas.openxmlformats.org/drawingml/2006/main" noGrp="1"/>
          </p:cNvSpPr>
          <p:nvPr/>
        </p:nvSpPr>
        <p:spPr>
          <a:xfrm xmlns:a="http://schemas.openxmlformats.org/drawingml/2006/main">
            <a:off x="609600" y="3638550"/>
            <a:ext cx="10972800" cy="800100"/>
          </a:xfrm>
          <a:prstGeom xmlns:a="http://schemas.openxmlformats.org/drawingml/2006/main" prst="roundRect">
            <a:avLst>
              <a:gd name="adj" fmla="val 9524"/>
            </a:avLst>
          </a:prstGeom>
          <a:solidFill xmlns:a="http://schemas.openxmlformats.org/drawingml/2006/main">
            <a:srgbClr val="FFFFFF"/>
          </a:solidFill>
          <a:ln xmlns:a="http://schemas.openxmlformats.org/drawingml/2006/main" w="9525">
            <a:solidFill>
              <a:srgbClr val="C9D2DC"/>
            </a:solidFill>
            <a:prstDash val="solid"/>
          </a:ln>
        </p:spPr>
      </p:sp>
      <p:sp>
        <p:nvSpPr>
          <p:cNvPr id="28" name="">
            <a:extLst xmlns:a="http://schemas.openxmlformats.org/drawingml/2006/main">
              <a:ext uri="{FF2B5EF4-FFF2-40B4-BE49-F238E27FC236}">
                <a16:creationId xmlns:a16="http://schemas.microsoft.com/office/drawing/2014/main" id="{33AFF57C-874C-408B-A3D8-4C7326C4E7E3}"/>
              </a:ext>
            </a:extLst>
          </p:cNvPr>
          <p:cNvSpPr>
            <a:spLocks xmlns:a="http://schemas.openxmlformats.org/drawingml/2006/main" noGrp="1"/>
          </p:cNvSpPr>
          <p:nvPr/>
        </p:nvSpPr>
        <p:spPr>
          <a:xfrm xmlns:a="http://schemas.openxmlformats.org/drawingml/2006/main">
            <a:off x="742950" y="3895725"/>
            <a:ext cx="685800" cy="285750"/>
          </a:xfrm>
          <a:prstGeom xmlns:a="http://schemas.openxmlformats.org/drawingml/2006/main" prst="roundRect">
            <a:avLst>
              <a:gd name="adj" fmla="val 26667"/>
            </a:avLst>
          </a:prstGeom>
          <a:solidFill xmlns:a="http://schemas.openxmlformats.org/drawingml/2006/main">
            <a:srgbClr val="DCEAF7"/>
          </a:solidFill>
          <a:ln xmlns:a="http://schemas.openxmlformats.org/drawingml/2006/main" w="0">
            <a:solidFill>
              <a:srgbClr val="DCEAF7"/>
            </a:solidFill>
            <a:prstDash val="solid"/>
          </a:ln>
        </p:spPr>
      </p:sp>
      <p:sp>
        <p:nvSpPr>
          <p:cNvPr id="29" name="">
            <a:extLst xmlns:a="http://schemas.openxmlformats.org/drawingml/2006/main">
              <a:ext uri="{FF2B5EF4-FFF2-40B4-BE49-F238E27FC236}">
                <a16:creationId xmlns:a16="http://schemas.microsoft.com/office/drawing/2014/main" id="{9EF3B7D6-7058-4BBB-8C6E-DE82CB1D13AC}"/>
              </a:ext>
            </a:extLst>
          </p:cNvPr>
          <p:cNvSpPr>
            <a:spLocks xmlns:a="http://schemas.openxmlformats.org/drawingml/2006/main" noGrp="1"/>
          </p:cNvSpPr>
          <p:nvPr/>
        </p:nvSpPr>
        <p:spPr>
          <a:xfrm xmlns:a="http://schemas.openxmlformats.org/drawingml/2006/main">
            <a:off x="742950" y="3905250"/>
            <a:ext cx="6858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75" b="1" i="0">
                <a:solidFill>
                  <a:srgbClr val="17324D"/>
                </a:solidFill>
              </a:defRPr>
            </a:pPr>
            <a:r>
              <a:rPr sz="975" b="1" i="0">
                <a:solidFill>
                  <a:srgbClr val="17324D"/>
                </a:solidFill>
              </a:rPr>
              <a:t>O-03</a:t>
            </a:r>
          </a:p>
        </p:txBody>
      </p:sp>
      <p:sp>
        <p:nvSpPr>
          <p:cNvPr id="30" name="">
            <a:extLst xmlns:a="http://schemas.openxmlformats.org/drawingml/2006/main">
              <a:ext uri="{FF2B5EF4-FFF2-40B4-BE49-F238E27FC236}">
                <a16:creationId xmlns:a16="http://schemas.microsoft.com/office/drawing/2014/main" id="{FBB6D7ED-401D-443B-B045-7EAB52F8D8A2}"/>
              </a:ext>
            </a:extLst>
          </p:cNvPr>
          <p:cNvSpPr>
            <a:spLocks xmlns:a="http://schemas.openxmlformats.org/drawingml/2006/main" noGrp="1"/>
          </p:cNvSpPr>
          <p:nvPr/>
        </p:nvSpPr>
        <p:spPr>
          <a:xfrm xmlns:a="http://schemas.openxmlformats.org/drawingml/2006/main">
            <a:off x="1600200" y="3895725"/>
            <a:ext cx="1200150" cy="285750"/>
          </a:xfrm>
          <a:prstGeom xmlns:a="http://schemas.openxmlformats.org/drawingml/2006/main" prst="roundRect">
            <a:avLst>
              <a:gd name="adj" fmla="val 26667"/>
            </a:avLst>
          </a:prstGeom>
          <a:solidFill xmlns:a="http://schemas.openxmlformats.org/drawingml/2006/main">
            <a:srgbClr val="FFF4CE"/>
          </a:solidFill>
          <a:ln xmlns:a="http://schemas.openxmlformats.org/drawingml/2006/main" w="0">
            <a:solidFill>
              <a:srgbClr val="FFF4CE"/>
            </a:solidFill>
            <a:prstDash val="solid"/>
          </a:ln>
        </p:spPr>
      </p:sp>
      <p:sp>
        <p:nvSpPr>
          <p:cNvPr id="31" name="">
            <a:extLst xmlns:a="http://schemas.openxmlformats.org/drawingml/2006/main">
              <a:ext uri="{FF2B5EF4-FFF2-40B4-BE49-F238E27FC236}">
                <a16:creationId xmlns:a16="http://schemas.microsoft.com/office/drawing/2014/main" id="{6DECB32A-DDD2-473F-A38B-E7349A80E475}"/>
              </a:ext>
            </a:extLst>
          </p:cNvPr>
          <p:cNvSpPr>
            <a:spLocks xmlns:a="http://schemas.openxmlformats.org/drawingml/2006/main" noGrp="1"/>
          </p:cNvSpPr>
          <p:nvPr/>
        </p:nvSpPr>
        <p:spPr>
          <a:xfrm xmlns:a="http://schemas.openxmlformats.org/drawingml/2006/main">
            <a:off x="1600200" y="3905250"/>
            <a:ext cx="12001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75" b="1" i="0">
                <a:solidFill>
                  <a:srgbClr val="17324D"/>
                </a:solidFill>
              </a:defRPr>
            </a:pPr>
            <a:r>
              <a:rPr sz="975" b="1" i="0">
                <a:solidFill>
                  <a:srgbClr val="17324D"/>
                </a:solidFill>
              </a:rPr>
              <a:t>P3  |  [2.8]</a:t>
            </a:r>
          </a:p>
        </p:txBody>
      </p:sp>
      <p:sp>
        <p:nvSpPr>
          <p:cNvPr id="32" name="">
            <a:extLst xmlns:a="http://schemas.openxmlformats.org/drawingml/2006/main">
              <a:ext uri="{FF2B5EF4-FFF2-40B4-BE49-F238E27FC236}">
                <a16:creationId xmlns:a16="http://schemas.microsoft.com/office/drawing/2014/main" id="{216FE758-88CE-4C8D-8D09-D38310231FD1}"/>
              </a:ext>
            </a:extLst>
          </p:cNvPr>
          <p:cNvSpPr>
            <a:spLocks xmlns:a="http://schemas.openxmlformats.org/drawingml/2006/main" noGrp="1"/>
          </p:cNvSpPr>
          <p:nvPr/>
        </p:nvSpPr>
        <p:spPr>
          <a:xfrm xmlns:a="http://schemas.openxmlformats.org/drawingml/2006/main">
            <a:off x="2952750" y="3771900"/>
            <a:ext cx="2857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i="0">
                <a:solidFill>
                  <a:srgbClr val="17324D"/>
                </a:solidFill>
              </a:defRPr>
            </a:pPr>
            <a:r>
              <a:rPr sz="1200" b="1" i="0">
                <a:solidFill>
                  <a:srgbClr val="17324D"/>
                </a:solidFill>
              </a:rPr>
              <a:t>[Third distinct change]</a:t>
            </a:r>
          </a:p>
        </p:txBody>
      </p:sp>
      <p:sp>
        <p:nvSpPr>
          <p:cNvPr id="33" name="">
            <a:extLst xmlns:a="http://schemas.openxmlformats.org/drawingml/2006/main">
              <a:ext uri="{FF2B5EF4-FFF2-40B4-BE49-F238E27FC236}">
                <a16:creationId xmlns:a16="http://schemas.microsoft.com/office/drawing/2014/main" id="{F190B211-937A-4C27-B110-4116C24C5E94}"/>
              </a:ext>
            </a:extLst>
          </p:cNvPr>
          <p:cNvSpPr>
            <a:spLocks xmlns:a="http://schemas.openxmlformats.org/drawingml/2006/main" noGrp="1"/>
          </p:cNvSpPr>
          <p:nvPr/>
        </p:nvSpPr>
        <p:spPr>
          <a:xfrm xmlns:a="http://schemas.openxmlformats.org/drawingml/2006/main">
            <a:off x="6000750" y="3771900"/>
            <a:ext cx="2095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0" i="0">
                <a:solidFill>
                  <a:srgbClr val="20262E"/>
                </a:solidFill>
              </a:defRPr>
            </a:pPr>
            <a:r>
              <a:rPr sz="1125" b="0" i="0">
                <a:solidFill>
                  <a:srgbClr val="20262E"/>
                </a:solidFill>
              </a:rPr>
              <a:t>[High-level option]</a:t>
            </a:r>
          </a:p>
        </p:txBody>
      </p:sp>
      <p:sp>
        <p:nvSpPr>
          <p:cNvPr id="34" name="">
            <a:extLst xmlns:a="http://schemas.openxmlformats.org/drawingml/2006/main">
              <a:ext uri="{FF2B5EF4-FFF2-40B4-BE49-F238E27FC236}">
                <a16:creationId xmlns:a16="http://schemas.microsoft.com/office/drawing/2014/main" id="{3C49D860-A5AB-4E0B-95C2-B744DE0CCA43}"/>
              </a:ext>
            </a:extLst>
          </p:cNvPr>
          <p:cNvSpPr>
            <a:spLocks xmlns:a="http://schemas.openxmlformats.org/drawingml/2006/main" noGrp="1"/>
          </p:cNvSpPr>
          <p:nvPr/>
        </p:nvSpPr>
        <p:spPr>
          <a:xfrm xmlns:a="http://schemas.openxmlformats.org/drawingml/2006/main">
            <a:off x="8286750" y="3771900"/>
            <a:ext cx="30289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0" i="0">
                <a:solidFill>
                  <a:srgbClr val="20262E"/>
                </a:solidFill>
              </a:defRPr>
            </a:pPr>
            <a:r>
              <a:rPr sz="1125" b="0" i="0">
                <a:solidFill>
                  <a:srgbClr val="20262E"/>
                </a:solidFill>
              </a:rPr>
              <a:t>[Dependency / gate]</a:t>
            </a:r>
          </a:p>
        </p:txBody>
      </p:sp>
      <p:sp>
        <p:nvSpPr>
          <p:cNvPr id="35" name="">
            <a:extLst xmlns:a="http://schemas.openxmlformats.org/drawingml/2006/main">
              <a:ext uri="{FF2B5EF4-FFF2-40B4-BE49-F238E27FC236}">
                <a16:creationId xmlns:a16="http://schemas.microsoft.com/office/drawing/2014/main" id="{D60F8E5E-8703-4134-AC04-98452EC91BEF}"/>
              </a:ext>
            </a:extLst>
          </p:cNvPr>
          <p:cNvSpPr>
            <a:spLocks xmlns:a="http://schemas.openxmlformats.org/drawingml/2006/main" noGrp="1"/>
          </p:cNvSpPr>
          <p:nvPr/>
        </p:nvSpPr>
        <p:spPr>
          <a:xfrm xmlns:a="http://schemas.openxmlformats.org/drawingml/2006/main">
            <a:off x="609600" y="4629150"/>
            <a:ext cx="10972800" cy="800100"/>
          </a:xfrm>
          <a:prstGeom xmlns:a="http://schemas.openxmlformats.org/drawingml/2006/main" prst="roundRect">
            <a:avLst>
              <a:gd name="adj" fmla="val 9524"/>
            </a:avLst>
          </a:prstGeom>
          <a:solidFill xmlns:a="http://schemas.openxmlformats.org/drawingml/2006/main">
            <a:srgbClr val="FFFFFF"/>
          </a:solidFill>
          <a:ln xmlns:a="http://schemas.openxmlformats.org/drawingml/2006/main" w="9525">
            <a:solidFill>
              <a:srgbClr val="C9D2DC"/>
            </a:solidFill>
            <a:prstDash val="solid"/>
          </a:ln>
        </p:spPr>
      </p:sp>
      <p:sp>
        <p:nvSpPr>
          <p:cNvPr id="36" name="">
            <a:extLst xmlns:a="http://schemas.openxmlformats.org/drawingml/2006/main">
              <a:ext uri="{FF2B5EF4-FFF2-40B4-BE49-F238E27FC236}">
                <a16:creationId xmlns:a16="http://schemas.microsoft.com/office/drawing/2014/main" id="{60B81D1B-84A1-4330-934D-B66433A44AD1}"/>
              </a:ext>
            </a:extLst>
          </p:cNvPr>
          <p:cNvSpPr>
            <a:spLocks xmlns:a="http://schemas.openxmlformats.org/drawingml/2006/main" noGrp="1"/>
          </p:cNvSpPr>
          <p:nvPr/>
        </p:nvSpPr>
        <p:spPr>
          <a:xfrm xmlns:a="http://schemas.openxmlformats.org/drawingml/2006/main">
            <a:off x="742950" y="4886325"/>
            <a:ext cx="685800" cy="285750"/>
          </a:xfrm>
          <a:prstGeom xmlns:a="http://schemas.openxmlformats.org/drawingml/2006/main" prst="roundRect">
            <a:avLst>
              <a:gd name="adj" fmla="val 26667"/>
            </a:avLst>
          </a:prstGeom>
          <a:solidFill xmlns:a="http://schemas.openxmlformats.org/drawingml/2006/main">
            <a:srgbClr val="DCEAF7"/>
          </a:solidFill>
          <a:ln xmlns:a="http://schemas.openxmlformats.org/drawingml/2006/main" w="0">
            <a:solidFill>
              <a:srgbClr val="DCEAF7"/>
            </a:solidFill>
            <a:prstDash val="solid"/>
          </a:ln>
        </p:spPr>
      </p:sp>
      <p:sp>
        <p:nvSpPr>
          <p:cNvPr id="37" name="">
            <a:extLst xmlns:a="http://schemas.openxmlformats.org/drawingml/2006/main">
              <a:ext uri="{FF2B5EF4-FFF2-40B4-BE49-F238E27FC236}">
                <a16:creationId xmlns:a16="http://schemas.microsoft.com/office/drawing/2014/main" id="{ED2BD7D0-287C-44D4-86C5-F2EF2F4891B3}"/>
              </a:ext>
            </a:extLst>
          </p:cNvPr>
          <p:cNvSpPr>
            <a:spLocks xmlns:a="http://schemas.openxmlformats.org/drawingml/2006/main" noGrp="1"/>
          </p:cNvSpPr>
          <p:nvPr/>
        </p:nvSpPr>
        <p:spPr>
          <a:xfrm xmlns:a="http://schemas.openxmlformats.org/drawingml/2006/main">
            <a:off x="742950" y="4895850"/>
            <a:ext cx="6858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75" b="1" i="0">
                <a:solidFill>
                  <a:srgbClr val="17324D"/>
                </a:solidFill>
              </a:defRPr>
            </a:pPr>
            <a:r>
              <a:rPr sz="975" b="1" i="0">
                <a:solidFill>
                  <a:srgbClr val="17324D"/>
                </a:solidFill>
              </a:rPr>
              <a:t>O-04</a:t>
            </a:r>
          </a:p>
        </p:txBody>
      </p:sp>
      <p:sp>
        <p:nvSpPr>
          <p:cNvPr id="38" name="">
            <a:extLst xmlns:a="http://schemas.openxmlformats.org/drawingml/2006/main">
              <a:ext uri="{FF2B5EF4-FFF2-40B4-BE49-F238E27FC236}">
                <a16:creationId xmlns:a16="http://schemas.microsoft.com/office/drawing/2014/main" id="{1D409067-139C-408D-9987-69097F78B247}"/>
              </a:ext>
            </a:extLst>
          </p:cNvPr>
          <p:cNvSpPr>
            <a:spLocks xmlns:a="http://schemas.openxmlformats.org/drawingml/2006/main" noGrp="1"/>
          </p:cNvSpPr>
          <p:nvPr/>
        </p:nvSpPr>
        <p:spPr>
          <a:xfrm xmlns:a="http://schemas.openxmlformats.org/drawingml/2006/main">
            <a:off x="1600200" y="4886325"/>
            <a:ext cx="1200150" cy="285750"/>
          </a:xfrm>
          <a:prstGeom xmlns:a="http://schemas.openxmlformats.org/drawingml/2006/main" prst="roundRect">
            <a:avLst>
              <a:gd name="adj" fmla="val 26667"/>
            </a:avLst>
          </a:prstGeom>
          <a:solidFill xmlns:a="http://schemas.openxmlformats.org/drawingml/2006/main">
            <a:srgbClr val="FCE8E6"/>
          </a:solidFill>
          <a:ln xmlns:a="http://schemas.openxmlformats.org/drawingml/2006/main" w="0">
            <a:solidFill>
              <a:srgbClr val="FCE8E6"/>
            </a:solidFill>
            <a:prstDash val="solid"/>
          </a:ln>
        </p:spPr>
      </p:sp>
      <p:sp>
        <p:nvSpPr>
          <p:cNvPr id="39" name="">
            <a:extLst xmlns:a="http://schemas.openxmlformats.org/drawingml/2006/main">
              <a:ext uri="{FF2B5EF4-FFF2-40B4-BE49-F238E27FC236}">
                <a16:creationId xmlns:a16="http://schemas.microsoft.com/office/drawing/2014/main" id="{D5D38D98-A6C1-4DD2-92F4-242019D96E5A}"/>
              </a:ext>
            </a:extLst>
          </p:cNvPr>
          <p:cNvSpPr>
            <a:spLocks xmlns:a="http://schemas.openxmlformats.org/drawingml/2006/main" noGrp="1"/>
          </p:cNvSpPr>
          <p:nvPr/>
        </p:nvSpPr>
        <p:spPr>
          <a:xfrm xmlns:a="http://schemas.openxmlformats.org/drawingml/2006/main">
            <a:off x="1600200" y="4895850"/>
            <a:ext cx="12001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75" b="1" i="0">
                <a:solidFill>
                  <a:srgbClr val="B54B4B"/>
                </a:solidFill>
              </a:defRPr>
            </a:pPr>
            <a:r>
              <a:rPr sz="975" b="1" i="0">
                <a:solidFill>
                  <a:srgbClr val="B54B4B"/>
                </a:solidFill>
              </a:rPr>
              <a:t>PARK  |  [2.1]</a:t>
            </a:r>
          </a:p>
        </p:txBody>
      </p:sp>
      <p:sp>
        <p:nvSpPr>
          <p:cNvPr id="40" name="">
            <a:extLst xmlns:a="http://schemas.openxmlformats.org/drawingml/2006/main">
              <a:ext uri="{FF2B5EF4-FFF2-40B4-BE49-F238E27FC236}">
                <a16:creationId xmlns:a16="http://schemas.microsoft.com/office/drawing/2014/main" id="{CB46791D-976A-4E52-B2DE-EB8E22C019E6}"/>
              </a:ext>
            </a:extLst>
          </p:cNvPr>
          <p:cNvSpPr>
            <a:spLocks xmlns:a="http://schemas.openxmlformats.org/drawingml/2006/main" noGrp="1"/>
          </p:cNvSpPr>
          <p:nvPr/>
        </p:nvSpPr>
        <p:spPr>
          <a:xfrm xmlns:a="http://schemas.openxmlformats.org/drawingml/2006/main">
            <a:off x="2952750" y="4762500"/>
            <a:ext cx="2857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i="0">
                <a:solidFill>
                  <a:srgbClr val="17324D"/>
                </a:solidFill>
              </a:defRPr>
            </a:pPr>
            <a:r>
              <a:rPr sz="1200" b="1" i="0">
                <a:solidFill>
                  <a:srgbClr val="17324D"/>
                </a:solidFill>
              </a:rPr>
              <a:t>[Not recommended now]</a:t>
            </a:r>
          </a:p>
        </p:txBody>
      </p:sp>
      <p:sp>
        <p:nvSpPr>
          <p:cNvPr id="41" name="">
            <a:extLst xmlns:a="http://schemas.openxmlformats.org/drawingml/2006/main">
              <a:ext uri="{FF2B5EF4-FFF2-40B4-BE49-F238E27FC236}">
                <a16:creationId xmlns:a16="http://schemas.microsoft.com/office/drawing/2014/main" id="{866B0E3F-73D5-4A6D-A431-881133903502}"/>
              </a:ext>
            </a:extLst>
          </p:cNvPr>
          <p:cNvSpPr>
            <a:spLocks xmlns:a="http://schemas.openxmlformats.org/drawingml/2006/main" noGrp="1"/>
          </p:cNvSpPr>
          <p:nvPr/>
        </p:nvSpPr>
        <p:spPr>
          <a:xfrm xmlns:a="http://schemas.openxmlformats.org/drawingml/2006/main">
            <a:off x="6000750" y="4762500"/>
            <a:ext cx="2095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0" i="0">
                <a:solidFill>
                  <a:srgbClr val="20262E"/>
                </a:solidFill>
              </a:defRPr>
            </a:pPr>
            <a:r>
              <a:rPr sz="1125" b="0" i="0">
                <a:solidFill>
                  <a:srgbClr val="20262E"/>
                </a:solidFill>
              </a:rPr>
              <a:t>[No project / revisit]</a:t>
            </a:r>
          </a:p>
        </p:txBody>
      </p:sp>
      <p:sp>
        <p:nvSpPr>
          <p:cNvPr id="42" name="">
            <a:extLst xmlns:a="http://schemas.openxmlformats.org/drawingml/2006/main">
              <a:ext uri="{FF2B5EF4-FFF2-40B4-BE49-F238E27FC236}">
                <a16:creationId xmlns:a16="http://schemas.microsoft.com/office/drawing/2014/main" id="{F2E1D954-D375-4F7B-98F5-863A8136CE87}"/>
              </a:ext>
            </a:extLst>
          </p:cNvPr>
          <p:cNvSpPr>
            <a:spLocks xmlns:a="http://schemas.openxmlformats.org/drawingml/2006/main" noGrp="1"/>
          </p:cNvSpPr>
          <p:nvPr/>
        </p:nvSpPr>
        <p:spPr>
          <a:xfrm xmlns:a="http://schemas.openxmlformats.org/drawingml/2006/main">
            <a:off x="8286750" y="4762500"/>
            <a:ext cx="30289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0" i="0">
                <a:solidFill>
                  <a:srgbClr val="20262E"/>
                </a:solidFill>
              </a:defRPr>
            </a:pPr>
            <a:r>
              <a:rPr sz="1125" b="0" i="0">
                <a:solidFill>
                  <a:srgbClr val="20262E"/>
                </a:solidFill>
              </a:rPr>
              <a:t>[Reason to park]</a:t>
            </a:r>
          </a:p>
        </p:txBody>
      </p:sp>
      <p:sp>
        <p:nvSpPr>
          <p:cNvPr id="43" name="">
            <a:extLst xmlns:a="http://schemas.openxmlformats.org/drawingml/2006/main">
              <a:ext uri="{FF2B5EF4-FFF2-40B4-BE49-F238E27FC236}">
                <a16:creationId xmlns:a16="http://schemas.microsoft.com/office/drawing/2014/main" id="{D85C2711-A374-48FB-AE76-B4A8087D1F41}"/>
              </a:ext>
            </a:extLst>
          </p:cNvPr>
          <p:cNvSpPr>
            <a:spLocks xmlns:a="http://schemas.openxmlformats.org/drawingml/2006/main" noGrp="1"/>
          </p:cNvSpPr>
          <p:nvPr/>
        </p:nvSpPr>
        <p:spPr>
          <a:xfrm xmlns:a="http://schemas.openxmlformats.org/drawingml/2006/main">
            <a:off x="609600" y="5810250"/>
            <a:ext cx="10972800" cy="400050"/>
          </a:xfrm>
          <a:prstGeom xmlns:a="http://schemas.openxmlformats.org/drawingml/2006/main" prst="roundRect">
            <a:avLst>
              <a:gd name="adj" fmla="val 19048"/>
            </a:avLst>
          </a:prstGeom>
          <a:solidFill xmlns:a="http://schemas.openxmlformats.org/drawingml/2006/main">
            <a:srgbClr val="FFF4CE"/>
          </a:solidFill>
          <a:ln xmlns:a="http://schemas.openxmlformats.org/drawingml/2006/main" w="0">
            <a:solidFill>
              <a:srgbClr val="FFF4CE"/>
            </a:solidFill>
            <a:prstDash val="solid"/>
          </a:ln>
        </p:spPr>
      </p:sp>
      <p:sp>
        <p:nvSpPr>
          <p:cNvPr id="44" name="">
            <a:extLst xmlns:a="http://schemas.openxmlformats.org/drawingml/2006/main">
              <a:ext uri="{FF2B5EF4-FFF2-40B4-BE49-F238E27FC236}">
                <a16:creationId xmlns:a16="http://schemas.microsoft.com/office/drawing/2014/main" id="{B80454F8-C167-4AF1-B2C9-443C159FF77B}"/>
              </a:ext>
            </a:extLst>
          </p:cNvPr>
          <p:cNvSpPr>
            <a:spLocks xmlns:a="http://schemas.openxmlformats.org/drawingml/2006/main" noGrp="1"/>
          </p:cNvSpPr>
          <p:nvPr/>
        </p:nvSpPr>
        <p:spPr>
          <a:xfrm xmlns:a="http://schemas.openxmlformats.org/drawingml/2006/main">
            <a:off x="781050" y="5886450"/>
            <a:ext cx="1062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1" i="0">
                <a:solidFill>
                  <a:srgbClr val="17324D"/>
                </a:solidFill>
              </a:defRPr>
            </a:pPr>
            <a:r>
              <a:rPr sz="1125" b="1" i="0">
                <a:solidFill>
                  <a:srgbClr val="17324D"/>
                </a:solidFill>
              </a:rPr>
              <a:t>Weighted scores support ordering; they do not replace judgement or approve implementation.</a:t>
            </a:r>
          </a:p>
        </p:txBody>
      </p:sp>
    </p:spTree>
    <p:extLst>
      <p:ext uri="{BB962C8B-B14F-4D97-AF65-F5344CB8AC3E}">
        <p14:creationId xmlns:p14="http://schemas.microsoft.com/office/powerpoint/2010/main" val="1673513317"/>
      </p:ext>
    </p:extLst>
  </p:cSld>
</p:sld>
</file>

<file path=ppt/slides/slide11.xml><?xml version="1.0" encoding="utf-8"?>
<p:sld xmlns:p="http://schemas.openxmlformats.org/presentationml/2006/main">
  <p:cSld>
    <p:bg>
      <p:bgPr>
        <a:solidFill xmlns:a="http://schemas.openxmlformats.org/drawingml/2006/main">
          <a:srgbClr val="F7F9FB"/>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00C3A27B-D473-435B-AD49-5D529943B4B7}"/>
              </a:ext>
            </a:extLst>
          </p:cNvPr>
          <p:cNvSpPr>
            <a:spLocks xmlns:a="http://schemas.openxmlformats.org/drawingml/2006/main" noGrp="1"/>
          </p:cNvSpPr>
          <p:nvPr/>
        </p:nvSpPr>
        <p:spPr>
          <a:xfrm xmlns:a="http://schemas.openxmlformats.org/drawingml/2006/main">
            <a:off x="609600" y="32385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i="0">
                <a:solidFill>
                  <a:srgbClr val="2E74B5"/>
                </a:solidFill>
              </a:defRPr>
            </a:pPr>
            <a:r>
              <a:rPr sz="900" b="1" i="0">
                <a:solidFill>
                  <a:srgbClr val="2E74B5"/>
                </a:solidFill>
              </a:rPr>
              <a:t>OPTIONS</a:t>
            </a:r>
          </a:p>
        </p:txBody>
      </p:sp>
      <p:sp>
        <p:nvSpPr>
          <p:cNvPr id="2" name="">
            <a:extLst xmlns:a="http://schemas.openxmlformats.org/drawingml/2006/main">
              <a:ext uri="{FF2B5EF4-FFF2-40B4-BE49-F238E27FC236}">
                <a16:creationId xmlns:a16="http://schemas.microsoft.com/office/drawing/2014/main" id="{AACA4C72-BABA-497D-B0A6-DECA997E4F44}"/>
              </a:ext>
            </a:extLst>
          </p:cNvPr>
          <p:cNvSpPr>
            <a:spLocks xmlns:a="http://schemas.openxmlformats.org/drawingml/2006/main" noGrp="1"/>
          </p:cNvSpPr>
          <p:nvPr/>
        </p:nvSpPr>
        <p:spPr>
          <a:xfrm xmlns:a="http://schemas.openxmlformats.org/drawingml/2006/main">
            <a:off x="609600" y="552450"/>
            <a:ext cx="10287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550" b="1" i="0">
                <a:solidFill>
                  <a:srgbClr val="17324D"/>
                </a:solidFill>
              </a:defRPr>
            </a:pPr>
            <a:r>
              <a:rPr sz="2550" b="1" i="0">
                <a:solidFill>
                  <a:srgbClr val="17324D"/>
                </a:solidFill>
              </a:rPr>
              <a:t>Choose the lightest viable option, then sequence the next 90 days</a:t>
            </a:r>
          </a:p>
        </p:txBody>
      </p:sp>
      <p:sp>
        <p:nvSpPr>
          <p:cNvPr id="3" name="">
            <a:extLst xmlns:a="http://schemas.openxmlformats.org/drawingml/2006/main">
              <a:ext uri="{FF2B5EF4-FFF2-40B4-BE49-F238E27FC236}">
                <a16:creationId xmlns:a16="http://schemas.microsoft.com/office/drawing/2014/main" id="{4294849A-9428-42C2-9137-9F933A2865AA}"/>
              </a:ext>
            </a:extLst>
          </p:cNvPr>
          <p:cNvSpPr>
            <a:spLocks xmlns:a="http://schemas.openxmlformats.org/drawingml/2006/main" noGrp="1"/>
          </p:cNvSpPr>
          <p:nvPr/>
        </p:nvSpPr>
        <p:spPr>
          <a:xfrm xmlns:a="http://schemas.openxmlformats.org/drawingml/2006/main">
            <a:off x="609600" y="1143000"/>
            <a:ext cx="10972800" cy="19050"/>
          </a:xfrm>
          <a:prstGeom xmlns:a="http://schemas.openxmlformats.org/drawingml/2006/main" prst="rect">
            <a:avLst/>
          </a:prstGeom>
          <a:solidFill xmlns:a="http://schemas.openxmlformats.org/drawingml/2006/main">
            <a:srgbClr val="C9D2DC"/>
          </a:solidFill>
          <a:ln xmlns:a="http://schemas.openxmlformats.org/drawingml/2006/main" w="0">
            <a:solidFill>
              <a:srgbClr val="C9D2DC"/>
            </a:solidFill>
            <a:prstDash val="solid"/>
          </a:ln>
        </p:spPr>
      </p:sp>
      <p:sp>
        <p:nvSpPr>
          <p:cNvPr id="4" name="">
            <a:extLst xmlns:a="http://schemas.openxmlformats.org/drawingml/2006/main">
              <a:ext uri="{FF2B5EF4-FFF2-40B4-BE49-F238E27FC236}">
                <a16:creationId xmlns:a16="http://schemas.microsoft.com/office/drawing/2014/main" id="{6C6BDF6C-9FAC-4647-BF14-67B86D93DF67}"/>
              </a:ext>
            </a:extLst>
          </p:cNvPr>
          <p:cNvSpPr>
            <a:spLocks xmlns:a="http://schemas.openxmlformats.org/drawingml/2006/main" noGrp="1"/>
          </p:cNvSpPr>
          <p:nvPr/>
        </p:nvSpPr>
        <p:spPr>
          <a:xfrm xmlns:a="http://schemas.openxmlformats.org/drawingml/2006/main">
            <a:off x="609600" y="6505575"/>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50" b="1" i="0">
                <a:solidFill>
                  <a:srgbClr val="66717E"/>
                </a:solidFill>
              </a:defRPr>
            </a:pPr>
            <a:r>
              <a:rPr sz="750" b="1" i="0">
                <a:solidFill>
                  <a:srgbClr val="66717E"/>
                </a:solidFill>
              </a:rPr>
              <a:t>HEUTRIX  |  WORKFLOW DIAGNOSTIC</a:t>
            </a:r>
          </a:p>
        </p:txBody>
      </p:sp>
      <p:sp>
        <p:nvSpPr>
          <p:cNvPr id="5" name="">
            <a:extLst xmlns:a="http://schemas.openxmlformats.org/drawingml/2006/main">
              <a:ext uri="{FF2B5EF4-FFF2-40B4-BE49-F238E27FC236}">
                <a16:creationId xmlns:a16="http://schemas.microsoft.com/office/drawing/2014/main" id="{505C1D29-6F52-4F3A-A48E-189D22B23CEE}"/>
              </a:ext>
            </a:extLst>
          </p:cNvPr>
          <p:cNvSpPr>
            <a:spLocks xmlns:a="http://schemas.openxmlformats.org/drawingml/2006/main" noGrp="1"/>
          </p:cNvSpPr>
          <p:nvPr/>
        </p:nvSpPr>
        <p:spPr>
          <a:xfrm xmlns:a="http://schemas.openxmlformats.org/drawingml/2006/main">
            <a:off x="11096625" y="6477000"/>
            <a:ext cx="476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i="0">
                <a:solidFill>
                  <a:srgbClr val="66717E"/>
                </a:solidFill>
              </a:defRPr>
            </a:pPr>
            <a:r>
              <a:rPr sz="825" b="1" i="0">
                <a:solidFill>
                  <a:srgbClr val="66717E"/>
                </a:solidFill>
              </a:rPr>
              <a:t>11</a:t>
            </a:r>
          </a:p>
        </p:txBody>
      </p:sp>
      <p:sp>
        <p:nvSpPr>
          <p:cNvPr id="6" name="">
            <a:extLst xmlns:a="http://schemas.openxmlformats.org/drawingml/2006/main">
              <a:ext uri="{FF2B5EF4-FFF2-40B4-BE49-F238E27FC236}">
                <a16:creationId xmlns:a16="http://schemas.microsoft.com/office/drawing/2014/main" id="{76B45E26-57CF-495D-9104-41D0257E53C9}"/>
              </a:ext>
            </a:extLst>
          </p:cNvPr>
          <p:cNvSpPr>
            <a:spLocks xmlns:a="http://schemas.openxmlformats.org/drawingml/2006/main" noGrp="1"/>
          </p:cNvSpPr>
          <p:nvPr/>
        </p:nvSpPr>
        <p:spPr>
          <a:xfrm xmlns:a="http://schemas.openxmlformats.org/drawingml/2006/main">
            <a:off x="609600" y="1428750"/>
            <a:ext cx="5029200" cy="4133850"/>
          </a:xfrm>
          <a:prstGeom xmlns:a="http://schemas.openxmlformats.org/drawingml/2006/main" prst="roundRect">
            <a:avLst>
              <a:gd name="adj" fmla="val 1843"/>
            </a:avLst>
          </a:prstGeom>
          <a:solidFill xmlns:a="http://schemas.openxmlformats.org/drawingml/2006/main">
            <a:srgbClr val="FFFFFF"/>
          </a:solidFill>
          <a:ln xmlns:a="http://schemas.openxmlformats.org/drawingml/2006/main" w="9525">
            <a:solidFill>
              <a:srgbClr val="C9D2DC"/>
            </a:solidFill>
            <a:prstDash val="solid"/>
          </a:ln>
        </p:spPr>
      </p:sp>
      <p:sp>
        <p:nvSpPr>
          <p:cNvPr id="7" name="">
            <a:extLst xmlns:a="http://schemas.openxmlformats.org/drawingml/2006/main">
              <a:ext uri="{FF2B5EF4-FFF2-40B4-BE49-F238E27FC236}">
                <a16:creationId xmlns:a16="http://schemas.microsoft.com/office/drawing/2014/main" id="{767A4F1E-0056-4E09-A70D-C64EF0DC1915}"/>
              </a:ext>
            </a:extLst>
          </p:cNvPr>
          <p:cNvSpPr>
            <a:spLocks xmlns:a="http://schemas.openxmlformats.org/drawingml/2006/main" noGrp="1"/>
          </p:cNvSpPr>
          <p:nvPr/>
        </p:nvSpPr>
        <p:spPr>
          <a:xfrm xmlns:a="http://schemas.openxmlformats.org/drawingml/2006/main">
            <a:off x="609600" y="1428750"/>
            <a:ext cx="76200" cy="4133850"/>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8" name="">
            <a:extLst xmlns:a="http://schemas.openxmlformats.org/drawingml/2006/main">
              <a:ext uri="{FF2B5EF4-FFF2-40B4-BE49-F238E27FC236}">
                <a16:creationId xmlns:a16="http://schemas.microsoft.com/office/drawing/2014/main" id="{71EE3D93-4D65-46B0-93C3-82882ACA8396}"/>
              </a:ext>
            </a:extLst>
          </p:cNvPr>
          <p:cNvSpPr>
            <a:spLocks xmlns:a="http://schemas.openxmlformats.org/drawingml/2006/main" noGrp="1"/>
          </p:cNvSpPr>
          <p:nvPr/>
        </p:nvSpPr>
        <p:spPr>
          <a:xfrm xmlns:a="http://schemas.openxmlformats.org/drawingml/2006/main">
            <a:off x="819150" y="1562100"/>
            <a:ext cx="46863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1" i="0">
                <a:solidFill>
                  <a:srgbClr val="17324D"/>
                </a:solidFill>
              </a:defRPr>
            </a:pPr>
            <a:r>
              <a:rPr sz="1350" b="1" i="0">
                <a:solidFill>
                  <a:srgbClr val="17324D"/>
                </a:solidFill>
              </a:rPr>
              <a:t>High-level implementation options</a:t>
            </a:r>
          </a:p>
        </p:txBody>
      </p:sp>
      <p:sp>
        <p:nvSpPr>
          <p:cNvPr id="9" name="">
            <a:extLst xmlns:a="http://schemas.openxmlformats.org/drawingml/2006/main">
              <a:ext uri="{FF2B5EF4-FFF2-40B4-BE49-F238E27FC236}">
                <a16:creationId xmlns:a16="http://schemas.microsoft.com/office/drawing/2014/main" id="{D6E69DF3-04AD-4B13-954B-92FD493F0163}"/>
              </a:ext>
            </a:extLst>
          </p:cNvPr>
          <p:cNvSpPr>
            <a:spLocks xmlns:a="http://schemas.openxmlformats.org/drawingml/2006/main" noGrp="1"/>
          </p:cNvSpPr>
          <p:nvPr/>
        </p:nvSpPr>
        <p:spPr>
          <a:xfrm xmlns:a="http://schemas.openxmlformats.org/drawingml/2006/main">
            <a:off x="819150" y="1857375"/>
            <a:ext cx="4667250" cy="3581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i="0">
                <a:solidFill>
                  <a:srgbClr val="20262E"/>
                </a:solidFill>
              </a:defRPr>
            </a:pPr>
            <a:r>
              <a:rPr sz="1275" b="0" i="0">
                <a:solidFill>
                  <a:srgbClr val="20262E"/>
                </a:solidFill>
              </a:rPr>
              <a:t>1. Process and ownership change</a:t>
            </a:r>
          </a:p>
          <a:p xmlns:a="http://schemas.openxmlformats.org/drawingml/2006/main">
            <a:pPr algn="l">
              <a:defRPr sz="1275" b="0" i="0">
                <a:solidFill>
                  <a:srgbClr val="20262E"/>
                </a:solidFill>
              </a:defRPr>
            </a:pPr>
            <a:r>
              <a:rPr sz="1275" b="0" i="0">
                <a:solidFill>
                  <a:srgbClr val="20262E"/>
                </a:solidFill>
              </a:rPr>
              <a:t>2. Configure approved existing tools</a:t>
            </a:r>
          </a:p>
          <a:p xmlns:a="http://schemas.openxmlformats.org/drawingml/2006/main">
            <a:pPr algn="l">
              <a:defRPr sz="1275" b="0" i="0">
                <a:solidFill>
                  <a:srgbClr val="20262E"/>
                </a:solidFill>
              </a:defRPr>
            </a:pPr>
            <a:r>
              <a:rPr sz="1275" b="0" i="0">
                <a:solidFill>
                  <a:srgbClr val="20262E"/>
                </a:solidFill>
              </a:rPr>
              <a:t>3. Low-code workflow</a:t>
            </a:r>
          </a:p>
          <a:p xmlns:a="http://schemas.openxmlformats.org/drawingml/2006/main">
            <a:pPr algn="l">
              <a:defRPr sz="1275" b="0" i="0">
                <a:solidFill>
                  <a:srgbClr val="20262E"/>
                </a:solidFill>
              </a:defRPr>
            </a:pPr>
            <a:r>
              <a:rPr sz="1275" b="0" i="0">
                <a:solidFill>
                  <a:srgbClr val="20262E"/>
                </a:solidFill>
              </a:rPr>
              <a:t>4. Tailored internal system</a:t>
            </a:r>
          </a:p>
          <a:p xmlns:a="http://schemas.openxmlformats.org/drawingml/2006/main">
            <a:pPr algn="l">
              <a:defRPr sz="1275" b="0" i="0">
                <a:solidFill>
                  <a:srgbClr val="20262E"/>
                </a:solidFill>
              </a:defRPr>
            </a:pPr>
            <a:r>
              <a:rPr sz="1275" b="0" i="0">
                <a:solidFill>
                  <a:srgbClr val="20262E"/>
                </a:solidFill>
              </a:rPr>
              <a:t>5. Controlled AI assistance</a:t>
            </a:r>
          </a:p>
          <a:p xmlns:a="http://schemas.openxmlformats.org/drawingml/2006/main">
            <a:pPr algn="l">
              <a:defRPr sz="1275" b="0" i="0">
                <a:solidFill>
                  <a:srgbClr val="20262E"/>
                </a:solidFill>
              </a:defRPr>
            </a:pPr>
            <a:r>
              <a:rPr sz="1275" b="0" i="0">
                <a:solidFill>
                  <a:srgbClr val="20262E"/>
                </a:solidFill>
              </a:rPr>
              <a:t>6. No project</a:t>
            </a:r>
          </a:p>
          <a:p xmlns:a="http://schemas.openxmlformats.org/drawingml/2006/main">
            <a:r>
              <a:t/>
            </a:r>
          </a:p>
          <a:p xmlns:a="http://schemas.openxmlformats.org/drawingml/2006/main">
            <a:pPr algn="l">
              <a:defRPr sz="1275" b="0" i="0">
                <a:solidFill>
                  <a:srgbClr val="20262E"/>
                </a:solidFill>
              </a:defRPr>
            </a:pPr>
            <a:r>
              <a:rPr sz="1275" b="0" i="0">
                <a:solidFill>
                  <a:srgbClr val="20262E"/>
                </a:solidFill>
              </a:rPr>
              <a:t>Selected for validation: [Option]</a:t>
            </a:r>
          </a:p>
          <a:p xmlns:a="http://schemas.openxmlformats.org/drawingml/2006/main">
            <a:pPr algn="l">
              <a:defRPr sz="1275" b="0" i="0">
                <a:solidFill>
                  <a:srgbClr val="20262E"/>
                </a:solidFill>
              </a:defRPr>
            </a:pPr>
            <a:r>
              <a:rPr sz="1275" b="0" i="0">
                <a:solidFill>
                  <a:srgbClr val="20262E"/>
                </a:solidFill>
              </a:rPr>
              <a:t>Why: [Reason]</a:t>
            </a:r>
          </a:p>
          <a:p xmlns:a="http://schemas.openxmlformats.org/drawingml/2006/main">
            <a:pPr algn="l">
              <a:defRPr sz="1275" b="0" i="0">
                <a:solidFill>
                  <a:srgbClr val="20262E"/>
                </a:solidFill>
              </a:defRPr>
            </a:pPr>
            <a:r>
              <a:rPr sz="1275" b="0" i="0">
                <a:solidFill>
                  <a:srgbClr val="20262E"/>
                </a:solidFill>
              </a:rPr>
              <a:t>Required gate: [Approval / evidence / security]</a:t>
            </a:r>
          </a:p>
        </p:txBody>
      </p:sp>
      <p:sp>
        <p:nvSpPr>
          <p:cNvPr id="10" name="">
            <a:extLst xmlns:a="http://schemas.openxmlformats.org/drawingml/2006/main">
              <a:ext uri="{FF2B5EF4-FFF2-40B4-BE49-F238E27FC236}">
                <a16:creationId xmlns:a16="http://schemas.microsoft.com/office/drawing/2014/main" id="{A9A4FB17-F055-4F80-9521-5163FFEE6594}"/>
              </a:ext>
            </a:extLst>
          </p:cNvPr>
          <p:cNvSpPr>
            <a:spLocks xmlns:a="http://schemas.openxmlformats.org/drawingml/2006/main" noGrp="1"/>
          </p:cNvSpPr>
          <p:nvPr/>
        </p:nvSpPr>
        <p:spPr>
          <a:xfrm xmlns:a="http://schemas.openxmlformats.org/drawingml/2006/main">
            <a:off x="5905500" y="1428750"/>
            <a:ext cx="5676900" cy="1143000"/>
          </a:xfrm>
          <a:prstGeom xmlns:a="http://schemas.openxmlformats.org/drawingml/2006/main" prst="roundRect">
            <a:avLst>
              <a:gd name="adj" fmla="val 6667"/>
            </a:avLst>
          </a:prstGeom>
          <a:solidFill xmlns:a="http://schemas.openxmlformats.org/drawingml/2006/main">
            <a:srgbClr val="DCEAF7"/>
          </a:solidFill>
          <a:ln xmlns:a="http://schemas.openxmlformats.org/drawingml/2006/main" w="9525">
            <a:solidFill>
              <a:srgbClr val="2E74B5"/>
            </a:solidFill>
            <a:prstDash val="solid"/>
          </a:ln>
        </p:spPr>
      </p:sp>
      <p:sp>
        <p:nvSpPr>
          <p:cNvPr id="11" name="">
            <a:extLst xmlns:a="http://schemas.openxmlformats.org/drawingml/2006/main">
              <a:ext uri="{FF2B5EF4-FFF2-40B4-BE49-F238E27FC236}">
                <a16:creationId xmlns:a16="http://schemas.microsoft.com/office/drawing/2014/main" id="{447CFF60-174C-4117-A4F4-78F67DD44AC8}"/>
              </a:ext>
            </a:extLst>
          </p:cNvPr>
          <p:cNvSpPr>
            <a:spLocks xmlns:a="http://schemas.openxmlformats.org/drawingml/2006/main" noGrp="1"/>
          </p:cNvSpPr>
          <p:nvPr/>
        </p:nvSpPr>
        <p:spPr>
          <a:xfrm xmlns:a="http://schemas.openxmlformats.org/drawingml/2006/main">
            <a:off x="6134100" y="1581150"/>
            <a:ext cx="1238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i="0">
                <a:solidFill>
                  <a:srgbClr val="2E74B5"/>
                </a:solidFill>
              </a:defRPr>
            </a:pPr>
            <a:r>
              <a:rPr sz="900" b="1" i="0">
                <a:solidFill>
                  <a:srgbClr val="2E74B5"/>
                </a:solidFill>
              </a:rPr>
              <a:t>0–30 DAYS</a:t>
            </a:r>
          </a:p>
        </p:txBody>
      </p:sp>
      <p:sp>
        <p:nvSpPr>
          <p:cNvPr id="12" name="">
            <a:extLst xmlns:a="http://schemas.openxmlformats.org/drawingml/2006/main">
              <a:ext uri="{FF2B5EF4-FFF2-40B4-BE49-F238E27FC236}">
                <a16:creationId xmlns:a16="http://schemas.microsoft.com/office/drawing/2014/main" id="{849A5635-CD66-432E-A7AF-98DE1E3D6883}"/>
              </a:ext>
            </a:extLst>
          </p:cNvPr>
          <p:cNvSpPr>
            <a:spLocks xmlns:a="http://schemas.openxmlformats.org/drawingml/2006/main" noGrp="1"/>
          </p:cNvSpPr>
          <p:nvPr/>
        </p:nvSpPr>
        <p:spPr>
          <a:xfrm xmlns:a="http://schemas.openxmlformats.org/drawingml/2006/main">
            <a:off x="7524750" y="1552575"/>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1" i="0">
                <a:solidFill>
                  <a:srgbClr val="17324D"/>
                </a:solidFill>
              </a:defRPr>
            </a:pPr>
            <a:r>
              <a:rPr sz="1650" b="1" i="0">
                <a:solidFill>
                  <a:srgbClr val="17324D"/>
                </a:solidFill>
              </a:rPr>
              <a:t>Validate</a:t>
            </a:r>
          </a:p>
        </p:txBody>
      </p:sp>
      <p:sp>
        <p:nvSpPr>
          <p:cNvPr id="13" name="">
            <a:extLst xmlns:a="http://schemas.openxmlformats.org/drawingml/2006/main">
              <a:ext uri="{FF2B5EF4-FFF2-40B4-BE49-F238E27FC236}">
                <a16:creationId xmlns:a16="http://schemas.microsoft.com/office/drawing/2014/main" id="{4D576D38-2F53-4492-B0D1-229127B3E802}"/>
              </a:ext>
            </a:extLst>
          </p:cNvPr>
          <p:cNvSpPr>
            <a:spLocks xmlns:a="http://schemas.openxmlformats.org/drawingml/2006/main" noGrp="1"/>
          </p:cNvSpPr>
          <p:nvPr/>
        </p:nvSpPr>
        <p:spPr>
          <a:xfrm xmlns:a="http://schemas.openxmlformats.org/drawingml/2006/main">
            <a:off x="7524750" y="1924050"/>
            <a:ext cx="37528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i="0">
                <a:solidFill>
                  <a:srgbClr val="20262E"/>
                </a:solidFill>
              </a:defRPr>
            </a:pPr>
            <a:r>
              <a:rPr sz="1200" b="0" i="0">
                <a:solidFill>
                  <a:srgbClr val="20262E"/>
                </a:solidFill>
              </a:rPr>
              <a:t>Confirm owner, baseline, controls and priority.</a:t>
            </a:r>
          </a:p>
        </p:txBody>
      </p:sp>
      <p:sp>
        <p:nvSpPr>
          <p:cNvPr id="14" name="">
            <a:extLst xmlns:a="http://schemas.openxmlformats.org/drawingml/2006/main">
              <a:ext uri="{FF2B5EF4-FFF2-40B4-BE49-F238E27FC236}">
                <a16:creationId xmlns:a16="http://schemas.microsoft.com/office/drawing/2014/main" id="{733590B7-65A0-4869-8E00-31B2538CB3E2}"/>
              </a:ext>
            </a:extLst>
          </p:cNvPr>
          <p:cNvSpPr>
            <a:spLocks xmlns:a="http://schemas.openxmlformats.org/drawingml/2006/main" noGrp="1"/>
          </p:cNvSpPr>
          <p:nvPr/>
        </p:nvSpPr>
        <p:spPr>
          <a:xfrm xmlns:a="http://schemas.openxmlformats.org/drawingml/2006/main">
            <a:off x="5905500" y="2800350"/>
            <a:ext cx="5676900" cy="1143000"/>
          </a:xfrm>
          <a:prstGeom xmlns:a="http://schemas.openxmlformats.org/drawingml/2006/main" prst="roundRect">
            <a:avLst>
              <a:gd name="adj" fmla="val 6667"/>
            </a:avLst>
          </a:prstGeom>
          <a:solidFill xmlns:a="http://schemas.openxmlformats.org/drawingml/2006/main">
            <a:srgbClr val="E8F3EC"/>
          </a:solidFill>
          <a:ln xmlns:a="http://schemas.openxmlformats.org/drawingml/2006/main" w="9525">
            <a:solidFill>
              <a:srgbClr val="2E7D5B"/>
            </a:solidFill>
            <a:prstDash val="solid"/>
          </a:ln>
        </p:spPr>
      </p:sp>
      <p:sp>
        <p:nvSpPr>
          <p:cNvPr id="15" name="">
            <a:extLst xmlns:a="http://schemas.openxmlformats.org/drawingml/2006/main">
              <a:ext uri="{FF2B5EF4-FFF2-40B4-BE49-F238E27FC236}">
                <a16:creationId xmlns:a16="http://schemas.microsoft.com/office/drawing/2014/main" id="{0E96EA7C-A2FD-49CB-AAE8-18EBC9F3F5FB}"/>
              </a:ext>
            </a:extLst>
          </p:cNvPr>
          <p:cNvSpPr>
            <a:spLocks xmlns:a="http://schemas.openxmlformats.org/drawingml/2006/main" noGrp="1"/>
          </p:cNvSpPr>
          <p:nvPr/>
        </p:nvSpPr>
        <p:spPr>
          <a:xfrm xmlns:a="http://schemas.openxmlformats.org/drawingml/2006/main">
            <a:off x="6134100" y="2952750"/>
            <a:ext cx="1238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i="0">
                <a:solidFill>
                  <a:srgbClr val="2E7D5B"/>
                </a:solidFill>
              </a:defRPr>
            </a:pPr>
            <a:r>
              <a:rPr sz="900" b="1" i="0">
                <a:solidFill>
                  <a:srgbClr val="2E7D5B"/>
                </a:solidFill>
              </a:rPr>
              <a:t>31–60 DAYS</a:t>
            </a:r>
          </a:p>
        </p:txBody>
      </p:sp>
      <p:sp>
        <p:nvSpPr>
          <p:cNvPr id="16" name="">
            <a:extLst xmlns:a="http://schemas.openxmlformats.org/drawingml/2006/main">
              <a:ext uri="{FF2B5EF4-FFF2-40B4-BE49-F238E27FC236}">
                <a16:creationId xmlns:a16="http://schemas.microsoft.com/office/drawing/2014/main" id="{FEA23CEA-A162-4E20-8A9A-9A39D32FEED5}"/>
              </a:ext>
            </a:extLst>
          </p:cNvPr>
          <p:cNvSpPr>
            <a:spLocks xmlns:a="http://schemas.openxmlformats.org/drawingml/2006/main" noGrp="1"/>
          </p:cNvSpPr>
          <p:nvPr/>
        </p:nvSpPr>
        <p:spPr>
          <a:xfrm xmlns:a="http://schemas.openxmlformats.org/drawingml/2006/main">
            <a:off x="7524750" y="2924175"/>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1" i="0">
                <a:solidFill>
                  <a:srgbClr val="17324D"/>
                </a:solidFill>
              </a:defRPr>
            </a:pPr>
            <a:r>
              <a:rPr sz="1650" b="1" i="0">
                <a:solidFill>
                  <a:srgbClr val="17324D"/>
                </a:solidFill>
              </a:rPr>
              <a:t>Prepare</a:t>
            </a:r>
          </a:p>
        </p:txBody>
      </p:sp>
      <p:sp>
        <p:nvSpPr>
          <p:cNvPr id="17" name="">
            <a:extLst xmlns:a="http://schemas.openxmlformats.org/drawingml/2006/main">
              <a:ext uri="{FF2B5EF4-FFF2-40B4-BE49-F238E27FC236}">
                <a16:creationId xmlns:a16="http://schemas.microsoft.com/office/drawing/2014/main" id="{C86DFED8-2F72-497C-B214-DE58ACF70541}"/>
              </a:ext>
            </a:extLst>
          </p:cNvPr>
          <p:cNvSpPr>
            <a:spLocks xmlns:a="http://schemas.openxmlformats.org/drawingml/2006/main" noGrp="1"/>
          </p:cNvSpPr>
          <p:nvPr/>
        </p:nvSpPr>
        <p:spPr>
          <a:xfrm xmlns:a="http://schemas.openxmlformats.org/drawingml/2006/main">
            <a:off x="7524750" y="3295650"/>
            <a:ext cx="37528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i="0">
                <a:solidFill>
                  <a:srgbClr val="20262E"/>
                </a:solidFill>
              </a:defRPr>
            </a:pPr>
            <a:r>
              <a:rPr sz="1200" b="0" i="0">
                <a:solidFill>
                  <a:srgbClr val="20262E"/>
                </a:solidFill>
              </a:rPr>
              <a:t>Design the change, approvals, test evidence and adoption plan.</a:t>
            </a:r>
          </a:p>
        </p:txBody>
      </p:sp>
      <p:sp>
        <p:nvSpPr>
          <p:cNvPr id="18" name="">
            <a:extLst xmlns:a="http://schemas.openxmlformats.org/drawingml/2006/main">
              <a:ext uri="{FF2B5EF4-FFF2-40B4-BE49-F238E27FC236}">
                <a16:creationId xmlns:a16="http://schemas.microsoft.com/office/drawing/2014/main" id="{A6FD42F6-D059-4729-97FE-915FDF93E022}"/>
              </a:ext>
            </a:extLst>
          </p:cNvPr>
          <p:cNvSpPr>
            <a:spLocks xmlns:a="http://schemas.openxmlformats.org/drawingml/2006/main" noGrp="1"/>
          </p:cNvSpPr>
          <p:nvPr/>
        </p:nvSpPr>
        <p:spPr>
          <a:xfrm xmlns:a="http://schemas.openxmlformats.org/drawingml/2006/main">
            <a:off x="5905500" y="4171950"/>
            <a:ext cx="5676900" cy="1143000"/>
          </a:xfrm>
          <a:prstGeom xmlns:a="http://schemas.openxmlformats.org/drawingml/2006/main" prst="roundRect">
            <a:avLst>
              <a:gd name="adj" fmla="val 6667"/>
            </a:avLst>
          </a:prstGeom>
          <a:solidFill xmlns:a="http://schemas.openxmlformats.org/drawingml/2006/main">
            <a:srgbClr val="FFF4CE"/>
          </a:solidFill>
          <a:ln xmlns:a="http://schemas.openxmlformats.org/drawingml/2006/main" w="9525">
            <a:solidFill>
              <a:srgbClr val="F5C451"/>
            </a:solidFill>
            <a:prstDash val="solid"/>
          </a:ln>
        </p:spPr>
      </p:sp>
      <p:sp>
        <p:nvSpPr>
          <p:cNvPr id="19" name="">
            <a:extLst xmlns:a="http://schemas.openxmlformats.org/drawingml/2006/main">
              <a:ext uri="{FF2B5EF4-FFF2-40B4-BE49-F238E27FC236}">
                <a16:creationId xmlns:a16="http://schemas.microsoft.com/office/drawing/2014/main" id="{62E9A751-ED4D-4C9F-9C4A-88AA799B8A17}"/>
              </a:ext>
            </a:extLst>
          </p:cNvPr>
          <p:cNvSpPr>
            <a:spLocks xmlns:a="http://schemas.openxmlformats.org/drawingml/2006/main" noGrp="1"/>
          </p:cNvSpPr>
          <p:nvPr/>
        </p:nvSpPr>
        <p:spPr>
          <a:xfrm xmlns:a="http://schemas.openxmlformats.org/drawingml/2006/main">
            <a:off x="6134100" y="4324350"/>
            <a:ext cx="1238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i="0">
                <a:solidFill>
                  <a:srgbClr val="F5C451"/>
                </a:solidFill>
              </a:defRPr>
            </a:pPr>
            <a:r>
              <a:rPr sz="900" b="1" i="0">
                <a:solidFill>
                  <a:srgbClr val="F5C451"/>
                </a:solidFill>
              </a:rPr>
              <a:t>61–90 DAYS</a:t>
            </a:r>
          </a:p>
        </p:txBody>
      </p:sp>
      <p:sp>
        <p:nvSpPr>
          <p:cNvPr id="20" name="">
            <a:extLst xmlns:a="http://schemas.openxmlformats.org/drawingml/2006/main">
              <a:ext uri="{FF2B5EF4-FFF2-40B4-BE49-F238E27FC236}">
                <a16:creationId xmlns:a16="http://schemas.microsoft.com/office/drawing/2014/main" id="{933C2EB8-0013-4864-9F2F-380EEA08C923}"/>
              </a:ext>
            </a:extLst>
          </p:cNvPr>
          <p:cNvSpPr>
            <a:spLocks xmlns:a="http://schemas.openxmlformats.org/drawingml/2006/main" noGrp="1"/>
          </p:cNvSpPr>
          <p:nvPr/>
        </p:nvSpPr>
        <p:spPr>
          <a:xfrm xmlns:a="http://schemas.openxmlformats.org/drawingml/2006/main">
            <a:off x="7524750" y="4295775"/>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1" i="0">
                <a:solidFill>
                  <a:srgbClr val="17324D"/>
                </a:solidFill>
              </a:defRPr>
            </a:pPr>
            <a:r>
              <a:rPr sz="1650" b="1" i="0">
                <a:solidFill>
                  <a:srgbClr val="17324D"/>
                </a:solidFill>
              </a:rPr>
              <a:t>Decide</a:t>
            </a:r>
          </a:p>
        </p:txBody>
      </p:sp>
      <p:sp>
        <p:nvSpPr>
          <p:cNvPr id="21" name="">
            <a:extLst xmlns:a="http://schemas.openxmlformats.org/drawingml/2006/main">
              <a:ext uri="{FF2B5EF4-FFF2-40B4-BE49-F238E27FC236}">
                <a16:creationId xmlns:a16="http://schemas.microsoft.com/office/drawing/2014/main" id="{3A1EA6D9-0FE4-4883-8B3B-1C8714D905DB}"/>
              </a:ext>
            </a:extLst>
          </p:cNvPr>
          <p:cNvSpPr>
            <a:spLocks xmlns:a="http://schemas.openxmlformats.org/drawingml/2006/main" noGrp="1"/>
          </p:cNvSpPr>
          <p:nvPr/>
        </p:nvSpPr>
        <p:spPr>
          <a:xfrm xmlns:a="http://schemas.openxmlformats.org/drawingml/2006/main">
            <a:off x="7524750" y="4667250"/>
            <a:ext cx="37528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i="0">
                <a:solidFill>
                  <a:srgbClr val="20262E"/>
                </a:solidFill>
              </a:defRPr>
            </a:pPr>
            <a:r>
              <a:rPr sz="1200" b="0" i="0">
                <a:solidFill>
                  <a:srgbClr val="20262E"/>
                </a:solidFill>
              </a:rPr>
              <a:t>Approve, defer or separately scope implementation.</a:t>
            </a:r>
          </a:p>
        </p:txBody>
      </p:sp>
      <p:sp>
        <p:nvSpPr>
          <p:cNvPr id="22" name="">
            <a:extLst xmlns:a="http://schemas.openxmlformats.org/drawingml/2006/main">
              <a:ext uri="{FF2B5EF4-FFF2-40B4-BE49-F238E27FC236}">
                <a16:creationId xmlns:a16="http://schemas.microsoft.com/office/drawing/2014/main" id="{236043C8-CB45-4019-B436-1A316F3568E7}"/>
              </a:ext>
            </a:extLst>
          </p:cNvPr>
          <p:cNvSpPr>
            <a:spLocks xmlns:a="http://schemas.openxmlformats.org/drawingml/2006/main" noGrp="1"/>
          </p:cNvSpPr>
          <p:nvPr/>
        </p:nvSpPr>
        <p:spPr>
          <a:xfrm xmlns:a="http://schemas.openxmlformats.org/drawingml/2006/main">
            <a:off x="5905500" y="5695950"/>
            <a:ext cx="5676900" cy="514350"/>
          </a:xfrm>
          <a:prstGeom xmlns:a="http://schemas.openxmlformats.org/drawingml/2006/main" prst="roundRect">
            <a:avLst>
              <a:gd name="adj" fmla="val 14815"/>
            </a:avLst>
          </a:prstGeom>
          <a:solidFill xmlns:a="http://schemas.openxmlformats.org/drawingml/2006/main">
            <a:srgbClr val="17324D"/>
          </a:solidFill>
          <a:ln xmlns:a="http://schemas.openxmlformats.org/drawingml/2006/main" w="0">
            <a:solidFill>
              <a:srgbClr val="17324D"/>
            </a:solidFill>
            <a:prstDash val="solid"/>
          </a:ln>
        </p:spPr>
      </p:sp>
      <p:sp>
        <p:nvSpPr>
          <p:cNvPr id="23" name="">
            <a:extLst xmlns:a="http://schemas.openxmlformats.org/drawingml/2006/main">
              <a:ext uri="{FF2B5EF4-FFF2-40B4-BE49-F238E27FC236}">
                <a16:creationId xmlns:a16="http://schemas.microsoft.com/office/drawing/2014/main" id="{ED9A47DB-6AFD-4E6A-8466-C87E248930AC}"/>
              </a:ext>
            </a:extLst>
          </p:cNvPr>
          <p:cNvSpPr>
            <a:spLocks xmlns:a="http://schemas.openxmlformats.org/drawingml/2006/main" noGrp="1"/>
          </p:cNvSpPr>
          <p:nvPr/>
        </p:nvSpPr>
        <p:spPr>
          <a:xfrm xmlns:a="http://schemas.openxmlformats.org/drawingml/2006/main">
            <a:off x="6096000" y="5819775"/>
            <a:ext cx="52959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i="0">
                <a:solidFill>
                  <a:srgbClr val="FFFFFF"/>
                </a:solidFill>
              </a:defRPr>
            </a:pPr>
            <a:r>
              <a:rPr sz="1275" b="1" i="0">
                <a:solidFill>
                  <a:srgbClr val="FFFFFF"/>
                </a:solidFill>
              </a:rPr>
              <a:t>Implementation requires a separate signed scope.</a:t>
            </a:r>
          </a:p>
        </p:txBody>
      </p:sp>
    </p:spTree>
    <p:extLst>
      <p:ext uri="{BB962C8B-B14F-4D97-AF65-F5344CB8AC3E}">
        <p14:creationId xmlns:p14="http://schemas.microsoft.com/office/powerpoint/2010/main" val="1410029226"/>
      </p:ext>
    </p:extLst>
  </p:cSld>
</p:sld>
</file>

<file path=ppt/slides/slide12.xml><?xml version="1.0" encoding="utf-8"?>
<p:sld xmlns:p="http://schemas.openxmlformats.org/presentationml/2006/main">
  <p:cSld>
    <p:bg>
      <p:bgPr>
        <a:solidFill xmlns:a="http://schemas.openxmlformats.org/drawingml/2006/main">
          <a:srgbClr val="F7F9FB"/>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65002F77-62BE-4AAF-AB8C-98B8E75F1FB7}"/>
              </a:ext>
            </a:extLst>
          </p:cNvPr>
          <p:cNvSpPr>
            <a:spLocks xmlns:a="http://schemas.openxmlformats.org/drawingml/2006/main" noGrp="1"/>
          </p:cNvSpPr>
          <p:nvPr/>
        </p:nvSpPr>
        <p:spPr>
          <a:xfrm xmlns:a="http://schemas.openxmlformats.org/drawingml/2006/main">
            <a:off x="609600" y="32385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i="0">
                <a:solidFill>
                  <a:srgbClr val="2E74B5"/>
                </a:solidFill>
              </a:defRPr>
            </a:pPr>
            <a:r>
              <a:rPr sz="900" b="1" i="0">
                <a:solidFill>
                  <a:srgbClr val="2E74B5"/>
                </a:solidFill>
              </a:rPr>
              <a:t>CLOSEOUT</a:t>
            </a:r>
          </a:p>
        </p:txBody>
      </p:sp>
      <p:sp>
        <p:nvSpPr>
          <p:cNvPr id="2" name="">
            <a:extLst xmlns:a="http://schemas.openxmlformats.org/drawingml/2006/main">
              <a:ext uri="{FF2B5EF4-FFF2-40B4-BE49-F238E27FC236}">
                <a16:creationId xmlns:a16="http://schemas.microsoft.com/office/drawing/2014/main" id="{26F1FF7D-1F04-4CB9-AF4C-1C7D4988218D}"/>
              </a:ext>
            </a:extLst>
          </p:cNvPr>
          <p:cNvSpPr>
            <a:spLocks xmlns:a="http://schemas.openxmlformats.org/drawingml/2006/main" noGrp="1"/>
          </p:cNvSpPr>
          <p:nvPr/>
        </p:nvSpPr>
        <p:spPr>
          <a:xfrm xmlns:a="http://schemas.openxmlformats.org/drawingml/2006/main">
            <a:off x="609600" y="552450"/>
            <a:ext cx="10287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550" b="1" i="0">
                <a:solidFill>
                  <a:srgbClr val="17324D"/>
                </a:solidFill>
              </a:defRPr>
            </a:pPr>
            <a:r>
              <a:rPr sz="2550" b="1" i="0">
                <a:solidFill>
                  <a:srgbClr val="17324D"/>
                </a:solidFill>
              </a:rPr>
              <a:t>Close with decisions, owners and the review path</a:t>
            </a:r>
          </a:p>
        </p:txBody>
      </p:sp>
      <p:sp>
        <p:nvSpPr>
          <p:cNvPr id="3" name="">
            <a:extLst xmlns:a="http://schemas.openxmlformats.org/drawingml/2006/main">
              <a:ext uri="{FF2B5EF4-FFF2-40B4-BE49-F238E27FC236}">
                <a16:creationId xmlns:a16="http://schemas.microsoft.com/office/drawing/2014/main" id="{E4639F5A-9E9E-485F-A77F-C56A957A0388}"/>
              </a:ext>
            </a:extLst>
          </p:cNvPr>
          <p:cNvSpPr>
            <a:spLocks xmlns:a="http://schemas.openxmlformats.org/drawingml/2006/main" noGrp="1"/>
          </p:cNvSpPr>
          <p:nvPr/>
        </p:nvSpPr>
        <p:spPr>
          <a:xfrm xmlns:a="http://schemas.openxmlformats.org/drawingml/2006/main">
            <a:off x="609600" y="1143000"/>
            <a:ext cx="10972800" cy="19050"/>
          </a:xfrm>
          <a:prstGeom xmlns:a="http://schemas.openxmlformats.org/drawingml/2006/main" prst="rect">
            <a:avLst/>
          </a:prstGeom>
          <a:solidFill xmlns:a="http://schemas.openxmlformats.org/drawingml/2006/main">
            <a:srgbClr val="C9D2DC"/>
          </a:solidFill>
          <a:ln xmlns:a="http://schemas.openxmlformats.org/drawingml/2006/main" w="0">
            <a:solidFill>
              <a:srgbClr val="C9D2DC"/>
            </a:solidFill>
            <a:prstDash val="solid"/>
          </a:ln>
        </p:spPr>
      </p:sp>
      <p:sp>
        <p:nvSpPr>
          <p:cNvPr id="4" name="">
            <a:extLst xmlns:a="http://schemas.openxmlformats.org/drawingml/2006/main">
              <a:ext uri="{FF2B5EF4-FFF2-40B4-BE49-F238E27FC236}">
                <a16:creationId xmlns:a16="http://schemas.microsoft.com/office/drawing/2014/main" id="{687184AE-BBA0-42DE-A544-944F946268D8}"/>
              </a:ext>
            </a:extLst>
          </p:cNvPr>
          <p:cNvSpPr>
            <a:spLocks xmlns:a="http://schemas.openxmlformats.org/drawingml/2006/main" noGrp="1"/>
          </p:cNvSpPr>
          <p:nvPr/>
        </p:nvSpPr>
        <p:spPr>
          <a:xfrm xmlns:a="http://schemas.openxmlformats.org/drawingml/2006/main">
            <a:off x="609600" y="6505575"/>
            <a:ext cx="4095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50" b="1" i="0">
                <a:solidFill>
                  <a:srgbClr val="66717E"/>
                </a:solidFill>
              </a:defRPr>
            </a:pPr>
            <a:r>
              <a:rPr sz="750" b="1" i="0">
                <a:solidFill>
                  <a:srgbClr val="66717E"/>
                </a:solidFill>
              </a:rPr>
              <a:t>HEUTRIX  |  WORKFLOW DIAGNOSTIC</a:t>
            </a:r>
          </a:p>
        </p:txBody>
      </p:sp>
      <p:sp>
        <p:nvSpPr>
          <p:cNvPr id="5" name="">
            <a:extLst xmlns:a="http://schemas.openxmlformats.org/drawingml/2006/main">
              <a:ext uri="{FF2B5EF4-FFF2-40B4-BE49-F238E27FC236}">
                <a16:creationId xmlns:a16="http://schemas.microsoft.com/office/drawing/2014/main" id="{907731CC-74B1-4473-BE79-D5FB1112657A}"/>
              </a:ext>
            </a:extLst>
          </p:cNvPr>
          <p:cNvSpPr>
            <a:spLocks xmlns:a="http://schemas.openxmlformats.org/drawingml/2006/main" noGrp="1"/>
          </p:cNvSpPr>
          <p:nvPr/>
        </p:nvSpPr>
        <p:spPr>
          <a:xfrm xmlns:a="http://schemas.openxmlformats.org/drawingml/2006/main">
            <a:off x="11096625" y="6477000"/>
            <a:ext cx="476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i="0">
                <a:solidFill>
                  <a:srgbClr val="66717E"/>
                </a:solidFill>
              </a:defRPr>
            </a:pPr>
            <a:r>
              <a:rPr sz="825" b="1" i="0">
                <a:solidFill>
                  <a:srgbClr val="66717E"/>
                </a:solidFill>
              </a:rPr>
              <a:t>12</a:t>
            </a:r>
          </a:p>
        </p:txBody>
      </p:sp>
      <p:sp>
        <p:nvSpPr>
          <p:cNvPr id="6" name="">
            <a:extLst xmlns:a="http://schemas.openxmlformats.org/drawingml/2006/main">
              <a:ext uri="{FF2B5EF4-FFF2-40B4-BE49-F238E27FC236}">
                <a16:creationId xmlns:a16="http://schemas.microsoft.com/office/drawing/2014/main" id="{7A6F6A4C-7700-47FF-9C84-0AC25BFD7C39}"/>
              </a:ext>
            </a:extLst>
          </p:cNvPr>
          <p:cNvSpPr>
            <a:spLocks xmlns:a="http://schemas.openxmlformats.org/drawingml/2006/main" noGrp="1"/>
          </p:cNvSpPr>
          <p:nvPr/>
        </p:nvSpPr>
        <p:spPr>
          <a:xfrm xmlns:a="http://schemas.openxmlformats.org/drawingml/2006/main">
            <a:off x="609600" y="1428750"/>
            <a:ext cx="5257800" cy="2000250"/>
          </a:xfrm>
          <a:prstGeom xmlns:a="http://schemas.openxmlformats.org/drawingml/2006/main" prst="roundRect">
            <a:avLst>
              <a:gd name="adj" fmla="val 3810"/>
            </a:avLst>
          </a:prstGeom>
          <a:solidFill xmlns:a="http://schemas.openxmlformats.org/drawingml/2006/main">
            <a:srgbClr val="FFFFFF"/>
          </a:solidFill>
          <a:ln xmlns:a="http://schemas.openxmlformats.org/drawingml/2006/main" w="9525">
            <a:solidFill>
              <a:srgbClr val="C9D2DC"/>
            </a:solidFill>
            <a:prstDash val="solid"/>
          </a:ln>
        </p:spPr>
      </p:sp>
      <p:sp>
        <p:nvSpPr>
          <p:cNvPr id="7" name="">
            <a:extLst xmlns:a="http://schemas.openxmlformats.org/drawingml/2006/main">
              <a:ext uri="{FF2B5EF4-FFF2-40B4-BE49-F238E27FC236}">
                <a16:creationId xmlns:a16="http://schemas.microsoft.com/office/drawing/2014/main" id="{6A97E978-1AE3-4E3D-81C1-3371EFE8F52B}"/>
              </a:ext>
            </a:extLst>
          </p:cNvPr>
          <p:cNvSpPr>
            <a:spLocks xmlns:a="http://schemas.openxmlformats.org/drawingml/2006/main" noGrp="1"/>
          </p:cNvSpPr>
          <p:nvPr/>
        </p:nvSpPr>
        <p:spPr>
          <a:xfrm xmlns:a="http://schemas.openxmlformats.org/drawingml/2006/main">
            <a:off x="609600" y="1428750"/>
            <a:ext cx="76200" cy="2000250"/>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8" name="">
            <a:extLst xmlns:a="http://schemas.openxmlformats.org/drawingml/2006/main">
              <a:ext uri="{FF2B5EF4-FFF2-40B4-BE49-F238E27FC236}">
                <a16:creationId xmlns:a16="http://schemas.microsoft.com/office/drawing/2014/main" id="{67086FD8-041F-400E-B47C-3310D9B56915}"/>
              </a:ext>
            </a:extLst>
          </p:cNvPr>
          <p:cNvSpPr>
            <a:spLocks xmlns:a="http://schemas.openxmlformats.org/drawingml/2006/main" noGrp="1"/>
          </p:cNvSpPr>
          <p:nvPr/>
        </p:nvSpPr>
        <p:spPr>
          <a:xfrm xmlns:a="http://schemas.openxmlformats.org/drawingml/2006/main">
            <a:off x="819150" y="1562100"/>
            <a:ext cx="49149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1" i="0">
                <a:solidFill>
                  <a:srgbClr val="17324D"/>
                </a:solidFill>
              </a:defRPr>
            </a:pPr>
            <a:r>
              <a:rPr sz="1350" b="1" i="0">
                <a:solidFill>
                  <a:srgbClr val="17324D"/>
                </a:solidFill>
              </a:rPr>
              <a:t>Decisions requested today</a:t>
            </a:r>
          </a:p>
        </p:txBody>
      </p:sp>
      <p:sp>
        <p:nvSpPr>
          <p:cNvPr id="9" name="">
            <a:extLst xmlns:a="http://schemas.openxmlformats.org/drawingml/2006/main">
              <a:ext uri="{FF2B5EF4-FFF2-40B4-BE49-F238E27FC236}">
                <a16:creationId xmlns:a16="http://schemas.microsoft.com/office/drawing/2014/main" id="{1A8582F3-1CDE-4E27-A490-7FCC9011B9B7}"/>
              </a:ext>
            </a:extLst>
          </p:cNvPr>
          <p:cNvSpPr>
            <a:spLocks xmlns:a="http://schemas.openxmlformats.org/drawingml/2006/main" noGrp="1"/>
          </p:cNvSpPr>
          <p:nvPr/>
        </p:nvSpPr>
        <p:spPr>
          <a:xfrm xmlns:a="http://schemas.openxmlformats.org/drawingml/2006/main">
            <a:off x="819150" y="1857375"/>
            <a:ext cx="4895850" cy="1447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i="0">
                <a:solidFill>
                  <a:srgbClr val="20262E"/>
                </a:solidFill>
              </a:defRPr>
            </a:pPr>
            <a:r>
              <a:rPr sz="1350" b="0" i="0">
                <a:solidFill>
                  <a:srgbClr val="20262E"/>
                </a:solidFill>
              </a:rPr>
              <a:t>□ Validate the current-state facts</a:t>
            </a:r>
          </a:p>
          <a:p xmlns:a="http://schemas.openxmlformats.org/drawingml/2006/main">
            <a:pPr algn="l">
              <a:defRPr sz="1350" b="0" i="0">
                <a:solidFill>
                  <a:srgbClr val="20262E"/>
                </a:solidFill>
              </a:defRPr>
            </a:pPr>
            <a:r>
              <a:rPr sz="1350" b="0" i="0">
                <a:solidFill>
                  <a:srgbClr val="20262E"/>
                </a:solidFill>
              </a:rPr>
              <a:t>□ Confirm the preferred future-state direction</a:t>
            </a:r>
          </a:p>
          <a:p xmlns:a="http://schemas.openxmlformats.org/drawingml/2006/main">
            <a:pPr algn="l">
              <a:defRPr sz="1350" b="0" i="0">
                <a:solidFill>
                  <a:srgbClr val="20262E"/>
                </a:solidFill>
              </a:defRPr>
            </a:pPr>
            <a:r>
              <a:rPr sz="1350" b="0" i="0">
                <a:solidFill>
                  <a:srgbClr val="20262E"/>
                </a:solidFill>
              </a:rPr>
              <a:t>□ Nominate an owner for the next decision</a:t>
            </a:r>
          </a:p>
          <a:p xmlns:a="http://schemas.openxmlformats.org/drawingml/2006/main">
            <a:pPr algn="l">
              <a:defRPr sz="1350" b="0" i="0">
                <a:solidFill>
                  <a:srgbClr val="20262E"/>
                </a:solidFill>
              </a:defRPr>
            </a:pPr>
            <a:r>
              <a:rPr sz="1350" b="0" i="0">
                <a:solidFill>
                  <a:srgbClr val="20262E"/>
                </a:solidFill>
              </a:rPr>
              <a:t>□ Approve a separate scope — or choose no further work</a:t>
            </a:r>
          </a:p>
        </p:txBody>
      </p:sp>
      <p:sp>
        <p:nvSpPr>
          <p:cNvPr id="10" name="">
            <a:extLst xmlns:a="http://schemas.openxmlformats.org/drawingml/2006/main">
              <a:ext uri="{FF2B5EF4-FFF2-40B4-BE49-F238E27FC236}">
                <a16:creationId xmlns:a16="http://schemas.microsoft.com/office/drawing/2014/main" id="{8C57B8AB-FECF-4CB7-9181-898F4BF3FA41}"/>
              </a:ext>
            </a:extLst>
          </p:cNvPr>
          <p:cNvSpPr>
            <a:spLocks xmlns:a="http://schemas.openxmlformats.org/drawingml/2006/main" noGrp="1"/>
          </p:cNvSpPr>
          <p:nvPr/>
        </p:nvSpPr>
        <p:spPr>
          <a:xfrm xmlns:a="http://schemas.openxmlformats.org/drawingml/2006/main">
            <a:off x="6096000" y="1428750"/>
            <a:ext cx="5486400" cy="2000250"/>
          </a:xfrm>
          <a:prstGeom xmlns:a="http://schemas.openxmlformats.org/drawingml/2006/main" prst="roundRect">
            <a:avLst>
              <a:gd name="adj" fmla="val 3810"/>
            </a:avLst>
          </a:prstGeom>
          <a:solidFill xmlns:a="http://schemas.openxmlformats.org/drawingml/2006/main">
            <a:srgbClr val="FFF4CE"/>
          </a:solidFill>
          <a:ln xmlns:a="http://schemas.openxmlformats.org/drawingml/2006/main" w="9525">
            <a:solidFill>
              <a:srgbClr val="C9D2DC"/>
            </a:solidFill>
            <a:prstDash val="solid"/>
          </a:ln>
        </p:spPr>
      </p:sp>
      <p:sp>
        <p:nvSpPr>
          <p:cNvPr id="11" name="">
            <a:extLst xmlns:a="http://schemas.openxmlformats.org/drawingml/2006/main">
              <a:ext uri="{FF2B5EF4-FFF2-40B4-BE49-F238E27FC236}">
                <a16:creationId xmlns:a16="http://schemas.microsoft.com/office/drawing/2014/main" id="{6F3FB8C3-5686-423A-A4D1-764BC7AA7876}"/>
              </a:ext>
            </a:extLst>
          </p:cNvPr>
          <p:cNvSpPr>
            <a:spLocks xmlns:a="http://schemas.openxmlformats.org/drawingml/2006/main" noGrp="1"/>
          </p:cNvSpPr>
          <p:nvPr/>
        </p:nvSpPr>
        <p:spPr>
          <a:xfrm xmlns:a="http://schemas.openxmlformats.org/drawingml/2006/main">
            <a:off x="6096000" y="1428750"/>
            <a:ext cx="76200" cy="2000250"/>
          </a:xfrm>
          <a:prstGeom xmlns:a="http://schemas.openxmlformats.org/drawingml/2006/main" prst="rect">
            <a:avLst/>
          </a:prstGeom>
          <a:solidFill xmlns:a="http://schemas.openxmlformats.org/drawingml/2006/main">
            <a:srgbClr val="F5C451"/>
          </a:solidFill>
          <a:ln xmlns:a="http://schemas.openxmlformats.org/drawingml/2006/main" w="0">
            <a:solidFill>
              <a:srgbClr val="F5C451"/>
            </a:solidFill>
            <a:prstDash val="solid"/>
          </a:ln>
        </p:spPr>
      </p:sp>
      <p:sp>
        <p:nvSpPr>
          <p:cNvPr id="12" name="">
            <a:extLst xmlns:a="http://schemas.openxmlformats.org/drawingml/2006/main">
              <a:ext uri="{FF2B5EF4-FFF2-40B4-BE49-F238E27FC236}">
                <a16:creationId xmlns:a16="http://schemas.microsoft.com/office/drawing/2014/main" id="{6182C939-D899-40EB-9FF6-0E5931FFF071}"/>
              </a:ext>
            </a:extLst>
          </p:cNvPr>
          <p:cNvSpPr>
            <a:spLocks xmlns:a="http://schemas.openxmlformats.org/drawingml/2006/main" noGrp="1"/>
          </p:cNvSpPr>
          <p:nvPr/>
        </p:nvSpPr>
        <p:spPr>
          <a:xfrm xmlns:a="http://schemas.openxmlformats.org/drawingml/2006/main">
            <a:off x="6305550" y="1562100"/>
            <a:ext cx="5143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1" i="0">
                <a:solidFill>
                  <a:srgbClr val="17324D"/>
                </a:solidFill>
              </a:defRPr>
            </a:pPr>
            <a:r>
              <a:rPr sz="1350" b="1" i="0">
                <a:solidFill>
                  <a:srgbClr val="17324D"/>
                </a:solidFill>
              </a:rPr>
              <a:t>Material client questions</a:t>
            </a:r>
          </a:p>
        </p:txBody>
      </p:sp>
      <p:sp>
        <p:nvSpPr>
          <p:cNvPr id="13" name="">
            <a:extLst xmlns:a="http://schemas.openxmlformats.org/drawingml/2006/main">
              <a:ext uri="{FF2B5EF4-FFF2-40B4-BE49-F238E27FC236}">
                <a16:creationId xmlns:a16="http://schemas.microsoft.com/office/drawing/2014/main" id="{C4D9C918-826E-463E-94B1-3AEA0C1BC4FF}"/>
              </a:ext>
            </a:extLst>
          </p:cNvPr>
          <p:cNvSpPr>
            <a:spLocks xmlns:a="http://schemas.openxmlformats.org/drawingml/2006/main" noGrp="1"/>
          </p:cNvSpPr>
          <p:nvPr/>
        </p:nvSpPr>
        <p:spPr>
          <a:xfrm xmlns:a="http://schemas.openxmlformats.org/drawingml/2006/main">
            <a:off x="6305550" y="1857375"/>
            <a:ext cx="5124450" cy="1447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i="0">
                <a:solidFill>
                  <a:srgbClr val="20262E"/>
                </a:solidFill>
              </a:defRPr>
            </a:pPr>
            <a:r>
              <a:rPr sz="1275" b="0" i="0">
                <a:solidFill>
                  <a:srgbClr val="20262E"/>
                </a:solidFill>
              </a:rPr>
              <a:t>1. [Question / answer / owner]</a:t>
            </a:r>
          </a:p>
          <a:p xmlns:a="http://schemas.openxmlformats.org/drawingml/2006/main">
            <a:pPr algn="l">
              <a:defRPr sz="1275" b="0" i="0">
                <a:solidFill>
                  <a:srgbClr val="20262E"/>
                </a:solidFill>
              </a:defRPr>
            </a:pPr>
            <a:r>
              <a:rPr sz="1275" b="0" i="0">
                <a:solidFill>
                  <a:srgbClr val="20262E"/>
                </a:solidFill>
              </a:rPr>
              <a:t>2. [Question / answer / owner]</a:t>
            </a:r>
          </a:p>
          <a:p xmlns:a="http://schemas.openxmlformats.org/drawingml/2006/main">
            <a:pPr algn="l">
              <a:defRPr sz="1275" b="0" i="0">
                <a:solidFill>
                  <a:srgbClr val="20262E"/>
                </a:solidFill>
              </a:defRPr>
            </a:pPr>
            <a:r>
              <a:rPr sz="1275" b="0" i="0">
                <a:solidFill>
                  <a:srgbClr val="20262E"/>
                </a:solidFill>
              </a:rPr>
              <a:t>3. [Question / answer / owner]</a:t>
            </a:r>
          </a:p>
          <a:p xmlns:a="http://schemas.openxmlformats.org/drawingml/2006/main">
            <a:r>
              <a:t/>
            </a:r>
          </a:p>
          <a:p xmlns:a="http://schemas.openxmlformats.org/drawingml/2006/main">
            <a:pPr algn="l">
              <a:defRPr sz="1275" b="0" i="0">
                <a:solidFill>
                  <a:srgbClr val="20262E"/>
                </a:solidFill>
              </a:defRPr>
            </a:pPr>
            <a:r>
              <a:rPr sz="1275" b="0" i="0">
                <a:solidFill>
                  <a:srgbClr val="20262E"/>
                </a:solidFill>
              </a:rPr>
              <a:t>Open issue: [ID / due date]</a:t>
            </a:r>
          </a:p>
        </p:txBody>
      </p:sp>
      <p:sp>
        <p:nvSpPr>
          <p:cNvPr id="14" name="">
            <a:extLst xmlns:a="http://schemas.openxmlformats.org/drawingml/2006/main">
              <a:ext uri="{FF2B5EF4-FFF2-40B4-BE49-F238E27FC236}">
                <a16:creationId xmlns:a16="http://schemas.microsoft.com/office/drawing/2014/main" id="{785FCC11-7894-4012-A51F-50DF60CD2AB9}"/>
              </a:ext>
            </a:extLst>
          </p:cNvPr>
          <p:cNvSpPr>
            <a:spLocks xmlns:a="http://schemas.openxmlformats.org/drawingml/2006/main" noGrp="1"/>
          </p:cNvSpPr>
          <p:nvPr/>
        </p:nvSpPr>
        <p:spPr>
          <a:xfrm xmlns:a="http://schemas.openxmlformats.org/drawingml/2006/main">
            <a:off x="609600" y="3771900"/>
            <a:ext cx="3429000" cy="1524000"/>
          </a:xfrm>
          <a:prstGeom xmlns:a="http://schemas.openxmlformats.org/drawingml/2006/main" prst="roundRect">
            <a:avLst>
              <a:gd name="adj" fmla="val 5000"/>
            </a:avLst>
          </a:prstGeom>
          <a:solidFill xmlns:a="http://schemas.openxmlformats.org/drawingml/2006/main">
            <a:srgbClr val="FFFFFF"/>
          </a:solidFill>
          <a:ln xmlns:a="http://schemas.openxmlformats.org/drawingml/2006/main" w="9525">
            <a:solidFill>
              <a:srgbClr val="C9D2DC"/>
            </a:solidFill>
            <a:prstDash val="solid"/>
          </a:ln>
        </p:spPr>
      </p:sp>
      <p:sp>
        <p:nvSpPr>
          <p:cNvPr id="15" name="">
            <a:extLst xmlns:a="http://schemas.openxmlformats.org/drawingml/2006/main">
              <a:ext uri="{FF2B5EF4-FFF2-40B4-BE49-F238E27FC236}">
                <a16:creationId xmlns:a16="http://schemas.microsoft.com/office/drawing/2014/main" id="{A74968EC-B68E-48DE-8B20-FC2EDB246865}"/>
              </a:ext>
            </a:extLst>
          </p:cNvPr>
          <p:cNvSpPr>
            <a:spLocks xmlns:a="http://schemas.openxmlformats.org/drawingml/2006/main" noGrp="1"/>
          </p:cNvSpPr>
          <p:nvPr/>
        </p:nvSpPr>
        <p:spPr>
          <a:xfrm xmlns:a="http://schemas.openxmlformats.org/drawingml/2006/main">
            <a:off x="781050" y="3924300"/>
            <a:ext cx="3086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i="0">
                <a:solidFill>
                  <a:srgbClr val="2E74B5"/>
                </a:solidFill>
              </a:defRPr>
            </a:pPr>
            <a:r>
              <a:rPr sz="900" b="1" i="0">
                <a:solidFill>
                  <a:srgbClr val="2E74B5"/>
                </a:solidFill>
              </a:rPr>
              <a:t>TODAY</a:t>
            </a:r>
          </a:p>
        </p:txBody>
      </p:sp>
      <p:sp>
        <p:nvSpPr>
          <p:cNvPr id="16" name="">
            <a:extLst xmlns:a="http://schemas.openxmlformats.org/drawingml/2006/main">
              <a:ext uri="{FF2B5EF4-FFF2-40B4-BE49-F238E27FC236}">
                <a16:creationId xmlns:a16="http://schemas.microsoft.com/office/drawing/2014/main" id="{47CEC883-D1B2-4910-84B4-6E28E16306E4}"/>
              </a:ext>
            </a:extLst>
          </p:cNvPr>
          <p:cNvSpPr>
            <a:spLocks xmlns:a="http://schemas.openxmlformats.org/drawingml/2006/main" noGrp="1"/>
          </p:cNvSpPr>
          <p:nvPr/>
        </p:nvSpPr>
        <p:spPr>
          <a:xfrm xmlns:a="http://schemas.openxmlformats.org/drawingml/2006/main">
            <a:off x="781050" y="4257675"/>
            <a:ext cx="30861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00" b="1" i="0">
                <a:solidFill>
                  <a:srgbClr val="17324D"/>
                </a:solidFill>
              </a:defRPr>
            </a:pPr>
            <a:r>
              <a:rPr sz="1500" b="1" i="0">
                <a:solidFill>
                  <a:srgbClr val="17324D"/>
                </a:solidFill>
              </a:rPr>
              <a:t>Findings presentation</a:t>
            </a:r>
          </a:p>
        </p:txBody>
      </p:sp>
      <p:sp>
        <p:nvSpPr>
          <p:cNvPr id="17" name="">
            <a:extLst xmlns:a="http://schemas.openxmlformats.org/drawingml/2006/main">
              <a:ext uri="{FF2B5EF4-FFF2-40B4-BE49-F238E27FC236}">
                <a16:creationId xmlns:a16="http://schemas.microsoft.com/office/drawing/2014/main" id="{922433B4-3765-4D45-B750-E235ED704901}"/>
              </a:ext>
            </a:extLst>
          </p:cNvPr>
          <p:cNvSpPr>
            <a:spLocks xmlns:a="http://schemas.openxmlformats.org/drawingml/2006/main" noGrp="1"/>
          </p:cNvSpPr>
          <p:nvPr/>
        </p:nvSpPr>
        <p:spPr>
          <a:xfrm xmlns:a="http://schemas.openxmlformats.org/drawingml/2006/main">
            <a:off x="857250" y="4667250"/>
            <a:ext cx="29337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125" b="0" i="0">
                <a:solidFill>
                  <a:srgbClr val="20262E"/>
                </a:solidFill>
              </a:defRPr>
            </a:pPr>
            <a:r>
              <a:rPr sz="1125" b="0" i="0">
                <a:solidFill>
                  <a:srgbClr val="20262E"/>
                </a:solidFill>
              </a:rPr>
              <a:t>Record attendance, decisions and open questions.</a:t>
            </a:r>
          </a:p>
        </p:txBody>
      </p:sp>
      <p:sp>
        <p:nvSpPr>
          <p:cNvPr id="18" name="">
            <a:extLst xmlns:a="http://schemas.openxmlformats.org/drawingml/2006/main">
              <a:ext uri="{FF2B5EF4-FFF2-40B4-BE49-F238E27FC236}">
                <a16:creationId xmlns:a16="http://schemas.microsoft.com/office/drawing/2014/main" id="{0AAD8159-DB84-4731-8115-CEB234957CB5}"/>
              </a:ext>
            </a:extLst>
          </p:cNvPr>
          <p:cNvSpPr>
            <a:spLocks xmlns:a="http://schemas.openxmlformats.org/drawingml/2006/main" noGrp="1"/>
          </p:cNvSpPr>
          <p:nvPr/>
        </p:nvSpPr>
        <p:spPr>
          <a:xfrm xmlns:a="http://schemas.openxmlformats.org/drawingml/2006/main">
            <a:off x="4267200" y="3771900"/>
            <a:ext cx="3429000" cy="1524000"/>
          </a:xfrm>
          <a:prstGeom xmlns:a="http://schemas.openxmlformats.org/drawingml/2006/main" prst="roundRect">
            <a:avLst>
              <a:gd name="adj" fmla="val 5000"/>
            </a:avLst>
          </a:prstGeom>
          <a:solidFill xmlns:a="http://schemas.openxmlformats.org/drawingml/2006/main">
            <a:srgbClr val="FFFFFF"/>
          </a:solidFill>
          <a:ln xmlns:a="http://schemas.openxmlformats.org/drawingml/2006/main" w="9525">
            <a:solidFill>
              <a:srgbClr val="C9D2DC"/>
            </a:solidFill>
            <a:prstDash val="solid"/>
          </a:ln>
        </p:spPr>
      </p:sp>
      <p:sp>
        <p:nvSpPr>
          <p:cNvPr id="19" name="">
            <a:extLst xmlns:a="http://schemas.openxmlformats.org/drawingml/2006/main">
              <a:ext uri="{FF2B5EF4-FFF2-40B4-BE49-F238E27FC236}">
                <a16:creationId xmlns:a16="http://schemas.microsoft.com/office/drawing/2014/main" id="{DBB4E384-FC39-407B-9A97-8C4065D567F8}"/>
              </a:ext>
            </a:extLst>
          </p:cNvPr>
          <p:cNvSpPr>
            <a:spLocks xmlns:a="http://schemas.openxmlformats.org/drawingml/2006/main" noGrp="1"/>
          </p:cNvSpPr>
          <p:nvPr/>
        </p:nvSpPr>
        <p:spPr>
          <a:xfrm xmlns:a="http://schemas.openxmlformats.org/drawingml/2006/main">
            <a:off x="4438650" y="3924300"/>
            <a:ext cx="3086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i="0">
                <a:solidFill>
                  <a:srgbClr val="2E74B5"/>
                </a:solidFill>
              </a:defRPr>
            </a:pPr>
            <a:r>
              <a:rPr sz="900" b="1" i="0">
                <a:solidFill>
                  <a:srgbClr val="2E74B5"/>
                </a:solidFill>
              </a:rPr>
              <a:t>+5 BUSINESS DAYS</a:t>
            </a:r>
          </a:p>
        </p:txBody>
      </p:sp>
      <p:sp>
        <p:nvSpPr>
          <p:cNvPr id="20" name="">
            <a:extLst xmlns:a="http://schemas.openxmlformats.org/drawingml/2006/main">
              <a:ext uri="{FF2B5EF4-FFF2-40B4-BE49-F238E27FC236}">
                <a16:creationId xmlns:a16="http://schemas.microsoft.com/office/drawing/2014/main" id="{A71B8135-1B67-4828-95B0-75D0E81F0E5B}"/>
              </a:ext>
            </a:extLst>
          </p:cNvPr>
          <p:cNvSpPr>
            <a:spLocks xmlns:a="http://schemas.openxmlformats.org/drawingml/2006/main" noGrp="1"/>
          </p:cNvSpPr>
          <p:nvPr/>
        </p:nvSpPr>
        <p:spPr>
          <a:xfrm xmlns:a="http://schemas.openxmlformats.org/drawingml/2006/main">
            <a:off x="4438650" y="4257675"/>
            <a:ext cx="30861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00" b="1" i="0">
                <a:solidFill>
                  <a:srgbClr val="17324D"/>
                </a:solidFill>
              </a:defRPr>
            </a:pPr>
            <a:r>
              <a:rPr sz="1500" b="1" i="0">
                <a:solidFill>
                  <a:srgbClr val="17324D"/>
                </a:solidFill>
              </a:rPr>
              <a:t>Client review</a:t>
            </a:r>
          </a:p>
        </p:txBody>
      </p:sp>
      <p:sp>
        <p:nvSpPr>
          <p:cNvPr id="21" name="">
            <a:extLst xmlns:a="http://schemas.openxmlformats.org/drawingml/2006/main">
              <a:ext uri="{FF2B5EF4-FFF2-40B4-BE49-F238E27FC236}">
                <a16:creationId xmlns:a16="http://schemas.microsoft.com/office/drawing/2014/main" id="{689E8B63-7A74-4C16-AE76-A1803C137F46}"/>
              </a:ext>
            </a:extLst>
          </p:cNvPr>
          <p:cNvSpPr>
            <a:spLocks xmlns:a="http://schemas.openxmlformats.org/drawingml/2006/main" noGrp="1"/>
          </p:cNvSpPr>
          <p:nvPr/>
        </p:nvSpPr>
        <p:spPr>
          <a:xfrm xmlns:a="http://schemas.openxmlformats.org/drawingml/2006/main">
            <a:off x="4514850" y="4667250"/>
            <a:ext cx="29337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125" b="0" i="0">
                <a:solidFill>
                  <a:srgbClr val="20262E"/>
                </a:solidFill>
              </a:defRPr>
            </a:pPr>
            <a:r>
              <a:rPr sz="1125" b="0" i="0">
                <a:solidFill>
                  <a:srgbClr val="20262E"/>
                </a:solidFill>
              </a:rPr>
              <a:t>One consolidated response or agreed extension.</a:t>
            </a:r>
          </a:p>
        </p:txBody>
      </p:sp>
      <p:sp>
        <p:nvSpPr>
          <p:cNvPr id="22" name="">
            <a:extLst xmlns:a="http://schemas.openxmlformats.org/drawingml/2006/main">
              <a:ext uri="{FF2B5EF4-FFF2-40B4-BE49-F238E27FC236}">
                <a16:creationId xmlns:a16="http://schemas.microsoft.com/office/drawing/2014/main" id="{1B389A34-33D8-4BCB-B848-F70EF33F8EB0}"/>
              </a:ext>
            </a:extLst>
          </p:cNvPr>
          <p:cNvSpPr>
            <a:spLocks xmlns:a="http://schemas.openxmlformats.org/drawingml/2006/main" noGrp="1"/>
          </p:cNvSpPr>
          <p:nvPr/>
        </p:nvSpPr>
        <p:spPr>
          <a:xfrm xmlns:a="http://schemas.openxmlformats.org/drawingml/2006/main">
            <a:off x="7924800" y="3771900"/>
            <a:ext cx="3429000" cy="1524000"/>
          </a:xfrm>
          <a:prstGeom xmlns:a="http://schemas.openxmlformats.org/drawingml/2006/main" prst="roundRect">
            <a:avLst>
              <a:gd name="adj" fmla="val 5000"/>
            </a:avLst>
          </a:prstGeom>
          <a:solidFill xmlns:a="http://schemas.openxmlformats.org/drawingml/2006/main">
            <a:srgbClr val="E8F3EC"/>
          </a:solidFill>
          <a:ln xmlns:a="http://schemas.openxmlformats.org/drawingml/2006/main" w="9525">
            <a:solidFill>
              <a:srgbClr val="2E7D5B"/>
            </a:solidFill>
            <a:prstDash val="solid"/>
          </a:ln>
        </p:spPr>
      </p:sp>
      <p:sp>
        <p:nvSpPr>
          <p:cNvPr id="23" name="">
            <a:extLst xmlns:a="http://schemas.openxmlformats.org/drawingml/2006/main">
              <a:ext uri="{FF2B5EF4-FFF2-40B4-BE49-F238E27FC236}">
                <a16:creationId xmlns:a16="http://schemas.microsoft.com/office/drawing/2014/main" id="{0BF385FC-5DBB-4AEA-A736-BD8BB6663BAD}"/>
              </a:ext>
            </a:extLst>
          </p:cNvPr>
          <p:cNvSpPr>
            <a:spLocks xmlns:a="http://schemas.openxmlformats.org/drawingml/2006/main" noGrp="1"/>
          </p:cNvSpPr>
          <p:nvPr/>
        </p:nvSpPr>
        <p:spPr>
          <a:xfrm xmlns:a="http://schemas.openxmlformats.org/drawingml/2006/main">
            <a:off x="8096250" y="3924300"/>
            <a:ext cx="3086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i="0">
                <a:solidFill>
                  <a:srgbClr val="2E7D5B"/>
                </a:solidFill>
              </a:defRPr>
            </a:pPr>
            <a:r>
              <a:rPr sz="900" b="1" i="0">
                <a:solidFill>
                  <a:srgbClr val="2E7D5B"/>
                </a:solidFill>
              </a:rPr>
              <a:t>FINAL</a:t>
            </a:r>
          </a:p>
        </p:txBody>
      </p:sp>
      <p:sp>
        <p:nvSpPr>
          <p:cNvPr id="24" name="">
            <a:extLst xmlns:a="http://schemas.openxmlformats.org/drawingml/2006/main">
              <a:ext uri="{FF2B5EF4-FFF2-40B4-BE49-F238E27FC236}">
                <a16:creationId xmlns:a16="http://schemas.microsoft.com/office/drawing/2014/main" id="{BC059E0C-E4B4-45AE-A427-D8E0A77479A3}"/>
              </a:ext>
            </a:extLst>
          </p:cNvPr>
          <p:cNvSpPr>
            <a:spLocks xmlns:a="http://schemas.openxmlformats.org/drawingml/2006/main" noGrp="1"/>
          </p:cNvSpPr>
          <p:nvPr/>
        </p:nvSpPr>
        <p:spPr>
          <a:xfrm xmlns:a="http://schemas.openxmlformats.org/drawingml/2006/main">
            <a:off x="8096250" y="4257675"/>
            <a:ext cx="30861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00" b="1" i="0">
                <a:solidFill>
                  <a:srgbClr val="17324D"/>
                </a:solidFill>
              </a:defRPr>
            </a:pPr>
            <a:r>
              <a:rPr sz="1500" b="1" i="0">
                <a:solidFill>
                  <a:srgbClr val="17324D"/>
                </a:solidFill>
              </a:rPr>
              <a:t>Correction + acceptance</a:t>
            </a:r>
          </a:p>
        </p:txBody>
      </p:sp>
      <p:sp>
        <p:nvSpPr>
          <p:cNvPr id="25" name="">
            <a:extLst xmlns:a="http://schemas.openxmlformats.org/drawingml/2006/main">
              <a:ext uri="{FF2B5EF4-FFF2-40B4-BE49-F238E27FC236}">
                <a16:creationId xmlns:a16="http://schemas.microsoft.com/office/drawing/2014/main" id="{AFA7BC0F-53FD-4551-ADCE-20F628880588}"/>
              </a:ext>
            </a:extLst>
          </p:cNvPr>
          <p:cNvSpPr>
            <a:spLocks xmlns:a="http://schemas.openxmlformats.org/drawingml/2006/main" noGrp="1"/>
          </p:cNvSpPr>
          <p:nvPr/>
        </p:nvSpPr>
        <p:spPr>
          <a:xfrm xmlns:a="http://schemas.openxmlformats.org/drawingml/2006/main">
            <a:off x="8172450" y="4667250"/>
            <a:ext cx="29337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125" b="0" i="0">
                <a:solidFill>
                  <a:srgbClr val="20262E"/>
                </a:solidFill>
              </a:defRPr>
            </a:pPr>
            <a:r>
              <a:rPr sz="1125" b="0" i="0">
                <a:solidFill>
                  <a:srgbClr val="20262E"/>
                </a:solidFill>
              </a:rPr>
              <a:t>Issue final files, complete acceptance and close access.</a:t>
            </a:r>
          </a:p>
        </p:txBody>
      </p:sp>
      <p:sp>
        <p:nvSpPr>
          <p:cNvPr id="26" name="">
            <a:extLst xmlns:a="http://schemas.openxmlformats.org/drawingml/2006/main">
              <a:ext uri="{FF2B5EF4-FFF2-40B4-BE49-F238E27FC236}">
                <a16:creationId xmlns:a16="http://schemas.microsoft.com/office/drawing/2014/main" id="{412E3406-AFCC-4C71-8672-DF7A54C6570E}"/>
              </a:ext>
            </a:extLst>
          </p:cNvPr>
          <p:cNvSpPr>
            <a:spLocks xmlns:a="http://schemas.openxmlformats.org/drawingml/2006/main" noGrp="1"/>
          </p:cNvSpPr>
          <p:nvPr/>
        </p:nvSpPr>
        <p:spPr>
          <a:xfrm xmlns:a="http://schemas.openxmlformats.org/drawingml/2006/main">
            <a:off x="609600" y="5562600"/>
            <a:ext cx="10972800" cy="552450"/>
          </a:xfrm>
          <a:prstGeom xmlns:a="http://schemas.openxmlformats.org/drawingml/2006/main" prst="roundRect">
            <a:avLst>
              <a:gd name="adj" fmla="val 13793"/>
            </a:avLst>
          </a:prstGeom>
          <a:solidFill xmlns:a="http://schemas.openxmlformats.org/drawingml/2006/main">
            <a:srgbClr val="17324D"/>
          </a:solidFill>
          <a:ln xmlns:a="http://schemas.openxmlformats.org/drawingml/2006/main" w="0">
            <a:solidFill>
              <a:srgbClr val="17324D"/>
            </a:solidFill>
            <a:prstDash val="solid"/>
          </a:ln>
        </p:spPr>
      </p:sp>
      <p:sp>
        <p:nvSpPr>
          <p:cNvPr id="27" name="">
            <a:extLst xmlns:a="http://schemas.openxmlformats.org/drawingml/2006/main">
              <a:ext uri="{FF2B5EF4-FFF2-40B4-BE49-F238E27FC236}">
                <a16:creationId xmlns:a16="http://schemas.microsoft.com/office/drawing/2014/main" id="{4418F366-26E5-457D-99BA-95C19C4AD257}"/>
              </a:ext>
            </a:extLst>
          </p:cNvPr>
          <p:cNvSpPr>
            <a:spLocks xmlns:a="http://schemas.openxmlformats.org/drawingml/2006/main" noGrp="1"/>
          </p:cNvSpPr>
          <p:nvPr/>
        </p:nvSpPr>
        <p:spPr>
          <a:xfrm xmlns:a="http://schemas.openxmlformats.org/drawingml/2006/main">
            <a:off x="838200" y="5705475"/>
            <a:ext cx="105156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425" b="1" i="0">
                <a:solidFill>
                  <a:srgbClr val="FFFFFF"/>
                </a:solidFill>
              </a:defRPr>
            </a:pPr>
            <a:r>
              <a:rPr sz="1425" b="1" i="0">
                <a:solidFill>
                  <a:srgbClr val="FFFFFF"/>
                </a:solidFill>
              </a:rPr>
              <a:t>Next action: [Action]  |  Owner: [Role]  |  Due: [Date]</a:t>
            </a:r>
          </a:p>
        </p:txBody>
      </p:sp>
    </p:spTree>
    <p:extLst>
      <p:ext uri="{BB962C8B-B14F-4D97-AF65-F5344CB8AC3E}">
        <p14:creationId xmlns:p14="http://schemas.microsoft.com/office/powerpoint/2010/main" val="102973314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2026-08-02T00:13:25.0240000Z</dcterms:created>
  <dcterms:modified xsi:type="dcterms:W3CDTF">2026-08-02T00:13:25.0240000Z</dcterms:modified>
</coreProperties>
</file>